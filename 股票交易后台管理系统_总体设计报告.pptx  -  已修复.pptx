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88825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88879" autoAdjust="0"/>
  </p:normalViewPr>
  <p:slideViewPr>
    <p:cSldViewPr>
      <p:cViewPr varScale="1">
        <p:scale>
          <a:sx n="108" d="100"/>
          <a:sy n="108" d="100"/>
        </p:scale>
        <p:origin x="83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8377-1"/>
          <p:cNvCxnSpPr/>
          <p:nvPr/>
        </p:nvCxnSpPr>
        <p:spPr>
          <a:xfrm>
            <a:off x="28568" y="857"/>
            <a:ext cx="914" cy="2285429"/>
          </a:xfrm>
          <a:prstGeom prst="line">
            <a:avLst/>
          </a:prstGeom>
          <a:ln w="57136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8380-3"/>
          <p:cNvSpPr/>
          <p:nvPr/>
        </p:nvSpPr>
        <p:spPr>
          <a:xfrm>
            <a:off x="9141714" y="857"/>
            <a:ext cx="3047238" cy="30472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2563EB">
                  <a:alpha val="4000"/>
                </a:srgbClr>
              </a:gs>
              <a:gs pos="70000">
                <a:srgbClr val="2563EB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/>
        </p:txBody>
      </p:sp>
      <p:sp>
        <p:nvSpPr>
          <p:cNvPr id="4" name="el-1780134548381-4"/>
          <p:cNvSpPr/>
          <p:nvPr/>
        </p:nvSpPr>
        <p:spPr>
          <a:xfrm>
            <a:off x="8379905" y="4952619"/>
            <a:ext cx="3809048" cy="19045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2563EB">
                  <a:alpha val="3000"/>
                </a:srgbClr>
              </a:gs>
              <a:gs pos="60000">
                <a:srgbClr val="2563EB">
                  <a:alpha val="0"/>
                </a:srgbClr>
              </a:gs>
            </a:gsLst>
            <a:lin ang="13500000" scaled="0"/>
          </a:gradFill>
          <a:ln>
            <a:noFill/>
          </a:ln>
        </p:spPr>
        <p:txBody>
          <a:bodyPr/>
          <a:lstStyle/>
          <a:p/>
        </p:txBody>
      </p:sp>
      <p:cxnSp>
        <p:nvCxnSpPr>
          <p:cNvPr id="5" name="el-1780134548378-2"/>
          <p:cNvCxnSpPr/>
          <p:nvPr/>
        </p:nvCxnSpPr>
        <p:spPr>
          <a:xfrm>
            <a:off x="1142714" y="6090572"/>
            <a:ext cx="9903524" cy="914"/>
          </a:xfrm>
          <a:prstGeom prst="line">
            <a:avLst/>
          </a:prstGeom>
          <a:ln w="12697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0134548384-7"/>
          <p:cNvSpPr/>
          <p:nvPr/>
        </p:nvSpPr>
        <p:spPr>
          <a:xfrm>
            <a:off x="4886740" y="1815809"/>
            <a:ext cx="2415472" cy="33329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0134548382-5"/>
          <p:cNvCxnSpPr/>
          <p:nvPr/>
        </p:nvCxnSpPr>
        <p:spPr>
          <a:xfrm>
            <a:off x="5713571" y="3961225"/>
            <a:ext cx="761809" cy="914"/>
          </a:xfrm>
          <a:prstGeom prst="line">
            <a:avLst/>
          </a:prstGeom>
          <a:ln w="28568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0134548383-6"/>
          <p:cNvSpPr txBox="1"/>
          <p:nvPr/>
        </p:nvSpPr>
        <p:spPr>
          <a:xfrm>
            <a:off x="5058147" y="1882467"/>
            <a:ext cx="207265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spc="30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软件工程基础 · 课程设计</a:t>
            </a:r>
            <a:endParaRPr sz="1040" spc="30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0134548384-8"/>
          <p:cNvSpPr txBox="1"/>
          <p:nvPr/>
        </p:nvSpPr>
        <p:spPr>
          <a:xfrm>
            <a:off x="3161509" y="2606186"/>
            <a:ext cx="5865933" cy="693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41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</a:t>
            </a:r>
            <a:endParaRPr sz="41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0134548384-9"/>
          <p:cNvSpPr txBox="1"/>
          <p:nvPr/>
        </p:nvSpPr>
        <p:spPr>
          <a:xfrm>
            <a:off x="3313871" y="3413675"/>
            <a:ext cx="556120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79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总体设计报告</a:t>
            </a:r>
            <a:endParaRPr sz="179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0134548385-10"/>
          <p:cNvSpPr txBox="1"/>
          <p:nvPr/>
        </p:nvSpPr>
        <p:spPr>
          <a:xfrm>
            <a:off x="3411002" y="4356414"/>
            <a:ext cx="5366948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2680"/>
              </a:lnSpc>
            </a:pPr>
            <a:r>
              <a:rPr sz="13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软件工程基础课程设计 · 第六小组</a:t>
            </a:r>
            <a:endParaRPr sz="13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2680"/>
              </a:lnSpc>
            </a:pPr>
            <a:r>
              <a:rPr sz="13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5 月</a:t>
            </a:r>
            <a:endParaRPr sz="13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8444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0134548450-16"/>
          <p:cNvCxnSpPr/>
          <p:nvPr/>
        </p:nvCxnSpPr>
        <p:spPr>
          <a:xfrm>
            <a:off x="1447438" y="2400557"/>
            <a:ext cx="4418495" cy="914"/>
          </a:xfrm>
          <a:prstGeom prst="line">
            <a:avLst/>
          </a:prstGeom>
          <a:ln w="12697" cap="flat">
            <a:solidFill>
              <a:srgbClr val="F1F5F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0134548450-17"/>
          <p:cNvCxnSpPr/>
          <p:nvPr/>
        </p:nvCxnSpPr>
        <p:spPr>
          <a:xfrm>
            <a:off x="7084828" y="2400557"/>
            <a:ext cx="4418495" cy="914"/>
          </a:xfrm>
          <a:prstGeom prst="line">
            <a:avLst/>
          </a:prstGeom>
          <a:ln w="12697" cap="flat">
            <a:solidFill>
              <a:srgbClr val="F1F5F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0134548450-18"/>
          <p:cNvCxnSpPr/>
          <p:nvPr/>
        </p:nvCxnSpPr>
        <p:spPr>
          <a:xfrm>
            <a:off x="1447438" y="3295683"/>
            <a:ext cx="4418495" cy="914"/>
          </a:xfrm>
          <a:prstGeom prst="line">
            <a:avLst/>
          </a:prstGeom>
          <a:ln w="12697" cap="flat">
            <a:solidFill>
              <a:srgbClr val="F1F5F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0134548450-19"/>
          <p:cNvCxnSpPr/>
          <p:nvPr/>
        </p:nvCxnSpPr>
        <p:spPr>
          <a:xfrm>
            <a:off x="7084828" y="3295683"/>
            <a:ext cx="4418495" cy="914"/>
          </a:xfrm>
          <a:prstGeom prst="line">
            <a:avLst/>
          </a:prstGeom>
          <a:ln w="12697" cap="flat">
            <a:solidFill>
              <a:srgbClr val="F1F5F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0134548450-20"/>
          <p:cNvCxnSpPr/>
          <p:nvPr/>
        </p:nvCxnSpPr>
        <p:spPr>
          <a:xfrm>
            <a:off x="1447438" y="4190810"/>
            <a:ext cx="4418495" cy="914"/>
          </a:xfrm>
          <a:prstGeom prst="line">
            <a:avLst/>
          </a:prstGeom>
          <a:ln w="12697" cap="flat">
            <a:solidFill>
              <a:srgbClr val="F1F5F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0134548450-21"/>
          <p:cNvCxnSpPr/>
          <p:nvPr/>
        </p:nvCxnSpPr>
        <p:spPr>
          <a:xfrm>
            <a:off x="7084828" y="4190810"/>
            <a:ext cx="4418495" cy="914"/>
          </a:xfrm>
          <a:prstGeom prst="line">
            <a:avLst/>
          </a:prstGeom>
          <a:ln w="12697" cap="flat">
            <a:solidFill>
              <a:srgbClr val="F1F5F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el-1780134548450-22"/>
          <p:cNvCxnSpPr/>
          <p:nvPr/>
        </p:nvCxnSpPr>
        <p:spPr>
          <a:xfrm>
            <a:off x="1447438" y="5085936"/>
            <a:ext cx="4418495" cy="914"/>
          </a:xfrm>
          <a:prstGeom prst="line">
            <a:avLst/>
          </a:prstGeom>
          <a:ln w="12697" cap="flat">
            <a:solidFill>
              <a:srgbClr val="F1F5F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-1780134548450-23"/>
          <p:cNvCxnSpPr/>
          <p:nvPr/>
        </p:nvCxnSpPr>
        <p:spPr>
          <a:xfrm>
            <a:off x="7084828" y="5085936"/>
            <a:ext cx="4418495" cy="914"/>
          </a:xfrm>
          <a:prstGeom prst="line">
            <a:avLst/>
          </a:prstGeom>
          <a:ln w="12697" cap="flat">
            <a:solidFill>
              <a:srgbClr val="F1F5F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0134548444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0134548444-4"/>
          <p:cNvSpPr txBox="1"/>
          <p:nvPr/>
        </p:nvSpPr>
        <p:spPr>
          <a:xfrm>
            <a:off x="685629" y="-3904"/>
            <a:ext cx="1278858" cy="6856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35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 录</a:t>
            </a:r>
            <a:endParaRPr sz="35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0134548444-5"/>
          <p:cNvSpPr txBox="1"/>
          <p:nvPr/>
        </p:nvSpPr>
        <p:spPr>
          <a:xfrm>
            <a:off x="1888306" y="210355"/>
            <a:ext cx="1006124" cy="257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sz="13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0134548447-8"/>
          <p:cNvSpPr txBox="1"/>
          <p:nvPr/>
        </p:nvSpPr>
        <p:spPr>
          <a:xfrm>
            <a:off x="514221" y="1943471"/>
            <a:ext cx="74276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26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6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0134548450-24"/>
          <p:cNvSpPr txBox="1"/>
          <p:nvPr/>
        </p:nvSpPr>
        <p:spPr>
          <a:xfrm>
            <a:off x="1447438" y="1995846"/>
            <a:ext cx="4532767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文档介绍</a:t>
            </a:r>
            <a:endParaRPr sz="179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48447-9"/>
          <p:cNvSpPr txBox="1"/>
          <p:nvPr/>
        </p:nvSpPr>
        <p:spPr>
          <a:xfrm>
            <a:off x="6151612" y="1943471"/>
            <a:ext cx="74276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26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6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48450-25"/>
          <p:cNvSpPr txBox="1"/>
          <p:nvPr/>
        </p:nvSpPr>
        <p:spPr>
          <a:xfrm>
            <a:off x="7084828" y="1995846"/>
            <a:ext cx="4532767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项目概述</a:t>
            </a:r>
            <a:endParaRPr sz="179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48447-10"/>
          <p:cNvSpPr txBox="1"/>
          <p:nvPr/>
        </p:nvSpPr>
        <p:spPr>
          <a:xfrm>
            <a:off x="514221" y="2838598"/>
            <a:ext cx="74276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26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6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48450-26"/>
          <p:cNvSpPr txBox="1"/>
          <p:nvPr/>
        </p:nvSpPr>
        <p:spPr>
          <a:xfrm>
            <a:off x="1447438" y="2890972"/>
            <a:ext cx="4532767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总体设计</a:t>
            </a:r>
            <a:endParaRPr sz="179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8448-11"/>
          <p:cNvSpPr txBox="1"/>
          <p:nvPr/>
        </p:nvSpPr>
        <p:spPr>
          <a:xfrm>
            <a:off x="6151612" y="2838598"/>
            <a:ext cx="74276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26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6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0134548450-27"/>
          <p:cNvSpPr txBox="1"/>
          <p:nvPr/>
        </p:nvSpPr>
        <p:spPr>
          <a:xfrm>
            <a:off x="7084828" y="2890972"/>
            <a:ext cx="4532767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详细设计</a:t>
            </a:r>
            <a:endParaRPr sz="179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0134548448-12"/>
          <p:cNvSpPr txBox="1"/>
          <p:nvPr/>
        </p:nvSpPr>
        <p:spPr>
          <a:xfrm>
            <a:off x="514221" y="3733724"/>
            <a:ext cx="74276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26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26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0134548451-28"/>
          <p:cNvSpPr txBox="1"/>
          <p:nvPr/>
        </p:nvSpPr>
        <p:spPr>
          <a:xfrm>
            <a:off x="1447438" y="3786098"/>
            <a:ext cx="4532767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用户界面</a:t>
            </a:r>
            <a:endParaRPr sz="179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0134548448-13"/>
          <p:cNvSpPr txBox="1"/>
          <p:nvPr/>
        </p:nvSpPr>
        <p:spPr>
          <a:xfrm>
            <a:off x="6151612" y="3733724"/>
            <a:ext cx="74276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26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26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0134548451-29"/>
          <p:cNvSpPr txBox="1"/>
          <p:nvPr/>
        </p:nvSpPr>
        <p:spPr>
          <a:xfrm>
            <a:off x="7084828" y="3786098"/>
            <a:ext cx="4532767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</a:t>
            </a:r>
            <a:endParaRPr sz="179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0134548448-14"/>
          <p:cNvSpPr txBox="1"/>
          <p:nvPr/>
        </p:nvSpPr>
        <p:spPr>
          <a:xfrm>
            <a:off x="514221" y="4628850"/>
            <a:ext cx="74276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26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26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0134548451-30"/>
          <p:cNvSpPr txBox="1"/>
          <p:nvPr/>
        </p:nvSpPr>
        <p:spPr>
          <a:xfrm>
            <a:off x="1447438" y="4681224"/>
            <a:ext cx="4532767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接口与运行设计</a:t>
            </a:r>
            <a:endParaRPr sz="179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0134548448-15"/>
          <p:cNvSpPr txBox="1"/>
          <p:nvPr/>
        </p:nvSpPr>
        <p:spPr>
          <a:xfrm>
            <a:off x="6151612" y="4628850"/>
            <a:ext cx="74276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26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26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0134548451-31"/>
          <p:cNvSpPr txBox="1"/>
          <p:nvPr/>
        </p:nvSpPr>
        <p:spPr>
          <a:xfrm>
            <a:off x="7084828" y="4681224"/>
            <a:ext cx="4532767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设计决策总结</a:t>
            </a:r>
            <a:endParaRPr sz="179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0134548445-6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0134548445-7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el-1780134548443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8561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8562-7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8563-10"/>
          <p:cNvSpPr/>
          <p:nvPr/>
        </p:nvSpPr>
        <p:spPr>
          <a:xfrm>
            <a:off x="1161759" y="1776230"/>
            <a:ext cx="952262" cy="95226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45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0134548692-14"/>
          <p:cNvSpPr/>
          <p:nvPr/>
        </p:nvSpPr>
        <p:spPr>
          <a:xfrm>
            <a:off x="1480767" y="2042864"/>
            <a:ext cx="314246" cy="4189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6520" y="0"/>
                </a:moveTo>
                <a:lnTo>
                  <a:pt x="16520" y="0"/>
                </a:lnTo>
                <a:cubicBezTo>
                  <a:pt x="11853" y="121"/>
                  <a:pt x="7973" y="1354"/>
                  <a:pt x="4880" y="3697"/>
                </a:cubicBezTo>
                <a:lnTo>
                  <a:pt x="4880" y="3697"/>
                </a:lnTo>
                <a:lnTo>
                  <a:pt x="4880" y="3697"/>
                </a:lnTo>
                <a:cubicBezTo>
                  <a:pt x="1787" y="6040"/>
                  <a:pt x="160" y="8980"/>
                  <a:pt x="0" y="12515"/>
                </a:cubicBezTo>
                <a:lnTo>
                  <a:pt x="0" y="12515"/>
                </a:lnTo>
                <a:lnTo>
                  <a:pt x="0" y="87515"/>
                </a:lnTo>
                <a:cubicBezTo>
                  <a:pt x="160" y="91030"/>
                  <a:pt x="1787" y="93960"/>
                  <a:pt x="4880" y="96303"/>
                </a:cubicBezTo>
                <a:lnTo>
                  <a:pt x="4880" y="96303"/>
                </a:lnTo>
                <a:cubicBezTo>
                  <a:pt x="7973" y="98646"/>
                  <a:pt x="11853" y="99879"/>
                  <a:pt x="16520" y="100000"/>
                </a:cubicBezTo>
                <a:lnTo>
                  <a:pt x="16520" y="100000"/>
                </a:lnTo>
                <a:lnTo>
                  <a:pt x="82520" y="100000"/>
                </a:lnTo>
                <a:cubicBezTo>
                  <a:pt x="87160" y="99879"/>
                  <a:pt x="91027" y="98646"/>
                  <a:pt x="94120" y="96303"/>
                </a:cubicBezTo>
                <a:lnTo>
                  <a:pt x="94120" y="96303"/>
                </a:lnTo>
                <a:cubicBezTo>
                  <a:pt x="97213" y="93960"/>
                  <a:pt x="98840" y="91030"/>
                  <a:pt x="99000" y="87515"/>
                </a:cubicBezTo>
                <a:lnTo>
                  <a:pt x="99000" y="87515"/>
                </a:lnTo>
                <a:lnTo>
                  <a:pt x="99000" y="31242"/>
                </a:lnTo>
                <a:lnTo>
                  <a:pt x="66000" y="31242"/>
                </a:lnTo>
                <a:cubicBezTo>
                  <a:pt x="63600" y="31242"/>
                  <a:pt x="61627" y="30657"/>
                  <a:pt x="60080" y="29485"/>
                </a:cubicBezTo>
                <a:lnTo>
                  <a:pt x="60080" y="29485"/>
                </a:lnTo>
                <a:cubicBezTo>
                  <a:pt x="58533" y="28313"/>
                  <a:pt x="57760" y="26818"/>
                  <a:pt x="57760" y="25000"/>
                </a:cubicBezTo>
                <a:lnTo>
                  <a:pt x="57760" y="25000"/>
                </a:lnTo>
                <a:lnTo>
                  <a:pt x="57760" y="0"/>
                </a:lnTo>
                <a:lnTo>
                  <a:pt x="16520" y="0"/>
                </a:lnTo>
                <a:close/>
                <a:moveTo>
                  <a:pt x="66000" y="0"/>
                </a:moveTo>
                <a:lnTo>
                  <a:pt x="66000" y="0"/>
                </a:lnTo>
                <a:lnTo>
                  <a:pt x="66000" y="25000"/>
                </a:lnTo>
                <a:lnTo>
                  <a:pt x="99000" y="25000"/>
                </a:lnTo>
                <a:lnTo>
                  <a:pt x="66000" y="0"/>
                </a:lnTo>
                <a:close/>
                <a:moveTo>
                  <a:pt x="28880" y="50000"/>
                </a:moveTo>
                <a:lnTo>
                  <a:pt x="28880" y="50000"/>
                </a:lnTo>
                <a:lnTo>
                  <a:pt x="70120" y="50000"/>
                </a:lnTo>
                <a:cubicBezTo>
                  <a:pt x="72707" y="50121"/>
                  <a:pt x="74080" y="51162"/>
                  <a:pt x="74240" y="53121"/>
                </a:cubicBezTo>
                <a:lnTo>
                  <a:pt x="74240" y="53121"/>
                </a:lnTo>
                <a:cubicBezTo>
                  <a:pt x="74080" y="55081"/>
                  <a:pt x="72707" y="56121"/>
                  <a:pt x="70120" y="56242"/>
                </a:cubicBezTo>
                <a:lnTo>
                  <a:pt x="70120" y="56242"/>
                </a:lnTo>
                <a:lnTo>
                  <a:pt x="28880" y="56242"/>
                </a:lnTo>
                <a:cubicBezTo>
                  <a:pt x="26293" y="56121"/>
                  <a:pt x="24920" y="55081"/>
                  <a:pt x="24760" y="53121"/>
                </a:cubicBezTo>
                <a:lnTo>
                  <a:pt x="24760" y="53121"/>
                </a:lnTo>
                <a:cubicBezTo>
                  <a:pt x="24920" y="51162"/>
                  <a:pt x="26293" y="50121"/>
                  <a:pt x="28880" y="50000"/>
                </a:cubicBezTo>
                <a:lnTo>
                  <a:pt x="28880" y="50000"/>
                </a:lnTo>
                <a:close/>
                <a:moveTo>
                  <a:pt x="28880" y="62515"/>
                </a:moveTo>
                <a:lnTo>
                  <a:pt x="28880" y="62515"/>
                </a:lnTo>
                <a:lnTo>
                  <a:pt x="70120" y="62515"/>
                </a:lnTo>
                <a:cubicBezTo>
                  <a:pt x="72707" y="62636"/>
                  <a:pt x="74080" y="63677"/>
                  <a:pt x="74240" y="65636"/>
                </a:cubicBezTo>
                <a:lnTo>
                  <a:pt x="74240" y="65636"/>
                </a:lnTo>
                <a:cubicBezTo>
                  <a:pt x="74080" y="67576"/>
                  <a:pt x="72707" y="68616"/>
                  <a:pt x="70120" y="68758"/>
                </a:cubicBezTo>
                <a:lnTo>
                  <a:pt x="70120" y="68758"/>
                </a:lnTo>
                <a:lnTo>
                  <a:pt x="28880" y="68758"/>
                </a:lnTo>
                <a:cubicBezTo>
                  <a:pt x="26293" y="68616"/>
                  <a:pt x="24920" y="67576"/>
                  <a:pt x="24760" y="65636"/>
                </a:cubicBezTo>
                <a:lnTo>
                  <a:pt x="24760" y="65636"/>
                </a:lnTo>
                <a:cubicBezTo>
                  <a:pt x="24920" y="63677"/>
                  <a:pt x="26293" y="62636"/>
                  <a:pt x="28880" y="62515"/>
                </a:cubicBezTo>
                <a:lnTo>
                  <a:pt x="28880" y="62515"/>
                </a:lnTo>
                <a:close/>
                <a:moveTo>
                  <a:pt x="28880" y="75000"/>
                </a:moveTo>
                <a:lnTo>
                  <a:pt x="28880" y="75000"/>
                </a:lnTo>
                <a:lnTo>
                  <a:pt x="70120" y="75000"/>
                </a:lnTo>
                <a:cubicBezTo>
                  <a:pt x="72707" y="75121"/>
                  <a:pt x="74080" y="76162"/>
                  <a:pt x="74240" y="78121"/>
                </a:cubicBezTo>
                <a:lnTo>
                  <a:pt x="74240" y="78121"/>
                </a:lnTo>
                <a:cubicBezTo>
                  <a:pt x="74080" y="80081"/>
                  <a:pt x="72707" y="81121"/>
                  <a:pt x="70120" y="81242"/>
                </a:cubicBezTo>
                <a:lnTo>
                  <a:pt x="70120" y="81242"/>
                </a:lnTo>
                <a:lnTo>
                  <a:pt x="28880" y="81242"/>
                </a:lnTo>
                <a:cubicBezTo>
                  <a:pt x="26293" y="81121"/>
                  <a:pt x="24920" y="80081"/>
                  <a:pt x="24760" y="78121"/>
                </a:cubicBezTo>
                <a:lnTo>
                  <a:pt x="24760" y="78121"/>
                </a:lnTo>
                <a:cubicBezTo>
                  <a:pt x="24920" y="76162"/>
                  <a:pt x="26293" y="75121"/>
                  <a:pt x="28880" y="75000"/>
                </a:cubicBezTo>
                <a:lnTo>
                  <a:pt x="28880" y="75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6" name="el-1780134548563-9"/>
          <p:cNvCxnSpPr/>
          <p:nvPr/>
        </p:nvCxnSpPr>
        <p:spPr>
          <a:xfrm>
            <a:off x="1352212" y="2933229"/>
            <a:ext cx="571357" cy="914"/>
          </a:xfrm>
          <a:prstGeom prst="line">
            <a:avLst/>
          </a:prstGeom>
          <a:ln w="28568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0134548566-12"/>
          <p:cNvSpPr/>
          <p:nvPr/>
        </p:nvSpPr>
        <p:spPr>
          <a:xfrm>
            <a:off x="3047238" y="1395326"/>
            <a:ext cx="304724" cy="304724"/>
          </a:xfrm>
          <a:prstGeom prst="roundRect">
            <a:avLst>
              <a:gd name="adj" fmla="val 6252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48566-14"/>
          <p:cNvSpPr/>
          <p:nvPr/>
        </p:nvSpPr>
        <p:spPr>
          <a:xfrm>
            <a:off x="3047238" y="2693973"/>
            <a:ext cx="304724" cy="304724"/>
          </a:xfrm>
          <a:prstGeom prst="roundRect">
            <a:avLst>
              <a:gd name="adj" fmla="val 6252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0134548566-16"/>
          <p:cNvSpPr/>
          <p:nvPr/>
        </p:nvSpPr>
        <p:spPr>
          <a:xfrm>
            <a:off x="3047238" y="3657543"/>
            <a:ext cx="304724" cy="304724"/>
          </a:xfrm>
          <a:prstGeom prst="roundRect">
            <a:avLst>
              <a:gd name="adj" fmla="val 6252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0134548567-18"/>
          <p:cNvSpPr/>
          <p:nvPr/>
        </p:nvSpPr>
        <p:spPr>
          <a:xfrm>
            <a:off x="3047238" y="4956190"/>
            <a:ext cx="304724" cy="304724"/>
          </a:xfrm>
          <a:prstGeom prst="roundRect">
            <a:avLst>
              <a:gd name="adj" fmla="val 6252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0134548561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0134548562-6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0134548562-8"/>
          <p:cNvSpPr txBox="1"/>
          <p:nvPr/>
        </p:nvSpPr>
        <p:spPr>
          <a:xfrm>
            <a:off x="1212051" y="-3904"/>
            <a:ext cx="2056886" cy="6856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35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文档介绍</a:t>
            </a:r>
            <a:endParaRPr sz="35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0134548565-11"/>
          <p:cNvSpPr txBox="1"/>
          <p:nvPr/>
        </p:nvSpPr>
        <p:spPr>
          <a:xfrm>
            <a:off x="2971057" y="1452461"/>
            <a:ext cx="45708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1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0134548568-19"/>
          <p:cNvSpPr txBox="1"/>
          <p:nvPr/>
        </p:nvSpPr>
        <p:spPr>
          <a:xfrm>
            <a:off x="3504324" y="1395326"/>
            <a:ext cx="8132316" cy="399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文档目的</a:t>
            </a:r>
            <a:endParaRPr sz="20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48568-20"/>
          <p:cNvSpPr txBox="1"/>
          <p:nvPr/>
        </p:nvSpPr>
        <p:spPr>
          <a:xfrm>
            <a:off x="3504324" y="1795276"/>
            <a:ext cx="7999000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定义股票交易后台管理系统（ADMIN）的总体设计方案，包括系统架构、模块划分、接口约定与数据库设计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48566-13"/>
          <p:cNvSpPr txBox="1"/>
          <p:nvPr/>
        </p:nvSpPr>
        <p:spPr>
          <a:xfrm>
            <a:off x="2971057" y="2751109"/>
            <a:ext cx="45708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48568-21"/>
          <p:cNvSpPr txBox="1"/>
          <p:nvPr/>
        </p:nvSpPr>
        <p:spPr>
          <a:xfrm>
            <a:off x="3504324" y="2693973"/>
            <a:ext cx="5547967" cy="399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适用范围</a:t>
            </a:r>
            <a:endParaRPr sz="20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48568-22"/>
          <p:cNvSpPr txBox="1"/>
          <p:nvPr/>
        </p:nvSpPr>
        <p:spPr>
          <a:xfrm>
            <a:off x="3504324" y="3093923"/>
            <a:ext cx="5519399" cy="3350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 子系统前后端开发团队、测试团队及项目评审教师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8566-15"/>
          <p:cNvSpPr txBox="1"/>
          <p:nvPr/>
        </p:nvSpPr>
        <p:spPr>
          <a:xfrm>
            <a:off x="2971057" y="3714679"/>
            <a:ext cx="45708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0134548568-23"/>
          <p:cNvSpPr txBox="1"/>
          <p:nvPr/>
        </p:nvSpPr>
        <p:spPr>
          <a:xfrm>
            <a:off x="3504324" y="3657543"/>
            <a:ext cx="8132316" cy="399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关键术语</a:t>
            </a:r>
            <a:endParaRPr sz="20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0134548569-24"/>
          <p:cNvSpPr txBox="1"/>
          <p:nvPr/>
        </p:nvSpPr>
        <p:spPr>
          <a:xfrm>
            <a:off x="3504324" y="4057493"/>
            <a:ext cx="7999000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ADMIN（管理系统）、TRADE（中央交易系统）、JWT（无状态令牌）、RBAC（角色权限控制）、REST 轮询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0134548567-17"/>
          <p:cNvSpPr txBox="1"/>
          <p:nvPr/>
        </p:nvSpPr>
        <p:spPr>
          <a:xfrm>
            <a:off x="2971057" y="5013326"/>
            <a:ext cx="45708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0134548569-25"/>
          <p:cNvSpPr txBox="1"/>
          <p:nvPr/>
        </p:nvSpPr>
        <p:spPr>
          <a:xfrm>
            <a:off x="3504324" y="4956190"/>
            <a:ext cx="5528773" cy="399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参考文档</a:t>
            </a:r>
            <a:endParaRPr sz="20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0134548569-26"/>
          <p:cNvSpPr txBox="1"/>
          <p:nvPr/>
        </p:nvSpPr>
        <p:spPr>
          <a:xfrm>
            <a:off x="3504324" y="5356140"/>
            <a:ext cx="5500205" cy="3350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需求分析报告 v1.0 · 接口文档 V2 · 系统设计报告模板 5.26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0134548561-4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0134548562-5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el-1780134548560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8570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8571-9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8571-6"/>
          <p:cNvSpPr/>
          <p:nvPr/>
        </p:nvSpPr>
        <p:spPr>
          <a:xfrm>
            <a:off x="685629" y="1684575"/>
            <a:ext cx="10817695" cy="150814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0134548571-7"/>
          <p:cNvCxnSpPr/>
          <p:nvPr/>
        </p:nvCxnSpPr>
        <p:spPr>
          <a:xfrm>
            <a:off x="980830" y="2210105"/>
            <a:ext cx="914" cy="457086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0134548572-11"/>
          <p:cNvSpPr/>
          <p:nvPr/>
        </p:nvSpPr>
        <p:spPr>
          <a:xfrm>
            <a:off x="685629" y="3459353"/>
            <a:ext cx="2561584" cy="1942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0134548706-18"/>
          <p:cNvSpPr/>
          <p:nvPr/>
        </p:nvSpPr>
        <p:spPr>
          <a:xfrm>
            <a:off x="1816440" y="3697419"/>
            <a:ext cx="299962" cy="26663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9750" y="9571"/>
                </a:moveTo>
                <a:lnTo>
                  <a:pt x="49750" y="9571"/>
                </a:lnTo>
                <a:lnTo>
                  <a:pt x="63042" y="15238"/>
                </a:lnTo>
                <a:lnTo>
                  <a:pt x="49208" y="21476"/>
                </a:lnTo>
                <a:lnTo>
                  <a:pt x="35375" y="15238"/>
                </a:lnTo>
                <a:lnTo>
                  <a:pt x="48708" y="9571"/>
                </a:lnTo>
                <a:cubicBezTo>
                  <a:pt x="49042" y="9444"/>
                  <a:pt x="49389" y="9444"/>
                  <a:pt x="49750" y="9571"/>
                </a:cubicBezTo>
                <a:lnTo>
                  <a:pt x="49750" y="9571"/>
                </a:lnTo>
                <a:close/>
                <a:moveTo>
                  <a:pt x="23250" y="18143"/>
                </a:moveTo>
                <a:lnTo>
                  <a:pt x="23250" y="18143"/>
                </a:lnTo>
                <a:lnTo>
                  <a:pt x="23250" y="40048"/>
                </a:lnTo>
                <a:cubicBezTo>
                  <a:pt x="23028" y="40048"/>
                  <a:pt x="22792" y="40111"/>
                  <a:pt x="22542" y="40238"/>
                </a:cubicBezTo>
                <a:lnTo>
                  <a:pt x="22542" y="40238"/>
                </a:lnTo>
                <a:lnTo>
                  <a:pt x="6167" y="47286"/>
                </a:lnTo>
                <a:cubicBezTo>
                  <a:pt x="2278" y="49222"/>
                  <a:pt x="222" y="52667"/>
                  <a:pt x="0" y="57619"/>
                </a:cubicBezTo>
                <a:lnTo>
                  <a:pt x="0" y="57619"/>
                </a:lnTo>
                <a:lnTo>
                  <a:pt x="0" y="80857"/>
                </a:lnTo>
                <a:cubicBezTo>
                  <a:pt x="111" y="85429"/>
                  <a:pt x="2042" y="88746"/>
                  <a:pt x="5792" y="90810"/>
                </a:cubicBezTo>
                <a:lnTo>
                  <a:pt x="5792" y="90810"/>
                </a:lnTo>
                <a:lnTo>
                  <a:pt x="22208" y="99000"/>
                </a:lnTo>
                <a:cubicBezTo>
                  <a:pt x="24708" y="100333"/>
                  <a:pt x="27278" y="100333"/>
                  <a:pt x="29917" y="99000"/>
                </a:cubicBezTo>
                <a:lnTo>
                  <a:pt x="29917" y="99000"/>
                </a:lnTo>
                <a:lnTo>
                  <a:pt x="49208" y="89476"/>
                </a:lnTo>
                <a:lnTo>
                  <a:pt x="68708" y="99000"/>
                </a:lnTo>
                <a:cubicBezTo>
                  <a:pt x="71208" y="100333"/>
                  <a:pt x="73764" y="100333"/>
                  <a:pt x="76375" y="99000"/>
                </a:cubicBezTo>
                <a:lnTo>
                  <a:pt x="76375" y="99000"/>
                </a:lnTo>
                <a:lnTo>
                  <a:pt x="92792" y="90810"/>
                </a:lnTo>
                <a:cubicBezTo>
                  <a:pt x="96431" y="88873"/>
                  <a:pt x="98319" y="85556"/>
                  <a:pt x="98458" y="80857"/>
                </a:cubicBezTo>
                <a:lnTo>
                  <a:pt x="98458" y="80857"/>
                </a:lnTo>
                <a:lnTo>
                  <a:pt x="98458" y="57619"/>
                </a:lnTo>
                <a:cubicBezTo>
                  <a:pt x="98208" y="52667"/>
                  <a:pt x="96153" y="49222"/>
                  <a:pt x="92292" y="47286"/>
                </a:cubicBezTo>
                <a:lnTo>
                  <a:pt x="92292" y="47286"/>
                </a:lnTo>
                <a:lnTo>
                  <a:pt x="75875" y="40238"/>
                </a:lnTo>
                <a:cubicBezTo>
                  <a:pt x="75653" y="40111"/>
                  <a:pt x="75431" y="40048"/>
                  <a:pt x="75208" y="40048"/>
                </a:cubicBezTo>
                <a:lnTo>
                  <a:pt x="75208" y="40048"/>
                </a:lnTo>
                <a:cubicBezTo>
                  <a:pt x="75208" y="40048"/>
                  <a:pt x="75208" y="40048"/>
                  <a:pt x="75208" y="40048"/>
                </a:cubicBezTo>
                <a:lnTo>
                  <a:pt x="75208" y="40048"/>
                </a:lnTo>
                <a:lnTo>
                  <a:pt x="75208" y="18143"/>
                </a:lnTo>
                <a:cubicBezTo>
                  <a:pt x="74958" y="13222"/>
                  <a:pt x="72903" y="9778"/>
                  <a:pt x="69042" y="7810"/>
                </a:cubicBezTo>
                <a:lnTo>
                  <a:pt x="69042" y="7810"/>
                </a:lnTo>
                <a:lnTo>
                  <a:pt x="52625" y="762"/>
                </a:lnTo>
                <a:cubicBezTo>
                  <a:pt x="50347" y="-254"/>
                  <a:pt x="48069" y="-254"/>
                  <a:pt x="45792" y="762"/>
                </a:cubicBezTo>
                <a:lnTo>
                  <a:pt x="45792" y="762"/>
                </a:lnTo>
                <a:lnTo>
                  <a:pt x="29375" y="7810"/>
                </a:lnTo>
                <a:cubicBezTo>
                  <a:pt x="25514" y="9778"/>
                  <a:pt x="23472" y="13222"/>
                  <a:pt x="23250" y="18143"/>
                </a:cubicBezTo>
                <a:lnTo>
                  <a:pt x="23250" y="18143"/>
                </a:lnTo>
                <a:close/>
                <a:moveTo>
                  <a:pt x="67000" y="41190"/>
                </a:moveTo>
                <a:lnTo>
                  <a:pt x="67000" y="41190"/>
                </a:lnTo>
                <a:lnTo>
                  <a:pt x="52958" y="47286"/>
                </a:lnTo>
                <a:lnTo>
                  <a:pt x="52958" y="29905"/>
                </a:lnTo>
                <a:lnTo>
                  <a:pt x="67000" y="23619"/>
                </a:lnTo>
                <a:lnTo>
                  <a:pt x="67000" y="41190"/>
                </a:lnTo>
                <a:close/>
                <a:moveTo>
                  <a:pt x="26500" y="49000"/>
                </a:moveTo>
                <a:lnTo>
                  <a:pt x="26500" y="49000"/>
                </a:lnTo>
                <a:lnTo>
                  <a:pt x="39833" y="54905"/>
                </a:lnTo>
                <a:lnTo>
                  <a:pt x="25958" y="60952"/>
                </a:lnTo>
                <a:lnTo>
                  <a:pt x="12125" y="54905"/>
                </a:lnTo>
                <a:lnTo>
                  <a:pt x="25458" y="49000"/>
                </a:lnTo>
                <a:cubicBezTo>
                  <a:pt x="25792" y="48873"/>
                  <a:pt x="26139" y="48873"/>
                  <a:pt x="26500" y="49000"/>
                </a:cubicBezTo>
                <a:lnTo>
                  <a:pt x="26500" y="49000"/>
                </a:lnTo>
                <a:close/>
                <a:moveTo>
                  <a:pt x="29750" y="88857"/>
                </a:moveTo>
                <a:lnTo>
                  <a:pt x="29750" y="88857"/>
                </a:lnTo>
                <a:lnTo>
                  <a:pt x="29750" y="69333"/>
                </a:lnTo>
                <a:lnTo>
                  <a:pt x="43750" y="63095"/>
                </a:lnTo>
                <a:lnTo>
                  <a:pt x="43750" y="81857"/>
                </a:lnTo>
                <a:lnTo>
                  <a:pt x="29750" y="88857"/>
                </a:lnTo>
                <a:close/>
                <a:moveTo>
                  <a:pt x="71958" y="49000"/>
                </a:moveTo>
                <a:lnTo>
                  <a:pt x="71958" y="49000"/>
                </a:lnTo>
                <a:cubicBezTo>
                  <a:pt x="72292" y="48873"/>
                  <a:pt x="72625" y="48873"/>
                  <a:pt x="72958" y="49000"/>
                </a:cubicBezTo>
                <a:lnTo>
                  <a:pt x="72958" y="49000"/>
                </a:lnTo>
                <a:lnTo>
                  <a:pt x="86292" y="54905"/>
                </a:lnTo>
                <a:lnTo>
                  <a:pt x="72458" y="60952"/>
                </a:lnTo>
                <a:lnTo>
                  <a:pt x="58625" y="54905"/>
                </a:lnTo>
                <a:lnTo>
                  <a:pt x="71958" y="49000"/>
                </a:lnTo>
                <a:close/>
                <a:moveTo>
                  <a:pt x="89375" y="82238"/>
                </a:moveTo>
                <a:lnTo>
                  <a:pt x="89375" y="82238"/>
                </a:lnTo>
                <a:lnTo>
                  <a:pt x="76208" y="88857"/>
                </a:lnTo>
                <a:lnTo>
                  <a:pt x="76208" y="69333"/>
                </a:lnTo>
                <a:lnTo>
                  <a:pt x="90250" y="63095"/>
                </a:lnTo>
                <a:lnTo>
                  <a:pt x="90250" y="80857"/>
                </a:lnTo>
                <a:cubicBezTo>
                  <a:pt x="90250" y="81524"/>
                  <a:pt x="89958" y="81984"/>
                  <a:pt x="89375" y="82238"/>
                </a:cubicBezTo>
                <a:lnTo>
                  <a:pt x="89375" y="8223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48572-12"/>
          <p:cNvSpPr/>
          <p:nvPr/>
        </p:nvSpPr>
        <p:spPr>
          <a:xfrm>
            <a:off x="3437665" y="3459353"/>
            <a:ext cx="2561584" cy="1942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0134548704-17"/>
          <p:cNvSpPr/>
          <p:nvPr/>
        </p:nvSpPr>
        <p:spPr>
          <a:xfrm>
            <a:off x="4618470" y="3697419"/>
            <a:ext cx="199975" cy="26663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4625" y="0"/>
                </a:moveTo>
                <a:lnTo>
                  <a:pt x="24625" y="0"/>
                </a:lnTo>
                <a:cubicBezTo>
                  <a:pt x="22208" y="0"/>
                  <a:pt x="20229" y="587"/>
                  <a:pt x="18688" y="1762"/>
                </a:cubicBezTo>
                <a:lnTo>
                  <a:pt x="18688" y="1762"/>
                </a:lnTo>
                <a:lnTo>
                  <a:pt x="18688" y="1762"/>
                </a:lnTo>
                <a:cubicBezTo>
                  <a:pt x="17188" y="2937"/>
                  <a:pt x="16438" y="4429"/>
                  <a:pt x="16438" y="6238"/>
                </a:cubicBezTo>
                <a:lnTo>
                  <a:pt x="16438" y="6238"/>
                </a:lnTo>
                <a:lnTo>
                  <a:pt x="16438" y="25000"/>
                </a:lnTo>
                <a:lnTo>
                  <a:pt x="32813" y="25000"/>
                </a:lnTo>
                <a:lnTo>
                  <a:pt x="32813" y="6238"/>
                </a:lnTo>
                <a:cubicBezTo>
                  <a:pt x="32813" y="4429"/>
                  <a:pt x="32042" y="2937"/>
                  <a:pt x="30500" y="1762"/>
                </a:cubicBezTo>
                <a:lnTo>
                  <a:pt x="30500" y="1762"/>
                </a:lnTo>
                <a:cubicBezTo>
                  <a:pt x="28958" y="587"/>
                  <a:pt x="27000" y="0"/>
                  <a:pt x="24625" y="0"/>
                </a:cubicBezTo>
                <a:lnTo>
                  <a:pt x="24625" y="0"/>
                </a:lnTo>
                <a:close/>
                <a:moveTo>
                  <a:pt x="73813" y="0"/>
                </a:moveTo>
                <a:lnTo>
                  <a:pt x="73813" y="0"/>
                </a:lnTo>
                <a:cubicBezTo>
                  <a:pt x="71438" y="0"/>
                  <a:pt x="69479" y="587"/>
                  <a:pt x="67938" y="1762"/>
                </a:cubicBezTo>
                <a:lnTo>
                  <a:pt x="67938" y="1762"/>
                </a:lnTo>
                <a:lnTo>
                  <a:pt x="67938" y="1762"/>
                </a:lnTo>
                <a:cubicBezTo>
                  <a:pt x="66396" y="2937"/>
                  <a:pt x="65625" y="4429"/>
                  <a:pt x="65625" y="6238"/>
                </a:cubicBezTo>
                <a:lnTo>
                  <a:pt x="65625" y="6238"/>
                </a:lnTo>
                <a:lnTo>
                  <a:pt x="65625" y="25000"/>
                </a:lnTo>
                <a:lnTo>
                  <a:pt x="82063" y="25000"/>
                </a:lnTo>
                <a:lnTo>
                  <a:pt x="82063" y="6238"/>
                </a:lnTo>
                <a:cubicBezTo>
                  <a:pt x="82063" y="4429"/>
                  <a:pt x="81292" y="2937"/>
                  <a:pt x="79750" y="1762"/>
                </a:cubicBezTo>
                <a:lnTo>
                  <a:pt x="79750" y="1762"/>
                </a:lnTo>
                <a:cubicBezTo>
                  <a:pt x="78208" y="587"/>
                  <a:pt x="76229" y="0"/>
                  <a:pt x="73813" y="0"/>
                </a:cubicBezTo>
                <a:lnTo>
                  <a:pt x="73813" y="0"/>
                </a:lnTo>
                <a:close/>
                <a:moveTo>
                  <a:pt x="8188" y="31238"/>
                </a:moveTo>
                <a:lnTo>
                  <a:pt x="8188" y="31238"/>
                </a:lnTo>
                <a:cubicBezTo>
                  <a:pt x="5813" y="31238"/>
                  <a:pt x="3854" y="31825"/>
                  <a:pt x="2313" y="33000"/>
                </a:cubicBezTo>
                <a:lnTo>
                  <a:pt x="2313" y="33000"/>
                </a:lnTo>
                <a:lnTo>
                  <a:pt x="2313" y="33000"/>
                </a:lnTo>
                <a:cubicBezTo>
                  <a:pt x="771" y="34175"/>
                  <a:pt x="0" y="35683"/>
                  <a:pt x="0" y="37524"/>
                </a:cubicBezTo>
                <a:lnTo>
                  <a:pt x="0" y="37524"/>
                </a:lnTo>
                <a:cubicBezTo>
                  <a:pt x="0" y="39333"/>
                  <a:pt x="771" y="40825"/>
                  <a:pt x="2313" y="42000"/>
                </a:cubicBezTo>
                <a:lnTo>
                  <a:pt x="2313" y="42000"/>
                </a:lnTo>
                <a:cubicBezTo>
                  <a:pt x="3854" y="43175"/>
                  <a:pt x="5813" y="43762"/>
                  <a:pt x="8188" y="43762"/>
                </a:cubicBezTo>
                <a:lnTo>
                  <a:pt x="8188" y="43762"/>
                </a:lnTo>
                <a:lnTo>
                  <a:pt x="8188" y="50000"/>
                </a:lnTo>
                <a:cubicBezTo>
                  <a:pt x="8354" y="57683"/>
                  <a:pt x="11521" y="64317"/>
                  <a:pt x="17688" y="69905"/>
                </a:cubicBezTo>
                <a:lnTo>
                  <a:pt x="17688" y="69905"/>
                </a:lnTo>
                <a:cubicBezTo>
                  <a:pt x="23687" y="75524"/>
                  <a:pt x="31458" y="79111"/>
                  <a:pt x="41000" y="80667"/>
                </a:cubicBezTo>
                <a:lnTo>
                  <a:pt x="41000" y="80667"/>
                </a:lnTo>
                <a:lnTo>
                  <a:pt x="41000" y="93762"/>
                </a:lnTo>
                <a:cubicBezTo>
                  <a:pt x="41000" y="95571"/>
                  <a:pt x="41771" y="97063"/>
                  <a:pt x="43313" y="98238"/>
                </a:cubicBezTo>
                <a:lnTo>
                  <a:pt x="43313" y="98238"/>
                </a:lnTo>
                <a:cubicBezTo>
                  <a:pt x="44854" y="99413"/>
                  <a:pt x="46833" y="100000"/>
                  <a:pt x="49250" y="100000"/>
                </a:cubicBezTo>
                <a:lnTo>
                  <a:pt x="49250" y="100000"/>
                </a:lnTo>
                <a:cubicBezTo>
                  <a:pt x="51625" y="100000"/>
                  <a:pt x="53583" y="99413"/>
                  <a:pt x="55125" y="98238"/>
                </a:cubicBezTo>
                <a:lnTo>
                  <a:pt x="55125" y="98238"/>
                </a:lnTo>
                <a:cubicBezTo>
                  <a:pt x="56667" y="97063"/>
                  <a:pt x="57438" y="95571"/>
                  <a:pt x="57438" y="93762"/>
                </a:cubicBezTo>
                <a:lnTo>
                  <a:pt x="57438" y="93762"/>
                </a:lnTo>
                <a:lnTo>
                  <a:pt x="57438" y="80667"/>
                </a:lnTo>
                <a:cubicBezTo>
                  <a:pt x="66979" y="79111"/>
                  <a:pt x="74750" y="75524"/>
                  <a:pt x="80750" y="69905"/>
                </a:cubicBezTo>
                <a:lnTo>
                  <a:pt x="80750" y="69905"/>
                </a:lnTo>
                <a:cubicBezTo>
                  <a:pt x="86917" y="64317"/>
                  <a:pt x="90083" y="57683"/>
                  <a:pt x="90250" y="50000"/>
                </a:cubicBezTo>
                <a:lnTo>
                  <a:pt x="90250" y="50000"/>
                </a:lnTo>
                <a:lnTo>
                  <a:pt x="90250" y="43762"/>
                </a:lnTo>
                <a:cubicBezTo>
                  <a:pt x="92625" y="43762"/>
                  <a:pt x="94583" y="43175"/>
                  <a:pt x="96125" y="42000"/>
                </a:cubicBezTo>
                <a:lnTo>
                  <a:pt x="96125" y="42000"/>
                </a:lnTo>
                <a:cubicBezTo>
                  <a:pt x="97667" y="40825"/>
                  <a:pt x="98438" y="39333"/>
                  <a:pt x="98438" y="37524"/>
                </a:cubicBezTo>
                <a:lnTo>
                  <a:pt x="98438" y="37524"/>
                </a:lnTo>
                <a:cubicBezTo>
                  <a:pt x="98438" y="35683"/>
                  <a:pt x="97667" y="34175"/>
                  <a:pt x="96125" y="33000"/>
                </a:cubicBezTo>
                <a:lnTo>
                  <a:pt x="96125" y="33000"/>
                </a:lnTo>
                <a:cubicBezTo>
                  <a:pt x="94583" y="31825"/>
                  <a:pt x="92625" y="31238"/>
                  <a:pt x="90250" y="31238"/>
                </a:cubicBezTo>
                <a:lnTo>
                  <a:pt x="90250" y="31238"/>
                </a:lnTo>
                <a:lnTo>
                  <a:pt x="8188" y="3123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0134548572-13"/>
          <p:cNvSpPr/>
          <p:nvPr/>
        </p:nvSpPr>
        <p:spPr>
          <a:xfrm>
            <a:off x="6189702" y="3459353"/>
            <a:ext cx="2561584" cy="1942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0134548699-15"/>
          <p:cNvSpPr/>
          <p:nvPr/>
        </p:nvSpPr>
        <p:spPr>
          <a:xfrm>
            <a:off x="7345510" y="3714083"/>
            <a:ext cx="249969" cy="23330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6050" y="25278"/>
                </a:moveTo>
                <a:lnTo>
                  <a:pt x="26050" y="25278"/>
                </a:lnTo>
                <a:cubicBezTo>
                  <a:pt x="32750" y="18167"/>
                  <a:pt x="40400" y="14611"/>
                  <a:pt x="49000" y="14611"/>
                </a:cubicBezTo>
                <a:lnTo>
                  <a:pt x="49000" y="14611"/>
                </a:lnTo>
                <a:lnTo>
                  <a:pt x="49000" y="14611"/>
                </a:lnTo>
                <a:cubicBezTo>
                  <a:pt x="57767" y="14611"/>
                  <a:pt x="65500" y="18093"/>
                  <a:pt x="72200" y="25056"/>
                </a:cubicBezTo>
                <a:lnTo>
                  <a:pt x="72200" y="25056"/>
                </a:lnTo>
                <a:lnTo>
                  <a:pt x="63800" y="34389"/>
                </a:lnTo>
                <a:cubicBezTo>
                  <a:pt x="62267" y="36241"/>
                  <a:pt x="61917" y="38222"/>
                  <a:pt x="62750" y="40333"/>
                </a:cubicBezTo>
                <a:lnTo>
                  <a:pt x="62750" y="40333"/>
                </a:lnTo>
                <a:cubicBezTo>
                  <a:pt x="63583" y="42444"/>
                  <a:pt x="65083" y="43593"/>
                  <a:pt x="67250" y="43778"/>
                </a:cubicBezTo>
                <a:lnTo>
                  <a:pt x="67250" y="43778"/>
                </a:lnTo>
                <a:lnTo>
                  <a:pt x="91900" y="43778"/>
                </a:lnTo>
                <a:cubicBezTo>
                  <a:pt x="91900" y="43778"/>
                  <a:pt x="91900" y="43778"/>
                  <a:pt x="91900" y="43778"/>
                </a:cubicBezTo>
                <a:lnTo>
                  <a:pt x="91900" y="43778"/>
                </a:lnTo>
                <a:cubicBezTo>
                  <a:pt x="91900" y="43778"/>
                  <a:pt x="91900" y="43778"/>
                  <a:pt x="91900" y="43778"/>
                </a:cubicBezTo>
                <a:lnTo>
                  <a:pt x="91900" y="43778"/>
                </a:lnTo>
                <a:lnTo>
                  <a:pt x="93500" y="43778"/>
                </a:lnTo>
                <a:cubicBezTo>
                  <a:pt x="96533" y="43444"/>
                  <a:pt x="98183" y="41611"/>
                  <a:pt x="98450" y="38278"/>
                </a:cubicBezTo>
                <a:lnTo>
                  <a:pt x="98450" y="38278"/>
                </a:lnTo>
                <a:lnTo>
                  <a:pt x="98450" y="9111"/>
                </a:lnTo>
                <a:cubicBezTo>
                  <a:pt x="98317" y="6667"/>
                  <a:pt x="97283" y="5000"/>
                  <a:pt x="95350" y="4111"/>
                </a:cubicBezTo>
                <a:lnTo>
                  <a:pt x="95350" y="4111"/>
                </a:lnTo>
                <a:cubicBezTo>
                  <a:pt x="93450" y="3185"/>
                  <a:pt x="91683" y="3556"/>
                  <a:pt x="90050" y="5222"/>
                </a:cubicBezTo>
                <a:lnTo>
                  <a:pt x="90050" y="5222"/>
                </a:lnTo>
                <a:lnTo>
                  <a:pt x="81400" y="14833"/>
                </a:lnTo>
                <a:cubicBezTo>
                  <a:pt x="75400" y="8130"/>
                  <a:pt x="68500" y="3722"/>
                  <a:pt x="60700" y="1611"/>
                </a:cubicBezTo>
                <a:lnTo>
                  <a:pt x="60700" y="1611"/>
                </a:lnTo>
                <a:cubicBezTo>
                  <a:pt x="52900" y="-537"/>
                  <a:pt x="45183" y="-537"/>
                  <a:pt x="37550" y="1611"/>
                </a:cubicBezTo>
                <a:lnTo>
                  <a:pt x="37550" y="1611"/>
                </a:lnTo>
                <a:cubicBezTo>
                  <a:pt x="29750" y="3870"/>
                  <a:pt x="22833" y="8352"/>
                  <a:pt x="16800" y="15056"/>
                </a:cubicBezTo>
                <a:lnTo>
                  <a:pt x="16800" y="15056"/>
                </a:lnTo>
                <a:cubicBezTo>
                  <a:pt x="11767" y="20648"/>
                  <a:pt x="8150" y="26944"/>
                  <a:pt x="5950" y="33944"/>
                </a:cubicBezTo>
                <a:lnTo>
                  <a:pt x="5950" y="33944"/>
                </a:lnTo>
                <a:cubicBezTo>
                  <a:pt x="5417" y="35907"/>
                  <a:pt x="5483" y="37815"/>
                  <a:pt x="6150" y="39667"/>
                </a:cubicBezTo>
                <a:lnTo>
                  <a:pt x="6150" y="39667"/>
                </a:lnTo>
                <a:cubicBezTo>
                  <a:pt x="6983" y="41333"/>
                  <a:pt x="8217" y="42537"/>
                  <a:pt x="9850" y="43278"/>
                </a:cubicBezTo>
                <a:lnTo>
                  <a:pt x="9850" y="43278"/>
                </a:lnTo>
                <a:cubicBezTo>
                  <a:pt x="11617" y="43907"/>
                  <a:pt x="13317" y="43833"/>
                  <a:pt x="14950" y="43056"/>
                </a:cubicBezTo>
                <a:lnTo>
                  <a:pt x="14950" y="43056"/>
                </a:lnTo>
                <a:cubicBezTo>
                  <a:pt x="16483" y="42167"/>
                  <a:pt x="17583" y="40796"/>
                  <a:pt x="18250" y="38944"/>
                </a:cubicBezTo>
                <a:lnTo>
                  <a:pt x="18250" y="38944"/>
                </a:lnTo>
                <a:cubicBezTo>
                  <a:pt x="19883" y="33944"/>
                  <a:pt x="22483" y="29389"/>
                  <a:pt x="26050" y="25278"/>
                </a:cubicBezTo>
                <a:lnTo>
                  <a:pt x="26050" y="25278"/>
                </a:lnTo>
                <a:close/>
                <a:moveTo>
                  <a:pt x="0" y="63778"/>
                </a:moveTo>
                <a:lnTo>
                  <a:pt x="0" y="63778"/>
                </a:lnTo>
                <a:lnTo>
                  <a:pt x="0" y="65611"/>
                </a:lnTo>
                <a:lnTo>
                  <a:pt x="0" y="65611"/>
                </a:lnTo>
                <a:lnTo>
                  <a:pt x="0" y="92944"/>
                </a:lnTo>
                <a:cubicBezTo>
                  <a:pt x="133" y="95389"/>
                  <a:pt x="1167" y="97074"/>
                  <a:pt x="3100" y="98000"/>
                </a:cubicBezTo>
                <a:lnTo>
                  <a:pt x="3100" y="98000"/>
                </a:lnTo>
                <a:cubicBezTo>
                  <a:pt x="5000" y="98889"/>
                  <a:pt x="6767" y="98500"/>
                  <a:pt x="8400" y="96833"/>
                </a:cubicBezTo>
                <a:lnTo>
                  <a:pt x="8400" y="96833"/>
                </a:lnTo>
                <a:lnTo>
                  <a:pt x="17000" y="87278"/>
                </a:lnTo>
                <a:cubicBezTo>
                  <a:pt x="23033" y="93944"/>
                  <a:pt x="29950" y="98352"/>
                  <a:pt x="37750" y="100500"/>
                </a:cubicBezTo>
                <a:lnTo>
                  <a:pt x="37750" y="100500"/>
                </a:lnTo>
                <a:cubicBezTo>
                  <a:pt x="45517" y="102611"/>
                  <a:pt x="53233" y="102611"/>
                  <a:pt x="60900" y="100500"/>
                </a:cubicBezTo>
                <a:lnTo>
                  <a:pt x="60900" y="100500"/>
                </a:lnTo>
                <a:cubicBezTo>
                  <a:pt x="68700" y="98204"/>
                  <a:pt x="75600" y="93722"/>
                  <a:pt x="81600" y="87056"/>
                </a:cubicBezTo>
                <a:lnTo>
                  <a:pt x="81600" y="87056"/>
                </a:lnTo>
                <a:cubicBezTo>
                  <a:pt x="86667" y="81426"/>
                  <a:pt x="90300" y="75111"/>
                  <a:pt x="92500" y="68111"/>
                </a:cubicBezTo>
                <a:lnTo>
                  <a:pt x="92500" y="68111"/>
                </a:lnTo>
                <a:cubicBezTo>
                  <a:pt x="93167" y="66148"/>
                  <a:pt x="93100" y="64259"/>
                  <a:pt x="92300" y="62444"/>
                </a:cubicBezTo>
                <a:lnTo>
                  <a:pt x="92300" y="62444"/>
                </a:lnTo>
                <a:cubicBezTo>
                  <a:pt x="91467" y="60778"/>
                  <a:pt x="90233" y="59556"/>
                  <a:pt x="88600" y="58778"/>
                </a:cubicBezTo>
                <a:lnTo>
                  <a:pt x="88600" y="58778"/>
                </a:lnTo>
                <a:cubicBezTo>
                  <a:pt x="86833" y="58185"/>
                  <a:pt x="85117" y="58259"/>
                  <a:pt x="83450" y="59000"/>
                </a:cubicBezTo>
                <a:lnTo>
                  <a:pt x="83450" y="59000"/>
                </a:lnTo>
                <a:cubicBezTo>
                  <a:pt x="81950" y="59926"/>
                  <a:pt x="80867" y="61296"/>
                  <a:pt x="80200" y="63111"/>
                </a:cubicBezTo>
                <a:lnTo>
                  <a:pt x="80200" y="63111"/>
                </a:lnTo>
                <a:cubicBezTo>
                  <a:pt x="78700" y="68296"/>
                  <a:pt x="76100" y="72852"/>
                  <a:pt x="72400" y="76778"/>
                </a:cubicBezTo>
                <a:lnTo>
                  <a:pt x="72400" y="76778"/>
                </a:lnTo>
                <a:cubicBezTo>
                  <a:pt x="65700" y="83926"/>
                  <a:pt x="58033" y="87500"/>
                  <a:pt x="49400" y="87500"/>
                </a:cubicBezTo>
                <a:lnTo>
                  <a:pt x="49400" y="87500"/>
                </a:lnTo>
                <a:cubicBezTo>
                  <a:pt x="40667" y="87500"/>
                  <a:pt x="32950" y="84000"/>
                  <a:pt x="26250" y="77000"/>
                </a:cubicBezTo>
                <a:lnTo>
                  <a:pt x="26250" y="77000"/>
                </a:lnTo>
                <a:lnTo>
                  <a:pt x="34650" y="67667"/>
                </a:lnTo>
                <a:cubicBezTo>
                  <a:pt x="36150" y="65852"/>
                  <a:pt x="36500" y="63889"/>
                  <a:pt x="35700" y="61778"/>
                </a:cubicBezTo>
                <a:lnTo>
                  <a:pt x="35700" y="61778"/>
                </a:lnTo>
                <a:cubicBezTo>
                  <a:pt x="34867" y="59630"/>
                  <a:pt x="33350" y="58481"/>
                  <a:pt x="31150" y="58333"/>
                </a:cubicBezTo>
                <a:lnTo>
                  <a:pt x="31150" y="58333"/>
                </a:lnTo>
                <a:lnTo>
                  <a:pt x="6550" y="58333"/>
                </a:lnTo>
                <a:lnTo>
                  <a:pt x="6550" y="58333"/>
                </a:lnTo>
                <a:lnTo>
                  <a:pt x="4900" y="58333"/>
                </a:lnTo>
                <a:cubicBezTo>
                  <a:pt x="1900" y="58630"/>
                  <a:pt x="267" y="60444"/>
                  <a:pt x="0" y="63778"/>
                </a:cubicBezTo>
                <a:lnTo>
                  <a:pt x="0" y="63778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0134548572-14"/>
          <p:cNvSpPr/>
          <p:nvPr/>
        </p:nvSpPr>
        <p:spPr>
          <a:xfrm>
            <a:off x="8941739" y="3459353"/>
            <a:ext cx="2561584" cy="1942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0134548702-16"/>
          <p:cNvSpPr/>
          <p:nvPr/>
        </p:nvSpPr>
        <p:spPr>
          <a:xfrm>
            <a:off x="10105879" y="3697419"/>
            <a:ext cx="233304" cy="26663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2111" y="15619"/>
                </a:moveTo>
                <a:lnTo>
                  <a:pt x="102111" y="15619"/>
                </a:lnTo>
                <a:lnTo>
                  <a:pt x="102111" y="25000"/>
                </a:lnTo>
                <a:cubicBezTo>
                  <a:pt x="101778" y="29413"/>
                  <a:pt x="96759" y="33127"/>
                  <a:pt x="87056" y="36143"/>
                </a:cubicBezTo>
                <a:lnTo>
                  <a:pt x="87056" y="36143"/>
                </a:lnTo>
                <a:cubicBezTo>
                  <a:pt x="77463" y="39000"/>
                  <a:pt x="65463" y="40492"/>
                  <a:pt x="51056" y="40619"/>
                </a:cubicBezTo>
                <a:lnTo>
                  <a:pt x="51056" y="40619"/>
                </a:lnTo>
                <a:cubicBezTo>
                  <a:pt x="36611" y="40492"/>
                  <a:pt x="24611" y="39000"/>
                  <a:pt x="15056" y="36143"/>
                </a:cubicBezTo>
                <a:lnTo>
                  <a:pt x="15056" y="36143"/>
                </a:lnTo>
                <a:cubicBezTo>
                  <a:pt x="5315" y="33127"/>
                  <a:pt x="296" y="29413"/>
                  <a:pt x="0" y="25000"/>
                </a:cubicBezTo>
                <a:lnTo>
                  <a:pt x="0" y="25000"/>
                </a:lnTo>
                <a:lnTo>
                  <a:pt x="0" y="15619"/>
                </a:lnTo>
                <a:cubicBezTo>
                  <a:pt x="296" y="11206"/>
                  <a:pt x="5315" y="7492"/>
                  <a:pt x="15056" y="4476"/>
                </a:cubicBezTo>
                <a:lnTo>
                  <a:pt x="15056" y="4476"/>
                </a:lnTo>
                <a:cubicBezTo>
                  <a:pt x="24611" y="1619"/>
                  <a:pt x="36611" y="127"/>
                  <a:pt x="51056" y="0"/>
                </a:cubicBezTo>
                <a:lnTo>
                  <a:pt x="51056" y="0"/>
                </a:lnTo>
                <a:cubicBezTo>
                  <a:pt x="65463" y="127"/>
                  <a:pt x="77463" y="1619"/>
                  <a:pt x="87056" y="4476"/>
                </a:cubicBezTo>
                <a:lnTo>
                  <a:pt x="87056" y="4476"/>
                </a:lnTo>
                <a:cubicBezTo>
                  <a:pt x="96759" y="7492"/>
                  <a:pt x="101778" y="11206"/>
                  <a:pt x="102111" y="15619"/>
                </a:cubicBezTo>
                <a:lnTo>
                  <a:pt x="102111" y="15619"/>
                </a:lnTo>
                <a:close/>
                <a:moveTo>
                  <a:pt x="89556" y="42000"/>
                </a:moveTo>
                <a:lnTo>
                  <a:pt x="89556" y="42000"/>
                </a:lnTo>
                <a:cubicBezTo>
                  <a:pt x="94407" y="40571"/>
                  <a:pt x="98593" y="38683"/>
                  <a:pt x="102111" y="36333"/>
                </a:cubicBezTo>
                <a:lnTo>
                  <a:pt x="102111" y="36333"/>
                </a:lnTo>
                <a:lnTo>
                  <a:pt x="102111" y="56238"/>
                </a:lnTo>
                <a:cubicBezTo>
                  <a:pt x="101778" y="60683"/>
                  <a:pt x="96759" y="64397"/>
                  <a:pt x="87056" y="67381"/>
                </a:cubicBezTo>
                <a:lnTo>
                  <a:pt x="87056" y="67381"/>
                </a:lnTo>
                <a:cubicBezTo>
                  <a:pt x="77463" y="70238"/>
                  <a:pt x="65463" y="71730"/>
                  <a:pt x="51056" y="71857"/>
                </a:cubicBezTo>
                <a:lnTo>
                  <a:pt x="51056" y="71857"/>
                </a:lnTo>
                <a:cubicBezTo>
                  <a:pt x="36611" y="71730"/>
                  <a:pt x="24611" y="70238"/>
                  <a:pt x="15056" y="67381"/>
                </a:cubicBezTo>
                <a:lnTo>
                  <a:pt x="15056" y="67381"/>
                </a:lnTo>
                <a:cubicBezTo>
                  <a:pt x="5315" y="64397"/>
                  <a:pt x="296" y="60683"/>
                  <a:pt x="0" y="56238"/>
                </a:cubicBezTo>
                <a:lnTo>
                  <a:pt x="0" y="56238"/>
                </a:lnTo>
                <a:lnTo>
                  <a:pt x="0" y="36333"/>
                </a:lnTo>
                <a:cubicBezTo>
                  <a:pt x="3481" y="38683"/>
                  <a:pt x="7667" y="40571"/>
                  <a:pt x="12556" y="42000"/>
                </a:cubicBezTo>
                <a:lnTo>
                  <a:pt x="12556" y="42000"/>
                </a:lnTo>
                <a:cubicBezTo>
                  <a:pt x="23185" y="45111"/>
                  <a:pt x="36019" y="46730"/>
                  <a:pt x="51056" y="46857"/>
                </a:cubicBezTo>
                <a:lnTo>
                  <a:pt x="51056" y="46857"/>
                </a:lnTo>
                <a:cubicBezTo>
                  <a:pt x="66093" y="46730"/>
                  <a:pt x="78926" y="45111"/>
                  <a:pt x="89556" y="42000"/>
                </a:cubicBezTo>
                <a:lnTo>
                  <a:pt x="89556" y="42000"/>
                </a:lnTo>
                <a:close/>
                <a:moveTo>
                  <a:pt x="0" y="67571"/>
                </a:moveTo>
                <a:lnTo>
                  <a:pt x="0" y="67571"/>
                </a:lnTo>
                <a:cubicBezTo>
                  <a:pt x="3481" y="69921"/>
                  <a:pt x="7667" y="71810"/>
                  <a:pt x="12556" y="73238"/>
                </a:cubicBezTo>
                <a:lnTo>
                  <a:pt x="12556" y="73238"/>
                </a:lnTo>
                <a:cubicBezTo>
                  <a:pt x="23185" y="76381"/>
                  <a:pt x="36019" y="78016"/>
                  <a:pt x="51056" y="78143"/>
                </a:cubicBezTo>
                <a:lnTo>
                  <a:pt x="51056" y="78143"/>
                </a:lnTo>
                <a:cubicBezTo>
                  <a:pt x="66093" y="78016"/>
                  <a:pt x="78926" y="76381"/>
                  <a:pt x="89556" y="73238"/>
                </a:cubicBezTo>
                <a:lnTo>
                  <a:pt x="89556" y="73238"/>
                </a:lnTo>
                <a:cubicBezTo>
                  <a:pt x="94407" y="71810"/>
                  <a:pt x="98593" y="69921"/>
                  <a:pt x="102111" y="67571"/>
                </a:cubicBezTo>
                <a:lnTo>
                  <a:pt x="102111" y="67571"/>
                </a:lnTo>
                <a:lnTo>
                  <a:pt x="102111" y="84381"/>
                </a:lnTo>
                <a:cubicBezTo>
                  <a:pt x="101778" y="88794"/>
                  <a:pt x="96759" y="92508"/>
                  <a:pt x="87056" y="95524"/>
                </a:cubicBezTo>
                <a:lnTo>
                  <a:pt x="87056" y="95524"/>
                </a:lnTo>
                <a:cubicBezTo>
                  <a:pt x="77463" y="98381"/>
                  <a:pt x="65463" y="99873"/>
                  <a:pt x="51056" y="100000"/>
                </a:cubicBezTo>
                <a:lnTo>
                  <a:pt x="51056" y="100000"/>
                </a:lnTo>
                <a:cubicBezTo>
                  <a:pt x="36611" y="99873"/>
                  <a:pt x="24611" y="98381"/>
                  <a:pt x="15056" y="95524"/>
                </a:cubicBezTo>
                <a:lnTo>
                  <a:pt x="15056" y="95524"/>
                </a:lnTo>
                <a:cubicBezTo>
                  <a:pt x="5315" y="92508"/>
                  <a:pt x="296" y="88794"/>
                  <a:pt x="0" y="84381"/>
                </a:cubicBezTo>
                <a:lnTo>
                  <a:pt x="0" y="84381"/>
                </a:lnTo>
                <a:lnTo>
                  <a:pt x="0" y="67571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0134548570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0134548571-8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48571-10"/>
          <p:cNvSpPr txBox="1"/>
          <p:nvPr/>
        </p:nvSpPr>
        <p:spPr>
          <a:xfrm>
            <a:off x="1212051" y="-3904"/>
            <a:ext cx="2056886" cy="6856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35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项目概述</a:t>
            </a:r>
            <a:endParaRPr sz="35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48574-15"/>
          <p:cNvSpPr txBox="1"/>
          <p:nvPr/>
        </p:nvSpPr>
        <p:spPr>
          <a:xfrm>
            <a:off x="1190327" y="1884550"/>
            <a:ext cx="10170157" cy="399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系统定位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48574-16"/>
          <p:cNvSpPr txBox="1"/>
          <p:nvPr/>
        </p:nvSpPr>
        <p:spPr>
          <a:xfrm>
            <a:off x="1190327" y="2322591"/>
            <a:ext cx="10036840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 是股票交易系统的管理控制台，为管理员提供股票查看、涨跌停设置、交易控制、权限管理与审计等核心功能。系统仅依赖中央交易系统（TRADE），不依赖账户系统（ACCOUNT）。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48574-17"/>
          <p:cNvSpPr txBox="1"/>
          <p:nvPr/>
        </p:nvSpPr>
        <p:spPr>
          <a:xfrm>
            <a:off x="1403098" y="4078324"/>
            <a:ext cx="1126496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4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模块架构</a:t>
            </a:r>
            <a:endParaRPr sz="14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8574-18"/>
          <p:cNvSpPr txBox="1"/>
          <p:nvPr/>
        </p:nvSpPr>
        <p:spPr>
          <a:xfrm>
            <a:off x="841204" y="4478274"/>
            <a:ext cx="2250284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785"/>
              </a:lnSpc>
            </a:pPr>
            <a:r>
              <a:rPr sz="119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M1-M7 与需求分析</a:t>
            </a:r>
            <a:endParaRPr sz="119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1785"/>
              </a:lnSpc>
            </a:pPr>
            <a:r>
              <a:rPr sz="119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1:1 对齐，含交易日管理并入 M4</a:t>
            </a:r>
            <a:endParaRPr sz="119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0134548575-19"/>
          <p:cNvSpPr txBox="1"/>
          <p:nvPr/>
        </p:nvSpPr>
        <p:spPr>
          <a:xfrm>
            <a:off x="3981645" y="4078324"/>
            <a:ext cx="147362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4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仅依赖 TRADE</a:t>
            </a:r>
            <a:endParaRPr sz="14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0134548575-20"/>
          <p:cNvSpPr txBox="1"/>
          <p:nvPr/>
        </p:nvSpPr>
        <p:spPr>
          <a:xfrm>
            <a:off x="3599550" y="4478274"/>
            <a:ext cx="2237815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785"/>
              </a:lnSpc>
            </a:pPr>
            <a:r>
              <a:rPr sz="119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 TradeClient 调用</a:t>
            </a:r>
            <a:endParaRPr sz="119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1785"/>
              </a:lnSpc>
            </a:pPr>
            <a:r>
              <a:rPr sz="119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TRADE REST API，不依赖 ACCOUNT</a:t>
            </a:r>
            <a:endParaRPr sz="119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0134548575-21"/>
          <p:cNvSpPr txBox="1"/>
          <p:nvPr/>
        </p:nvSpPr>
        <p:spPr>
          <a:xfrm>
            <a:off x="6918629" y="4078324"/>
            <a:ext cx="11037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4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 轮询</a:t>
            </a:r>
            <a:endParaRPr sz="14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0134548575-22"/>
          <p:cNvSpPr txBox="1"/>
          <p:nvPr/>
        </p:nvSpPr>
        <p:spPr>
          <a:xfrm>
            <a:off x="6351587" y="4478274"/>
            <a:ext cx="2237815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785"/>
              </a:lnSpc>
            </a:pPr>
            <a:r>
              <a:rPr sz="119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第一版每 5 秒轮询</a:t>
            </a:r>
            <a:endParaRPr sz="119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1785"/>
              </a:lnSpc>
            </a:pPr>
            <a:r>
              <a:rPr sz="119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获取行情，WebSocket 为后续优化</a:t>
            </a:r>
            <a:endParaRPr sz="119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0134548575-23"/>
          <p:cNvSpPr txBox="1"/>
          <p:nvPr/>
        </p:nvSpPr>
        <p:spPr>
          <a:xfrm>
            <a:off x="9659209" y="4078324"/>
            <a:ext cx="1126496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4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表数据库</a:t>
            </a:r>
            <a:endParaRPr sz="14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0134548575-24"/>
          <p:cNvSpPr txBox="1"/>
          <p:nvPr/>
        </p:nvSpPr>
        <p:spPr>
          <a:xfrm>
            <a:off x="9131537" y="4478274"/>
            <a:ext cx="2181840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785"/>
              </a:lnSpc>
            </a:pPr>
            <a:r>
              <a:rPr sz="119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admin_info / operation_log</a:t>
            </a:r>
            <a:endParaRPr sz="119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1785"/>
              </a:lnSpc>
            </a:pPr>
            <a:r>
              <a:rPr sz="119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permission_config / login_log</a:t>
            </a:r>
            <a:endParaRPr sz="119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0134548570-4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0134548570-5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el-1780134548570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8617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8618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8618-10"/>
          <p:cNvSpPr/>
          <p:nvPr/>
        </p:nvSpPr>
        <p:spPr>
          <a:xfrm>
            <a:off x="685629" y="1019777"/>
            <a:ext cx="10817695" cy="4246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el-1780134548675-11"/>
          <p:cNvPicPr/>
          <p:nvPr/>
        </p:nvPicPr>
        <p:blipFill>
          <a:blip r:embed="rId1"/>
          <a:stretch>
            <a:fillRect/>
          </a:stretch>
        </p:blipFill>
        <p:spPr>
          <a:xfrm>
            <a:off x="3232929" y="1143572"/>
            <a:ext cx="5723094" cy="3999351"/>
          </a:xfrm>
          <a:prstGeom prst="rect">
            <a:avLst/>
          </a:prstGeom>
          <a:ln>
            <a:noFill/>
          </a:ln>
        </p:spPr>
      </p:pic>
      <p:cxnSp>
        <p:nvCxnSpPr>
          <p:cNvPr id="6" name="el-1780134548617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0134548617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0134548618-6"/>
          <p:cNvSpPr txBox="1"/>
          <p:nvPr/>
        </p:nvSpPr>
        <p:spPr>
          <a:xfrm>
            <a:off x="1212051" y="53232"/>
            <a:ext cx="4411948" cy="57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总体设计 — 顶层 IPO 图</a:t>
            </a:r>
            <a:endParaRPr sz="29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0134548618-7"/>
          <p:cNvSpPr txBox="1"/>
          <p:nvPr/>
        </p:nvSpPr>
        <p:spPr>
          <a:xfrm>
            <a:off x="11216455" y="224639"/>
            <a:ext cx="363050" cy="228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1</a:t>
            </a:r>
            <a:endParaRPr sz="119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0134548675-12"/>
          <p:cNvSpPr txBox="1"/>
          <p:nvPr/>
        </p:nvSpPr>
        <p:spPr>
          <a:xfrm>
            <a:off x="1714071" y="5380988"/>
            <a:ext cx="8760809" cy="304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4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</a:t>
            </a:r>
            <a:r>
              <a:rPr sz="14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登录凭证、查询条件、涨跌停比例、交易控制指令、交易日控制、密码修改、权限调整、审计条件</a:t>
            </a:r>
            <a:endParaRPr sz="14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0134548676-13"/>
          <p:cNvSpPr txBox="1"/>
          <p:nvPr/>
        </p:nvSpPr>
        <p:spPr>
          <a:xfrm>
            <a:off x="1714071" y="5761893"/>
            <a:ext cx="8760809" cy="304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4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</a:t>
            </a:r>
            <a:r>
              <a:rPr sz="14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 令牌、股票行情、涨跌停配置、交易状态、密码结果、权限记录、审计日志</a:t>
            </a:r>
            <a:endParaRPr sz="14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0134548618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0134548618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el-1780134548616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8886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8887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8887-10"/>
          <p:cNvSpPr/>
          <p:nvPr/>
        </p:nvSpPr>
        <p:spPr>
          <a:xfrm>
            <a:off x="685629" y="1757185"/>
            <a:ext cx="5798084" cy="35721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el-1780134548901-11"/>
          <p:cNvPicPr/>
          <p:nvPr/>
        </p:nvPicPr>
        <p:blipFill>
          <a:blip r:embed="rId1"/>
          <a:stretch>
            <a:fillRect/>
          </a:stretch>
        </p:blipFill>
        <p:spPr>
          <a:xfrm>
            <a:off x="812511" y="2575833"/>
            <a:ext cx="5545510" cy="1933092"/>
          </a:xfrm>
          <a:prstGeom prst="rect">
            <a:avLst/>
          </a:prstGeom>
          <a:ln>
            <a:noFill/>
          </a:ln>
        </p:spPr>
      </p:pic>
      <p:sp>
        <p:nvSpPr>
          <p:cNvPr id="6" name="el-1780134548902-12"/>
          <p:cNvSpPr/>
          <p:nvPr>
            <p:custDataLst>
              <p:tags r:id="rId2"/>
            </p:custDataLst>
          </p:nvPr>
        </p:nvSpPr>
        <p:spPr>
          <a:xfrm>
            <a:off x="6864618" y="1842889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0134548902-13"/>
          <p:cNvSpPr/>
          <p:nvPr>
            <p:custDataLst>
              <p:tags r:id="rId3"/>
            </p:custDataLst>
          </p:nvPr>
        </p:nvSpPr>
        <p:spPr>
          <a:xfrm>
            <a:off x="6864618" y="3122491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48902-14"/>
          <p:cNvSpPr/>
          <p:nvPr>
            <p:custDataLst>
              <p:tags r:id="rId4"/>
            </p:custDataLst>
          </p:nvPr>
        </p:nvSpPr>
        <p:spPr>
          <a:xfrm>
            <a:off x="6864618" y="4402093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0134548886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0134548886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0134548887-6"/>
          <p:cNvSpPr txBox="1"/>
          <p:nvPr/>
        </p:nvSpPr>
        <p:spPr>
          <a:xfrm>
            <a:off x="1212051" y="53232"/>
            <a:ext cx="3876003" cy="57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总体设计 — 模块结构</a:t>
            </a:r>
            <a:endParaRPr sz="29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0134548887-7"/>
          <p:cNvSpPr txBox="1"/>
          <p:nvPr/>
        </p:nvSpPr>
        <p:spPr>
          <a:xfrm>
            <a:off x="11216455" y="224639"/>
            <a:ext cx="363050" cy="228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2</a:t>
            </a:r>
            <a:endParaRPr sz="119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0134548903-15"/>
          <p:cNvSpPr txBox="1"/>
          <p:nvPr>
            <p:custDataLst>
              <p:tags r:id="rId5"/>
            </p:custDataLst>
          </p:nvPr>
        </p:nvSpPr>
        <p:spPr>
          <a:xfrm>
            <a:off x="7074115" y="1757185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M4 含交易日管理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0134548903-16"/>
          <p:cNvSpPr txBox="1"/>
          <p:nvPr>
            <p:custDataLst>
              <p:tags r:id="rId6"/>
            </p:custDataLst>
          </p:nvPr>
        </p:nvSpPr>
        <p:spPr>
          <a:xfrm>
            <a:off x="7074115" y="2100000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交易日开始/结束作为 M4 交易控制模块的子功能，通过界面 Tab 切换，仅高级管理员可操作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0134548904-17"/>
          <p:cNvSpPr txBox="1"/>
          <p:nvPr>
            <p:custDataLst>
              <p:tags r:id="rId7"/>
            </p:custDataLst>
          </p:nvPr>
        </p:nvSpPr>
        <p:spPr>
          <a:xfrm>
            <a:off x="7074115" y="3036787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M6 为权限中枢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48904-18"/>
          <p:cNvSpPr txBox="1"/>
          <p:nvPr>
            <p:custDataLst>
              <p:tags r:id="rId8"/>
            </p:custDataLst>
          </p:nvPr>
        </p:nvSpPr>
        <p:spPr>
          <a:xfrm>
            <a:off x="7074115" y="3379601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所有模块通过 M6 校验角色与授权范围，实现 RBAC 统一权限控制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48905-19"/>
          <p:cNvSpPr txBox="1"/>
          <p:nvPr>
            <p:custDataLst>
              <p:tags r:id="rId9"/>
            </p:custDataLst>
          </p:nvPr>
        </p:nvSpPr>
        <p:spPr>
          <a:xfrm>
            <a:off x="7074115" y="4316389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模块与需求 1:1 对齐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48905-20"/>
          <p:cNvSpPr txBox="1"/>
          <p:nvPr>
            <p:custDataLst>
              <p:tags r:id="rId10"/>
            </p:custDataLst>
          </p:nvPr>
        </p:nvSpPr>
        <p:spPr>
          <a:xfrm>
            <a:off x="7074115" y="4659203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设计报告恢复 7 模块结构，编号与需求分析报告完全一致，保证追溯性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48887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8887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el-1780134548886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8954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8954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8955-10"/>
          <p:cNvSpPr/>
          <p:nvPr/>
        </p:nvSpPr>
        <p:spPr>
          <a:xfrm>
            <a:off x="837565" y="861060"/>
            <a:ext cx="4930775" cy="540766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0134548956-12"/>
          <p:cNvCxnSpPr/>
          <p:nvPr/>
        </p:nvCxnSpPr>
        <p:spPr>
          <a:xfrm>
            <a:off x="6265883" y="2538635"/>
            <a:ext cx="5237440" cy="914"/>
          </a:xfrm>
          <a:prstGeom prst="line">
            <a:avLst/>
          </a:prstGeom>
          <a:ln w="9523" cap="flat">
            <a:solidFill>
              <a:srgbClr val="F1F5F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0134548957-17"/>
          <p:cNvSpPr/>
          <p:nvPr/>
        </p:nvSpPr>
        <p:spPr>
          <a:xfrm>
            <a:off x="6265883" y="2169634"/>
            <a:ext cx="942739" cy="252349"/>
          </a:xfrm>
          <a:prstGeom prst="roundRect">
            <a:avLst>
              <a:gd name="adj" fmla="val 7549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0134548956-13"/>
          <p:cNvCxnSpPr/>
          <p:nvPr/>
        </p:nvCxnSpPr>
        <p:spPr>
          <a:xfrm>
            <a:off x="6265883" y="3462329"/>
            <a:ext cx="5237440" cy="914"/>
          </a:xfrm>
          <a:prstGeom prst="line">
            <a:avLst/>
          </a:prstGeom>
          <a:ln w="9523" cap="flat">
            <a:solidFill>
              <a:srgbClr val="F1F5F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0134548959-20"/>
          <p:cNvSpPr/>
          <p:nvPr/>
        </p:nvSpPr>
        <p:spPr>
          <a:xfrm>
            <a:off x="6265883" y="2950488"/>
            <a:ext cx="942739" cy="252349"/>
          </a:xfrm>
          <a:prstGeom prst="roundRect">
            <a:avLst>
              <a:gd name="adj" fmla="val 7549"/>
            </a:avLst>
          </a:prstGeom>
          <a:solidFill>
            <a:srgbClr val="FEF3C7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0134548956-14"/>
          <p:cNvCxnSpPr/>
          <p:nvPr/>
        </p:nvCxnSpPr>
        <p:spPr>
          <a:xfrm>
            <a:off x="6265883" y="4386023"/>
            <a:ext cx="5237440" cy="914"/>
          </a:xfrm>
          <a:prstGeom prst="line">
            <a:avLst/>
          </a:prstGeom>
          <a:ln w="9523" cap="flat">
            <a:solidFill>
              <a:srgbClr val="F1F5F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0134548960-23"/>
          <p:cNvSpPr/>
          <p:nvPr/>
        </p:nvSpPr>
        <p:spPr>
          <a:xfrm>
            <a:off x="6265883" y="3874182"/>
            <a:ext cx="942739" cy="252349"/>
          </a:xfrm>
          <a:prstGeom prst="roundRect">
            <a:avLst>
              <a:gd name="adj" fmla="val 7549"/>
            </a:avLst>
          </a:prstGeom>
          <a:solidFill>
            <a:srgbClr val="D1FAE5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0134548956-15"/>
          <p:cNvCxnSpPr/>
          <p:nvPr/>
        </p:nvCxnSpPr>
        <p:spPr>
          <a:xfrm>
            <a:off x="6265883" y="5024039"/>
            <a:ext cx="5237440" cy="914"/>
          </a:xfrm>
          <a:prstGeom prst="line">
            <a:avLst/>
          </a:prstGeom>
          <a:ln w="9523" cap="flat">
            <a:solidFill>
              <a:srgbClr val="F1F5F9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0134548960-26"/>
          <p:cNvSpPr/>
          <p:nvPr/>
        </p:nvSpPr>
        <p:spPr>
          <a:xfrm>
            <a:off x="6265883" y="4655037"/>
            <a:ext cx="942739" cy="252349"/>
          </a:xfrm>
          <a:prstGeom prst="roundRect">
            <a:avLst>
              <a:gd name="adj" fmla="val 7549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0134548954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0134548954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48955-6"/>
          <p:cNvSpPr txBox="1"/>
          <p:nvPr/>
        </p:nvSpPr>
        <p:spPr>
          <a:xfrm>
            <a:off x="1212051" y="53232"/>
            <a:ext cx="3495099" cy="57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总体设计 — 用例图</a:t>
            </a:r>
            <a:endParaRPr sz="29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48955-7"/>
          <p:cNvSpPr txBox="1"/>
          <p:nvPr/>
        </p:nvSpPr>
        <p:spPr>
          <a:xfrm>
            <a:off x="11216455" y="224639"/>
            <a:ext cx="363050" cy="228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3</a:t>
            </a:r>
            <a:endParaRPr sz="119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48956-16"/>
          <p:cNvSpPr txBox="1"/>
          <p:nvPr/>
        </p:nvSpPr>
        <p:spPr>
          <a:xfrm>
            <a:off x="6380155" y="2188679"/>
            <a:ext cx="899887" cy="2142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普通管理员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48957-18"/>
          <p:cNvSpPr txBox="1"/>
          <p:nvPr/>
        </p:nvSpPr>
        <p:spPr>
          <a:xfrm>
            <a:off x="7322894" y="2152969"/>
            <a:ext cx="238065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登录、股票查看、密码修改</a:t>
            </a:r>
            <a:endParaRPr sz="14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8957-19"/>
          <p:cNvSpPr txBox="1"/>
          <p:nvPr/>
        </p:nvSpPr>
        <p:spPr>
          <a:xfrm>
            <a:off x="6380155" y="2969534"/>
            <a:ext cx="899887" cy="2142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高级管理员</a:t>
            </a:r>
            <a:endParaRPr sz="112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0134548959-21"/>
          <p:cNvSpPr txBox="1"/>
          <p:nvPr/>
        </p:nvSpPr>
        <p:spPr>
          <a:xfrm>
            <a:off x="7322894" y="2790985"/>
            <a:ext cx="4180430" cy="57135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35"/>
              </a:lnSpc>
            </a:pPr>
            <a:r>
              <a:rPr sz="14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继承普通权限 + 涨跌停设置、交易控制、交易日管理</a:t>
            </a:r>
            <a:endParaRPr sz="14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0134548959-22"/>
          <p:cNvSpPr txBox="1"/>
          <p:nvPr/>
        </p:nvSpPr>
        <p:spPr>
          <a:xfrm>
            <a:off x="6380155" y="3893228"/>
            <a:ext cx="899887" cy="2142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系统管理员</a:t>
            </a:r>
            <a:endParaRPr sz="1120" b="1">
              <a:solidFill>
                <a:srgbClr val="0596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0134548960-24"/>
          <p:cNvSpPr txBox="1"/>
          <p:nvPr/>
        </p:nvSpPr>
        <p:spPr>
          <a:xfrm>
            <a:off x="7322894" y="3714679"/>
            <a:ext cx="4180430" cy="57135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35"/>
              </a:lnSpc>
            </a:pPr>
            <a:r>
              <a:rPr sz="14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登录、密码修改、权限管理（角色/授权/状态调整）</a:t>
            </a:r>
            <a:endParaRPr sz="14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0134548960-25"/>
          <p:cNvSpPr txBox="1"/>
          <p:nvPr/>
        </p:nvSpPr>
        <p:spPr>
          <a:xfrm>
            <a:off x="6380155" y="4674082"/>
            <a:ext cx="899887" cy="2142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4F46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审计管理员</a:t>
            </a:r>
            <a:endParaRPr sz="1120" b="1">
              <a:solidFill>
                <a:srgbClr val="4F46E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0134548960-27"/>
          <p:cNvSpPr txBox="1"/>
          <p:nvPr/>
        </p:nvSpPr>
        <p:spPr>
          <a:xfrm>
            <a:off x="7322894" y="4638373"/>
            <a:ext cx="3332917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登录、密码修改、审计日志查询与导出</a:t>
            </a:r>
            <a:endParaRPr sz="14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0134548955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0134548955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el-1780134548953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8965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8966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8967-10"/>
          <p:cNvSpPr/>
          <p:nvPr/>
        </p:nvSpPr>
        <p:spPr>
          <a:xfrm>
            <a:off x="685629" y="1325245"/>
            <a:ext cx="5798084" cy="443590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el-1780134548998-11"/>
          <p:cNvPicPr/>
          <p:nvPr/>
        </p:nvPicPr>
        <p:blipFill>
          <a:blip r:embed="rId1"/>
          <a:stretch>
            <a:fillRect/>
          </a:stretch>
        </p:blipFill>
        <p:spPr>
          <a:xfrm>
            <a:off x="809423" y="1449039"/>
            <a:ext cx="5550496" cy="4188316"/>
          </a:xfrm>
          <a:prstGeom prst="rect">
            <a:avLst/>
          </a:prstGeom>
          <a:ln>
            <a:noFill/>
          </a:ln>
        </p:spPr>
      </p:pic>
      <p:sp>
        <p:nvSpPr>
          <p:cNvPr id="6" name="el-1780134549000-12"/>
          <p:cNvSpPr/>
          <p:nvPr/>
        </p:nvSpPr>
        <p:spPr>
          <a:xfrm>
            <a:off x="6864618" y="1410949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0134549000-13"/>
          <p:cNvSpPr/>
          <p:nvPr/>
        </p:nvSpPr>
        <p:spPr>
          <a:xfrm>
            <a:off x="6864618" y="2690551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49000-14"/>
          <p:cNvSpPr/>
          <p:nvPr/>
        </p:nvSpPr>
        <p:spPr>
          <a:xfrm>
            <a:off x="6864618" y="4305230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0134548965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0134548966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0134548966-6"/>
          <p:cNvSpPr txBox="1"/>
          <p:nvPr/>
        </p:nvSpPr>
        <p:spPr>
          <a:xfrm>
            <a:off x="1212051" y="53232"/>
            <a:ext cx="3876003" cy="57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总体设计 — 核心类图</a:t>
            </a:r>
            <a:endParaRPr sz="29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0134548966-7"/>
          <p:cNvSpPr txBox="1"/>
          <p:nvPr/>
        </p:nvSpPr>
        <p:spPr>
          <a:xfrm>
            <a:off x="11216455" y="224639"/>
            <a:ext cx="363050" cy="228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4</a:t>
            </a:r>
            <a:endParaRPr sz="119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0134549001-15"/>
          <p:cNvSpPr txBox="1"/>
          <p:nvPr/>
        </p:nvSpPr>
        <p:spPr>
          <a:xfrm>
            <a:off x="7074115" y="1325245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无状态令牌撤销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0134549002-16"/>
          <p:cNvSpPr txBox="1"/>
          <p:nvPr/>
        </p:nvSpPr>
        <p:spPr>
          <a:xfrm>
            <a:off x="7074115" y="1668059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token_version 字段实现 JWT 失效：密码修改/禁用时自增，中间件比对版本号，无需 Redis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0134549002-17"/>
          <p:cNvSpPr txBox="1"/>
          <p:nvPr/>
        </p:nvSpPr>
        <p:spPr>
          <a:xfrm>
            <a:off x="7074115" y="2604847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全部外键 RESTRICT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49002-18"/>
          <p:cNvSpPr txBox="1"/>
          <p:nvPr/>
        </p:nvSpPr>
        <p:spPr>
          <a:xfrm>
            <a:off x="7074115" y="2947661"/>
            <a:ext cx="4429208" cy="10052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禁止物理删除管理员记录，仅通过 status='disabled' 软禁用，保证审计日志完整性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49002-19"/>
          <p:cNvSpPr txBox="1"/>
          <p:nvPr/>
        </p:nvSpPr>
        <p:spPr>
          <a:xfrm>
            <a:off x="7074115" y="4219526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分层映射角色枚举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49003-20"/>
          <p:cNvSpPr txBox="1"/>
          <p:nvPr/>
        </p:nvSpPr>
        <p:spPr>
          <a:xfrm>
            <a:off x="7074115" y="4562340"/>
            <a:ext cx="4429208" cy="10052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 层 TINYINT 存 0-3，代码层 Python IntEnum，API 层使用字符串枚举，三层各司其职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48966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8966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el-1780134548964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9112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9114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9115-10"/>
          <p:cNvSpPr/>
          <p:nvPr/>
        </p:nvSpPr>
        <p:spPr>
          <a:xfrm>
            <a:off x="685629" y="1229275"/>
            <a:ext cx="5798084" cy="46278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el-1780134549127-11"/>
          <p:cNvPicPr/>
          <p:nvPr/>
        </p:nvPicPr>
        <p:blipFill>
          <a:blip r:embed="rId1"/>
          <a:stretch>
            <a:fillRect/>
          </a:stretch>
        </p:blipFill>
        <p:spPr>
          <a:xfrm>
            <a:off x="959701" y="1353069"/>
            <a:ext cx="5249790" cy="4380256"/>
          </a:xfrm>
          <a:prstGeom prst="rect">
            <a:avLst/>
          </a:prstGeom>
          <a:ln>
            <a:noFill/>
          </a:ln>
        </p:spPr>
      </p:pic>
      <p:sp>
        <p:nvSpPr>
          <p:cNvPr id="6" name="el-1780134549128-12"/>
          <p:cNvSpPr/>
          <p:nvPr/>
        </p:nvSpPr>
        <p:spPr>
          <a:xfrm>
            <a:off x="6864618" y="1314979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0134549128-13"/>
          <p:cNvSpPr/>
          <p:nvPr/>
        </p:nvSpPr>
        <p:spPr>
          <a:xfrm>
            <a:off x="6864618" y="2594581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49128-14"/>
          <p:cNvSpPr/>
          <p:nvPr/>
        </p:nvSpPr>
        <p:spPr>
          <a:xfrm>
            <a:off x="6864618" y="3874182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0134549113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0134549113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0134549114-6"/>
          <p:cNvSpPr txBox="1"/>
          <p:nvPr/>
        </p:nvSpPr>
        <p:spPr>
          <a:xfrm>
            <a:off x="1212051" y="53232"/>
            <a:ext cx="3876003" cy="57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总体设计 — 部署架构</a:t>
            </a:r>
            <a:endParaRPr sz="29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0134549114-7"/>
          <p:cNvSpPr txBox="1"/>
          <p:nvPr/>
        </p:nvSpPr>
        <p:spPr>
          <a:xfrm>
            <a:off x="11216455" y="224639"/>
            <a:ext cx="363050" cy="228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5</a:t>
            </a:r>
            <a:endParaRPr sz="119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0134549129-15"/>
          <p:cNvSpPr txBox="1"/>
          <p:nvPr/>
        </p:nvSpPr>
        <p:spPr>
          <a:xfrm>
            <a:off x="7074115" y="1229275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Nginx 反向代理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0134549129-16"/>
          <p:cNvSpPr txBox="1"/>
          <p:nvPr/>
        </p:nvSpPr>
        <p:spPr>
          <a:xfrm>
            <a:off x="7074115" y="1572089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 80/443，静态资源托管 Vue Build，/api/v1/admin 代理至 FastAPI :8000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0134549129-17"/>
          <p:cNvSpPr txBox="1"/>
          <p:nvPr/>
        </p:nvSpPr>
        <p:spPr>
          <a:xfrm>
            <a:off x="7074115" y="2508877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FastAPI + httpx 异步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49129-18"/>
          <p:cNvSpPr txBox="1"/>
          <p:nvPr/>
        </p:nvSpPr>
        <p:spPr>
          <a:xfrm>
            <a:off x="7074115" y="2851691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 后端通过 TradeClient（httpx 异步）调用 TRADE REST API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49129-19"/>
          <p:cNvSpPr txBox="1"/>
          <p:nvPr/>
        </p:nvSpPr>
        <p:spPr>
          <a:xfrm>
            <a:off x="7074115" y="3788479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 库名隔离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49129-20"/>
          <p:cNvSpPr txBox="1"/>
          <p:nvPr/>
        </p:nvSpPr>
        <p:spPr>
          <a:xfrm>
            <a:off x="7074115" y="4131293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共用实例，通过数据库名 admin_db 隔离，不与其他子系统混用表空间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49114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9115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el-1780134549112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9224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9226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9227-10"/>
          <p:cNvSpPr/>
          <p:nvPr/>
        </p:nvSpPr>
        <p:spPr>
          <a:xfrm>
            <a:off x="685629" y="1101761"/>
            <a:ext cx="10817695" cy="43421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el-1780134549244-11"/>
          <p:cNvPicPr/>
          <p:nvPr/>
        </p:nvPicPr>
        <p:blipFill>
          <a:blip r:embed="rId1"/>
          <a:stretch>
            <a:fillRect/>
          </a:stretch>
        </p:blipFill>
        <p:spPr>
          <a:xfrm>
            <a:off x="3390647" y="1225555"/>
            <a:ext cx="5407508" cy="4094577"/>
          </a:xfrm>
          <a:prstGeom prst="rect">
            <a:avLst/>
          </a:prstGeom>
          <a:ln>
            <a:noFill/>
          </a:ln>
        </p:spPr>
      </p:pic>
      <p:cxnSp>
        <p:nvCxnSpPr>
          <p:cNvPr id="6" name="el-1780134549224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0134549225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0134549226-6"/>
          <p:cNvSpPr txBox="1"/>
          <p:nvPr/>
        </p:nvSpPr>
        <p:spPr>
          <a:xfrm>
            <a:off x="1212051" y="53232"/>
            <a:ext cx="3876003" cy="57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总体设计 — 页面流转</a:t>
            </a:r>
            <a:endParaRPr sz="29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0134549227-7"/>
          <p:cNvSpPr txBox="1"/>
          <p:nvPr/>
        </p:nvSpPr>
        <p:spPr>
          <a:xfrm>
            <a:off x="11216455" y="224639"/>
            <a:ext cx="363050" cy="228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6</a:t>
            </a:r>
            <a:endParaRPr sz="119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0134549245-12"/>
          <p:cNvSpPr txBox="1"/>
          <p:nvPr/>
        </p:nvSpPr>
        <p:spPr>
          <a:xfrm>
            <a:off x="728778" y="5596289"/>
            <a:ext cx="6193124" cy="3884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token_version：</a:t>
            </a:r>
            <a:r>
              <a:rPr sz="17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密码修改后自增，使所有旧 JWT 立即失效</a:t>
            </a:r>
            <a:endParaRPr sz="17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0134549245-13"/>
          <p:cNvSpPr txBox="1"/>
          <p:nvPr/>
        </p:nvSpPr>
        <p:spPr>
          <a:xfrm>
            <a:off x="7264717" y="5596289"/>
            <a:ext cx="4309580" cy="3884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锁定策略：</a:t>
            </a:r>
            <a:r>
              <a:rPr sz="17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 5 次密码错误锁定 5 分钟</a:t>
            </a:r>
            <a:endParaRPr sz="17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0134549227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0134549227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el-1780134549224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9250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9251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9252-10"/>
          <p:cNvSpPr/>
          <p:nvPr/>
        </p:nvSpPr>
        <p:spPr>
          <a:xfrm>
            <a:off x="685629" y="1648270"/>
            <a:ext cx="3478880" cy="17997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0134549302-25"/>
          <p:cNvSpPr/>
          <p:nvPr/>
        </p:nvSpPr>
        <p:spPr>
          <a:xfrm>
            <a:off x="2272632" y="1905381"/>
            <a:ext cx="304724" cy="26663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2583" y="16524"/>
                </a:moveTo>
                <a:lnTo>
                  <a:pt x="42583" y="16524"/>
                </a:lnTo>
                <a:lnTo>
                  <a:pt x="66583" y="43952"/>
                </a:lnTo>
                <a:cubicBezTo>
                  <a:pt x="68028" y="45603"/>
                  <a:pt x="68750" y="47619"/>
                  <a:pt x="68750" y="50000"/>
                </a:cubicBezTo>
                <a:lnTo>
                  <a:pt x="68750" y="50000"/>
                </a:lnTo>
                <a:cubicBezTo>
                  <a:pt x="68750" y="52381"/>
                  <a:pt x="68028" y="54397"/>
                  <a:pt x="66583" y="56048"/>
                </a:cubicBezTo>
                <a:lnTo>
                  <a:pt x="66583" y="56048"/>
                </a:lnTo>
                <a:lnTo>
                  <a:pt x="42583" y="83476"/>
                </a:lnTo>
                <a:cubicBezTo>
                  <a:pt x="41278" y="84968"/>
                  <a:pt x="39708" y="85714"/>
                  <a:pt x="37875" y="85714"/>
                </a:cubicBezTo>
                <a:lnTo>
                  <a:pt x="37875" y="85714"/>
                </a:lnTo>
                <a:cubicBezTo>
                  <a:pt x="36069" y="85714"/>
                  <a:pt x="34514" y="84968"/>
                  <a:pt x="33208" y="83476"/>
                </a:cubicBezTo>
                <a:lnTo>
                  <a:pt x="33208" y="83476"/>
                </a:lnTo>
                <a:cubicBezTo>
                  <a:pt x="31903" y="81984"/>
                  <a:pt x="31250" y="80206"/>
                  <a:pt x="31250" y="78143"/>
                </a:cubicBezTo>
                <a:lnTo>
                  <a:pt x="31250" y="78143"/>
                </a:lnTo>
                <a:lnTo>
                  <a:pt x="31250" y="64286"/>
                </a:lnTo>
                <a:lnTo>
                  <a:pt x="6250" y="64286"/>
                </a:lnTo>
                <a:cubicBezTo>
                  <a:pt x="4417" y="64286"/>
                  <a:pt x="2917" y="63619"/>
                  <a:pt x="1750" y="62286"/>
                </a:cubicBezTo>
                <a:lnTo>
                  <a:pt x="1750" y="62286"/>
                </a:lnTo>
                <a:cubicBezTo>
                  <a:pt x="583" y="60952"/>
                  <a:pt x="0" y="59238"/>
                  <a:pt x="0" y="57143"/>
                </a:cubicBezTo>
                <a:lnTo>
                  <a:pt x="0" y="57143"/>
                </a:lnTo>
                <a:lnTo>
                  <a:pt x="0" y="42857"/>
                </a:lnTo>
                <a:cubicBezTo>
                  <a:pt x="0" y="40762"/>
                  <a:pt x="583" y="39048"/>
                  <a:pt x="1750" y="37714"/>
                </a:cubicBezTo>
                <a:lnTo>
                  <a:pt x="1750" y="37714"/>
                </a:lnTo>
                <a:cubicBezTo>
                  <a:pt x="2917" y="36381"/>
                  <a:pt x="4417" y="35714"/>
                  <a:pt x="6250" y="35714"/>
                </a:cubicBezTo>
                <a:lnTo>
                  <a:pt x="6250" y="35714"/>
                </a:lnTo>
                <a:lnTo>
                  <a:pt x="31250" y="35714"/>
                </a:lnTo>
                <a:lnTo>
                  <a:pt x="31250" y="21857"/>
                </a:lnTo>
                <a:cubicBezTo>
                  <a:pt x="31250" y="19794"/>
                  <a:pt x="31903" y="18016"/>
                  <a:pt x="33208" y="16524"/>
                </a:cubicBezTo>
                <a:lnTo>
                  <a:pt x="33208" y="16524"/>
                </a:lnTo>
                <a:cubicBezTo>
                  <a:pt x="34514" y="15032"/>
                  <a:pt x="36069" y="14286"/>
                  <a:pt x="37875" y="14286"/>
                </a:cubicBezTo>
                <a:lnTo>
                  <a:pt x="37875" y="14286"/>
                </a:lnTo>
                <a:cubicBezTo>
                  <a:pt x="39708" y="14286"/>
                  <a:pt x="41278" y="15032"/>
                  <a:pt x="42583" y="16524"/>
                </a:cubicBezTo>
                <a:lnTo>
                  <a:pt x="42583" y="16524"/>
                </a:lnTo>
                <a:close/>
                <a:moveTo>
                  <a:pt x="68750" y="85714"/>
                </a:moveTo>
                <a:lnTo>
                  <a:pt x="68750" y="85714"/>
                </a:lnTo>
                <a:lnTo>
                  <a:pt x="81250" y="85714"/>
                </a:lnTo>
                <a:cubicBezTo>
                  <a:pt x="83083" y="85714"/>
                  <a:pt x="84583" y="85048"/>
                  <a:pt x="85750" y="83714"/>
                </a:cubicBezTo>
                <a:lnTo>
                  <a:pt x="85750" y="83714"/>
                </a:lnTo>
                <a:cubicBezTo>
                  <a:pt x="86917" y="82381"/>
                  <a:pt x="87500" y="80667"/>
                  <a:pt x="87500" y="78571"/>
                </a:cubicBezTo>
                <a:lnTo>
                  <a:pt x="87500" y="78571"/>
                </a:lnTo>
                <a:lnTo>
                  <a:pt x="87500" y="21429"/>
                </a:lnTo>
                <a:cubicBezTo>
                  <a:pt x="87500" y="19333"/>
                  <a:pt x="86917" y="17619"/>
                  <a:pt x="85750" y="16286"/>
                </a:cubicBezTo>
                <a:lnTo>
                  <a:pt x="85750" y="16286"/>
                </a:lnTo>
                <a:cubicBezTo>
                  <a:pt x="84583" y="14952"/>
                  <a:pt x="83083" y="14286"/>
                  <a:pt x="81250" y="14286"/>
                </a:cubicBezTo>
                <a:lnTo>
                  <a:pt x="81250" y="14286"/>
                </a:lnTo>
                <a:lnTo>
                  <a:pt x="68750" y="14286"/>
                </a:lnTo>
                <a:cubicBezTo>
                  <a:pt x="66917" y="14286"/>
                  <a:pt x="65417" y="13619"/>
                  <a:pt x="64250" y="12286"/>
                </a:cubicBezTo>
                <a:lnTo>
                  <a:pt x="64250" y="12286"/>
                </a:lnTo>
                <a:cubicBezTo>
                  <a:pt x="63083" y="10952"/>
                  <a:pt x="62500" y="9238"/>
                  <a:pt x="62500" y="7143"/>
                </a:cubicBezTo>
                <a:lnTo>
                  <a:pt x="62500" y="7143"/>
                </a:lnTo>
                <a:cubicBezTo>
                  <a:pt x="62500" y="5048"/>
                  <a:pt x="63083" y="3333"/>
                  <a:pt x="64250" y="2000"/>
                </a:cubicBezTo>
                <a:lnTo>
                  <a:pt x="64250" y="2000"/>
                </a:lnTo>
                <a:cubicBezTo>
                  <a:pt x="65417" y="667"/>
                  <a:pt x="66917" y="0"/>
                  <a:pt x="68750" y="0"/>
                </a:cubicBezTo>
                <a:lnTo>
                  <a:pt x="68750" y="0"/>
                </a:lnTo>
                <a:lnTo>
                  <a:pt x="81250" y="0"/>
                </a:lnTo>
                <a:cubicBezTo>
                  <a:pt x="86583" y="159"/>
                  <a:pt x="91014" y="2238"/>
                  <a:pt x="94542" y="6238"/>
                </a:cubicBezTo>
                <a:lnTo>
                  <a:pt x="94542" y="6238"/>
                </a:lnTo>
                <a:cubicBezTo>
                  <a:pt x="98042" y="10270"/>
                  <a:pt x="99861" y="15333"/>
                  <a:pt x="100000" y="21429"/>
                </a:cubicBezTo>
                <a:lnTo>
                  <a:pt x="100000" y="21429"/>
                </a:lnTo>
                <a:lnTo>
                  <a:pt x="100000" y="78571"/>
                </a:lnTo>
                <a:cubicBezTo>
                  <a:pt x="99861" y="84667"/>
                  <a:pt x="98042" y="89730"/>
                  <a:pt x="94542" y="93762"/>
                </a:cubicBezTo>
                <a:lnTo>
                  <a:pt x="94542" y="93762"/>
                </a:lnTo>
                <a:cubicBezTo>
                  <a:pt x="91014" y="97762"/>
                  <a:pt x="86583" y="99841"/>
                  <a:pt x="81250" y="100000"/>
                </a:cubicBezTo>
                <a:lnTo>
                  <a:pt x="81250" y="100000"/>
                </a:lnTo>
                <a:lnTo>
                  <a:pt x="68750" y="100000"/>
                </a:lnTo>
                <a:cubicBezTo>
                  <a:pt x="66917" y="100000"/>
                  <a:pt x="65417" y="99333"/>
                  <a:pt x="64250" y="98000"/>
                </a:cubicBezTo>
                <a:lnTo>
                  <a:pt x="64250" y="98000"/>
                </a:lnTo>
                <a:cubicBezTo>
                  <a:pt x="63083" y="96667"/>
                  <a:pt x="62500" y="94952"/>
                  <a:pt x="62500" y="92857"/>
                </a:cubicBezTo>
                <a:lnTo>
                  <a:pt x="62500" y="92857"/>
                </a:lnTo>
                <a:cubicBezTo>
                  <a:pt x="62500" y="90762"/>
                  <a:pt x="63083" y="89048"/>
                  <a:pt x="64250" y="87714"/>
                </a:cubicBezTo>
                <a:lnTo>
                  <a:pt x="64250" y="87714"/>
                </a:lnTo>
                <a:cubicBezTo>
                  <a:pt x="65417" y="86381"/>
                  <a:pt x="66917" y="85714"/>
                  <a:pt x="68750" y="85714"/>
                </a:cubicBezTo>
                <a:lnTo>
                  <a:pt x="68750" y="85714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0134549252-11"/>
          <p:cNvSpPr/>
          <p:nvPr/>
        </p:nvSpPr>
        <p:spPr>
          <a:xfrm>
            <a:off x="4354961" y="1648270"/>
            <a:ext cx="3478880" cy="17997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0134549303-26"/>
          <p:cNvSpPr/>
          <p:nvPr/>
        </p:nvSpPr>
        <p:spPr>
          <a:xfrm>
            <a:off x="5941965" y="1905381"/>
            <a:ext cx="304724" cy="26663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2500" y="7143"/>
                </a:moveTo>
                <a:lnTo>
                  <a:pt x="12500" y="7143"/>
                </a:lnTo>
                <a:cubicBezTo>
                  <a:pt x="12500" y="5048"/>
                  <a:pt x="11917" y="3333"/>
                  <a:pt x="10750" y="2000"/>
                </a:cubicBezTo>
                <a:lnTo>
                  <a:pt x="10750" y="2000"/>
                </a:lnTo>
                <a:lnTo>
                  <a:pt x="10750" y="2000"/>
                </a:lnTo>
                <a:cubicBezTo>
                  <a:pt x="9583" y="667"/>
                  <a:pt x="8083" y="0"/>
                  <a:pt x="6250" y="0"/>
                </a:cubicBezTo>
                <a:lnTo>
                  <a:pt x="6250" y="0"/>
                </a:lnTo>
                <a:cubicBezTo>
                  <a:pt x="4417" y="0"/>
                  <a:pt x="2917" y="667"/>
                  <a:pt x="1750" y="2000"/>
                </a:cubicBezTo>
                <a:lnTo>
                  <a:pt x="1750" y="2000"/>
                </a:lnTo>
                <a:cubicBezTo>
                  <a:pt x="583" y="3333"/>
                  <a:pt x="0" y="5048"/>
                  <a:pt x="0" y="7143"/>
                </a:cubicBezTo>
                <a:lnTo>
                  <a:pt x="0" y="7143"/>
                </a:lnTo>
                <a:lnTo>
                  <a:pt x="0" y="82143"/>
                </a:lnTo>
                <a:cubicBezTo>
                  <a:pt x="139" y="87190"/>
                  <a:pt x="1639" y="91429"/>
                  <a:pt x="4500" y="94857"/>
                </a:cubicBezTo>
                <a:lnTo>
                  <a:pt x="4500" y="94857"/>
                </a:lnTo>
                <a:cubicBezTo>
                  <a:pt x="7500" y="98127"/>
                  <a:pt x="11208" y="99841"/>
                  <a:pt x="15625" y="100000"/>
                </a:cubicBezTo>
                <a:lnTo>
                  <a:pt x="15625" y="100000"/>
                </a:lnTo>
                <a:lnTo>
                  <a:pt x="93750" y="100000"/>
                </a:lnTo>
                <a:cubicBezTo>
                  <a:pt x="95583" y="100000"/>
                  <a:pt x="97083" y="99333"/>
                  <a:pt x="98250" y="98000"/>
                </a:cubicBezTo>
                <a:lnTo>
                  <a:pt x="98250" y="98000"/>
                </a:lnTo>
                <a:cubicBezTo>
                  <a:pt x="99417" y="96667"/>
                  <a:pt x="100000" y="94952"/>
                  <a:pt x="100000" y="92857"/>
                </a:cubicBezTo>
                <a:lnTo>
                  <a:pt x="100000" y="92857"/>
                </a:lnTo>
                <a:cubicBezTo>
                  <a:pt x="100000" y="90762"/>
                  <a:pt x="99417" y="89048"/>
                  <a:pt x="98250" y="87714"/>
                </a:cubicBezTo>
                <a:lnTo>
                  <a:pt x="98250" y="87714"/>
                </a:lnTo>
                <a:cubicBezTo>
                  <a:pt x="97083" y="86381"/>
                  <a:pt x="95583" y="85714"/>
                  <a:pt x="93750" y="85714"/>
                </a:cubicBezTo>
                <a:lnTo>
                  <a:pt x="93750" y="85714"/>
                </a:lnTo>
                <a:lnTo>
                  <a:pt x="15625" y="85714"/>
                </a:lnTo>
                <a:cubicBezTo>
                  <a:pt x="13681" y="85556"/>
                  <a:pt x="12639" y="84365"/>
                  <a:pt x="12500" y="82143"/>
                </a:cubicBezTo>
                <a:lnTo>
                  <a:pt x="12500" y="82143"/>
                </a:lnTo>
                <a:lnTo>
                  <a:pt x="12500" y="7143"/>
                </a:lnTo>
                <a:close/>
                <a:moveTo>
                  <a:pt x="92000" y="26571"/>
                </a:moveTo>
                <a:lnTo>
                  <a:pt x="92000" y="26571"/>
                </a:lnTo>
                <a:cubicBezTo>
                  <a:pt x="93167" y="25079"/>
                  <a:pt x="93750" y="23365"/>
                  <a:pt x="93750" y="21429"/>
                </a:cubicBezTo>
                <a:lnTo>
                  <a:pt x="93750" y="21429"/>
                </a:lnTo>
                <a:lnTo>
                  <a:pt x="93750" y="21429"/>
                </a:lnTo>
                <a:cubicBezTo>
                  <a:pt x="93750" y="19492"/>
                  <a:pt x="93167" y="17778"/>
                  <a:pt x="92000" y="16286"/>
                </a:cubicBezTo>
                <a:lnTo>
                  <a:pt x="92000" y="16286"/>
                </a:lnTo>
                <a:cubicBezTo>
                  <a:pt x="90694" y="14952"/>
                  <a:pt x="89194" y="14286"/>
                  <a:pt x="87500" y="14286"/>
                </a:cubicBezTo>
                <a:lnTo>
                  <a:pt x="87500" y="14286"/>
                </a:lnTo>
                <a:cubicBezTo>
                  <a:pt x="85806" y="14286"/>
                  <a:pt x="84306" y="14952"/>
                  <a:pt x="83000" y="16286"/>
                </a:cubicBezTo>
                <a:lnTo>
                  <a:pt x="83000" y="16286"/>
                </a:lnTo>
                <a:lnTo>
                  <a:pt x="62500" y="39952"/>
                </a:lnTo>
                <a:lnTo>
                  <a:pt x="51375" y="27000"/>
                </a:lnTo>
                <a:cubicBezTo>
                  <a:pt x="50069" y="25667"/>
                  <a:pt x="48569" y="25000"/>
                  <a:pt x="46875" y="25000"/>
                </a:cubicBezTo>
                <a:lnTo>
                  <a:pt x="46875" y="25000"/>
                </a:lnTo>
                <a:cubicBezTo>
                  <a:pt x="45181" y="25000"/>
                  <a:pt x="43681" y="25667"/>
                  <a:pt x="42375" y="27000"/>
                </a:cubicBezTo>
                <a:lnTo>
                  <a:pt x="42375" y="27000"/>
                </a:lnTo>
                <a:lnTo>
                  <a:pt x="20500" y="52000"/>
                </a:lnTo>
                <a:cubicBezTo>
                  <a:pt x="19333" y="53492"/>
                  <a:pt x="18750" y="55206"/>
                  <a:pt x="18750" y="57143"/>
                </a:cubicBezTo>
                <a:lnTo>
                  <a:pt x="18750" y="57143"/>
                </a:lnTo>
                <a:cubicBezTo>
                  <a:pt x="18750" y="59079"/>
                  <a:pt x="19333" y="60794"/>
                  <a:pt x="20500" y="62286"/>
                </a:cubicBezTo>
                <a:lnTo>
                  <a:pt x="20500" y="62286"/>
                </a:lnTo>
                <a:cubicBezTo>
                  <a:pt x="21806" y="63619"/>
                  <a:pt x="23306" y="64286"/>
                  <a:pt x="25000" y="64286"/>
                </a:cubicBezTo>
                <a:lnTo>
                  <a:pt x="25000" y="64286"/>
                </a:lnTo>
                <a:cubicBezTo>
                  <a:pt x="26694" y="64286"/>
                  <a:pt x="28194" y="63619"/>
                  <a:pt x="29500" y="62286"/>
                </a:cubicBezTo>
                <a:lnTo>
                  <a:pt x="29500" y="62286"/>
                </a:lnTo>
                <a:lnTo>
                  <a:pt x="46875" y="42190"/>
                </a:lnTo>
                <a:lnTo>
                  <a:pt x="58000" y="55143"/>
                </a:lnTo>
                <a:cubicBezTo>
                  <a:pt x="59306" y="56476"/>
                  <a:pt x="60806" y="57143"/>
                  <a:pt x="62500" y="57143"/>
                </a:cubicBezTo>
                <a:lnTo>
                  <a:pt x="62500" y="57143"/>
                </a:lnTo>
                <a:cubicBezTo>
                  <a:pt x="64194" y="57143"/>
                  <a:pt x="65694" y="56476"/>
                  <a:pt x="67000" y="55143"/>
                </a:cubicBezTo>
                <a:lnTo>
                  <a:pt x="67000" y="55143"/>
                </a:lnTo>
                <a:lnTo>
                  <a:pt x="92000" y="26571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49252-12"/>
          <p:cNvSpPr/>
          <p:nvPr/>
        </p:nvSpPr>
        <p:spPr>
          <a:xfrm>
            <a:off x="8024294" y="1648270"/>
            <a:ext cx="3479029" cy="17997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0134549303-27"/>
          <p:cNvSpPr/>
          <p:nvPr/>
        </p:nvSpPr>
        <p:spPr>
          <a:xfrm>
            <a:off x="9649537" y="1924426"/>
            <a:ext cx="228543" cy="2285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7667" y="14333"/>
                </a:moveTo>
                <a:lnTo>
                  <a:pt x="97667" y="14333"/>
                </a:lnTo>
                <a:cubicBezTo>
                  <a:pt x="99222" y="12593"/>
                  <a:pt x="100000" y="10593"/>
                  <a:pt x="100000" y="8333"/>
                </a:cubicBezTo>
                <a:lnTo>
                  <a:pt x="100000" y="8333"/>
                </a:lnTo>
                <a:lnTo>
                  <a:pt x="100000" y="8333"/>
                </a:lnTo>
                <a:cubicBezTo>
                  <a:pt x="100000" y="6074"/>
                  <a:pt x="99222" y="4074"/>
                  <a:pt x="97667" y="2333"/>
                </a:cubicBezTo>
                <a:lnTo>
                  <a:pt x="97667" y="2333"/>
                </a:lnTo>
                <a:cubicBezTo>
                  <a:pt x="95926" y="778"/>
                  <a:pt x="93926" y="0"/>
                  <a:pt x="91667" y="0"/>
                </a:cubicBezTo>
                <a:lnTo>
                  <a:pt x="91667" y="0"/>
                </a:lnTo>
                <a:cubicBezTo>
                  <a:pt x="89407" y="0"/>
                  <a:pt x="87407" y="778"/>
                  <a:pt x="85667" y="2333"/>
                </a:cubicBezTo>
                <a:lnTo>
                  <a:pt x="85667" y="2333"/>
                </a:lnTo>
                <a:lnTo>
                  <a:pt x="2333" y="85667"/>
                </a:lnTo>
                <a:cubicBezTo>
                  <a:pt x="778" y="87407"/>
                  <a:pt x="0" y="89407"/>
                  <a:pt x="0" y="91667"/>
                </a:cubicBezTo>
                <a:lnTo>
                  <a:pt x="0" y="91667"/>
                </a:lnTo>
                <a:cubicBezTo>
                  <a:pt x="0" y="93926"/>
                  <a:pt x="778" y="95926"/>
                  <a:pt x="2333" y="97667"/>
                </a:cubicBezTo>
                <a:lnTo>
                  <a:pt x="2333" y="97667"/>
                </a:lnTo>
                <a:cubicBezTo>
                  <a:pt x="4074" y="99222"/>
                  <a:pt x="6074" y="100000"/>
                  <a:pt x="8333" y="100000"/>
                </a:cubicBezTo>
                <a:lnTo>
                  <a:pt x="8333" y="100000"/>
                </a:lnTo>
                <a:cubicBezTo>
                  <a:pt x="10593" y="100000"/>
                  <a:pt x="12593" y="99222"/>
                  <a:pt x="14333" y="97667"/>
                </a:cubicBezTo>
                <a:lnTo>
                  <a:pt x="14333" y="97667"/>
                </a:lnTo>
                <a:lnTo>
                  <a:pt x="97667" y="14333"/>
                </a:lnTo>
                <a:close/>
                <a:moveTo>
                  <a:pt x="33333" y="16667"/>
                </a:moveTo>
                <a:lnTo>
                  <a:pt x="33333" y="16667"/>
                </a:lnTo>
                <a:cubicBezTo>
                  <a:pt x="33148" y="10407"/>
                  <a:pt x="30370" y="5630"/>
                  <a:pt x="25000" y="2333"/>
                </a:cubicBezTo>
                <a:lnTo>
                  <a:pt x="25000" y="2333"/>
                </a:lnTo>
                <a:cubicBezTo>
                  <a:pt x="19444" y="-778"/>
                  <a:pt x="13889" y="-778"/>
                  <a:pt x="8333" y="2333"/>
                </a:cubicBezTo>
                <a:lnTo>
                  <a:pt x="8333" y="2333"/>
                </a:lnTo>
                <a:cubicBezTo>
                  <a:pt x="2963" y="5630"/>
                  <a:pt x="185" y="10407"/>
                  <a:pt x="0" y="16667"/>
                </a:cubicBezTo>
                <a:lnTo>
                  <a:pt x="0" y="16667"/>
                </a:lnTo>
                <a:cubicBezTo>
                  <a:pt x="185" y="22926"/>
                  <a:pt x="2963" y="27704"/>
                  <a:pt x="8333" y="31000"/>
                </a:cubicBezTo>
                <a:lnTo>
                  <a:pt x="8333" y="31000"/>
                </a:lnTo>
                <a:cubicBezTo>
                  <a:pt x="13889" y="34111"/>
                  <a:pt x="19444" y="34111"/>
                  <a:pt x="25000" y="31000"/>
                </a:cubicBezTo>
                <a:lnTo>
                  <a:pt x="25000" y="31000"/>
                </a:lnTo>
                <a:cubicBezTo>
                  <a:pt x="30370" y="27704"/>
                  <a:pt x="33148" y="22926"/>
                  <a:pt x="33333" y="16667"/>
                </a:cubicBezTo>
                <a:lnTo>
                  <a:pt x="33333" y="16667"/>
                </a:lnTo>
                <a:close/>
                <a:moveTo>
                  <a:pt x="100000" y="83333"/>
                </a:moveTo>
                <a:lnTo>
                  <a:pt x="100000" y="83333"/>
                </a:lnTo>
                <a:cubicBezTo>
                  <a:pt x="99815" y="77074"/>
                  <a:pt x="97037" y="72296"/>
                  <a:pt x="91667" y="69000"/>
                </a:cubicBezTo>
                <a:lnTo>
                  <a:pt x="91667" y="69000"/>
                </a:lnTo>
                <a:cubicBezTo>
                  <a:pt x="86111" y="65889"/>
                  <a:pt x="80556" y="65889"/>
                  <a:pt x="75000" y="69000"/>
                </a:cubicBezTo>
                <a:lnTo>
                  <a:pt x="75000" y="69000"/>
                </a:lnTo>
                <a:cubicBezTo>
                  <a:pt x="69630" y="72296"/>
                  <a:pt x="66852" y="77074"/>
                  <a:pt x="66667" y="83333"/>
                </a:cubicBezTo>
                <a:lnTo>
                  <a:pt x="66667" y="83333"/>
                </a:lnTo>
                <a:cubicBezTo>
                  <a:pt x="66852" y="89593"/>
                  <a:pt x="69630" y="94370"/>
                  <a:pt x="75000" y="97667"/>
                </a:cubicBezTo>
                <a:lnTo>
                  <a:pt x="75000" y="97667"/>
                </a:lnTo>
                <a:cubicBezTo>
                  <a:pt x="80556" y="100778"/>
                  <a:pt x="86111" y="100778"/>
                  <a:pt x="91667" y="97667"/>
                </a:cubicBezTo>
                <a:lnTo>
                  <a:pt x="91667" y="97667"/>
                </a:lnTo>
                <a:cubicBezTo>
                  <a:pt x="97037" y="94370"/>
                  <a:pt x="99815" y="89593"/>
                  <a:pt x="100000" y="83333"/>
                </a:cubicBezTo>
                <a:lnTo>
                  <a:pt x="100000" y="83333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0134549252-13"/>
          <p:cNvSpPr/>
          <p:nvPr/>
        </p:nvSpPr>
        <p:spPr>
          <a:xfrm>
            <a:off x="3414900" y="3638498"/>
            <a:ext cx="2584349" cy="17997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0134549304-28"/>
          <p:cNvSpPr/>
          <p:nvPr/>
        </p:nvSpPr>
        <p:spPr>
          <a:xfrm>
            <a:off x="4554639" y="3876563"/>
            <a:ext cx="304724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100000"/>
                </a:moveTo>
                <a:lnTo>
                  <a:pt x="50000" y="100000"/>
                </a:lnTo>
                <a:cubicBezTo>
                  <a:pt x="59111" y="99861"/>
                  <a:pt x="67444" y="97653"/>
                  <a:pt x="75000" y="93375"/>
                </a:cubicBezTo>
                <a:lnTo>
                  <a:pt x="75000" y="93375"/>
                </a:lnTo>
                <a:lnTo>
                  <a:pt x="75000" y="93375"/>
                </a:lnTo>
                <a:cubicBezTo>
                  <a:pt x="82556" y="88931"/>
                  <a:pt x="88681" y="82806"/>
                  <a:pt x="93375" y="75000"/>
                </a:cubicBezTo>
                <a:lnTo>
                  <a:pt x="93375" y="75000"/>
                </a:lnTo>
                <a:cubicBezTo>
                  <a:pt x="97792" y="67056"/>
                  <a:pt x="100000" y="58722"/>
                  <a:pt x="100000" y="50000"/>
                </a:cubicBezTo>
                <a:lnTo>
                  <a:pt x="100000" y="50000"/>
                </a:lnTo>
                <a:cubicBezTo>
                  <a:pt x="100000" y="41278"/>
                  <a:pt x="97792" y="32944"/>
                  <a:pt x="93375" y="25000"/>
                </a:cubicBezTo>
                <a:lnTo>
                  <a:pt x="93375" y="25000"/>
                </a:lnTo>
                <a:cubicBezTo>
                  <a:pt x="88681" y="17194"/>
                  <a:pt x="82556" y="11069"/>
                  <a:pt x="75000" y="6625"/>
                </a:cubicBezTo>
                <a:lnTo>
                  <a:pt x="75000" y="6625"/>
                </a:lnTo>
                <a:cubicBezTo>
                  <a:pt x="67444" y="2347"/>
                  <a:pt x="59111" y="139"/>
                  <a:pt x="50000" y="0"/>
                </a:cubicBezTo>
                <a:lnTo>
                  <a:pt x="50000" y="0"/>
                </a:lnTo>
                <a:cubicBezTo>
                  <a:pt x="40889" y="139"/>
                  <a:pt x="32556" y="2347"/>
                  <a:pt x="25000" y="6625"/>
                </a:cubicBezTo>
                <a:lnTo>
                  <a:pt x="25000" y="6625"/>
                </a:lnTo>
                <a:cubicBezTo>
                  <a:pt x="17444" y="11069"/>
                  <a:pt x="11319" y="17194"/>
                  <a:pt x="6625" y="25000"/>
                </a:cubicBezTo>
                <a:lnTo>
                  <a:pt x="6625" y="25000"/>
                </a:lnTo>
                <a:cubicBezTo>
                  <a:pt x="2208" y="32944"/>
                  <a:pt x="0" y="41278"/>
                  <a:pt x="0" y="50000"/>
                </a:cubicBezTo>
                <a:lnTo>
                  <a:pt x="0" y="50000"/>
                </a:lnTo>
                <a:cubicBezTo>
                  <a:pt x="0" y="58722"/>
                  <a:pt x="2208" y="67056"/>
                  <a:pt x="6625" y="75000"/>
                </a:cubicBezTo>
                <a:lnTo>
                  <a:pt x="6625" y="75000"/>
                </a:lnTo>
                <a:cubicBezTo>
                  <a:pt x="11319" y="82806"/>
                  <a:pt x="17444" y="88931"/>
                  <a:pt x="25000" y="93375"/>
                </a:cubicBezTo>
                <a:lnTo>
                  <a:pt x="25000" y="93375"/>
                </a:lnTo>
                <a:cubicBezTo>
                  <a:pt x="32556" y="97653"/>
                  <a:pt x="40889" y="99861"/>
                  <a:pt x="50000" y="100000"/>
                </a:cubicBezTo>
                <a:lnTo>
                  <a:pt x="50000" y="100000"/>
                </a:lnTo>
                <a:close/>
                <a:moveTo>
                  <a:pt x="43750" y="37500"/>
                </a:moveTo>
                <a:lnTo>
                  <a:pt x="43750" y="37500"/>
                </a:lnTo>
                <a:lnTo>
                  <a:pt x="43750" y="62500"/>
                </a:lnTo>
                <a:cubicBezTo>
                  <a:pt x="43750" y="64333"/>
                  <a:pt x="43167" y="65833"/>
                  <a:pt x="42000" y="67000"/>
                </a:cubicBezTo>
                <a:lnTo>
                  <a:pt x="42000" y="67000"/>
                </a:lnTo>
                <a:cubicBezTo>
                  <a:pt x="40833" y="68167"/>
                  <a:pt x="39333" y="68750"/>
                  <a:pt x="37500" y="68750"/>
                </a:cubicBezTo>
                <a:lnTo>
                  <a:pt x="37500" y="68750"/>
                </a:lnTo>
                <a:cubicBezTo>
                  <a:pt x="35667" y="68750"/>
                  <a:pt x="34167" y="68167"/>
                  <a:pt x="33000" y="67000"/>
                </a:cubicBezTo>
                <a:lnTo>
                  <a:pt x="33000" y="67000"/>
                </a:lnTo>
                <a:cubicBezTo>
                  <a:pt x="31833" y="65833"/>
                  <a:pt x="31250" y="64333"/>
                  <a:pt x="31250" y="62500"/>
                </a:cubicBezTo>
                <a:lnTo>
                  <a:pt x="31250" y="62500"/>
                </a:lnTo>
                <a:lnTo>
                  <a:pt x="31250" y="37500"/>
                </a:lnTo>
                <a:cubicBezTo>
                  <a:pt x="31250" y="35667"/>
                  <a:pt x="31833" y="34167"/>
                  <a:pt x="33000" y="33000"/>
                </a:cubicBezTo>
                <a:lnTo>
                  <a:pt x="33000" y="33000"/>
                </a:lnTo>
                <a:cubicBezTo>
                  <a:pt x="34167" y="31833"/>
                  <a:pt x="35667" y="31250"/>
                  <a:pt x="37500" y="31250"/>
                </a:cubicBezTo>
                <a:lnTo>
                  <a:pt x="37500" y="31250"/>
                </a:lnTo>
                <a:cubicBezTo>
                  <a:pt x="39333" y="31250"/>
                  <a:pt x="40833" y="31833"/>
                  <a:pt x="42000" y="33000"/>
                </a:cubicBezTo>
                <a:lnTo>
                  <a:pt x="42000" y="33000"/>
                </a:lnTo>
                <a:cubicBezTo>
                  <a:pt x="43167" y="34167"/>
                  <a:pt x="43750" y="35667"/>
                  <a:pt x="43750" y="37500"/>
                </a:cubicBezTo>
                <a:lnTo>
                  <a:pt x="43750" y="37500"/>
                </a:lnTo>
                <a:close/>
                <a:moveTo>
                  <a:pt x="68750" y="37500"/>
                </a:moveTo>
                <a:lnTo>
                  <a:pt x="68750" y="37500"/>
                </a:lnTo>
                <a:lnTo>
                  <a:pt x="68750" y="62500"/>
                </a:lnTo>
                <a:cubicBezTo>
                  <a:pt x="68750" y="64333"/>
                  <a:pt x="68167" y="65833"/>
                  <a:pt x="67000" y="67000"/>
                </a:cubicBezTo>
                <a:lnTo>
                  <a:pt x="67000" y="67000"/>
                </a:lnTo>
                <a:cubicBezTo>
                  <a:pt x="65833" y="68167"/>
                  <a:pt x="64333" y="68750"/>
                  <a:pt x="62500" y="68750"/>
                </a:cubicBezTo>
                <a:lnTo>
                  <a:pt x="62500" y="68750"/>
                </a:lnTo>
                <a:cubicBezTo>
                  <a:pt x="60667" y="68750"/>
                  <a:pt x="59167" y="68167"/>
                  <a:pt x="58000" y="67000"/>
                </a:cubicBezTo>
                <a:lnTo>
                  <a:pt x="58000" y="67000"/>
                </a:lnTo>
                <a:cubicBezTo>
                  <a:pt x="56833" y="65833"/>
                  <a:pt x="56250" y="64333"/>
                  <a:pt x="56250" y="62500"/>
                </a:cubicBezTo>
                <a:lnTo>
                  <a:pt x="56250" y="62500"/>
                </a:lnTo>
                <a:lnTo>
                  <a:pt x="56250" y="37500"/>
                </a:lnTo>
                <a:cubicBezTo>
                  <a:pt x="56250" y="35667"/>
                  <a:pt x="56833" y="34167"/>
                  <a:pt x="58000" y="33000"/>
                </a:cubicBezTo>
                <a:lnTo>
                  <a:pt x="58000" y="33000"/>
                </a:lnTo>
                <a:cubicBezTo>
                  <a:pt x="59167" y="31833"/>
                  <a:pt x="60667" y="31250"/>
                  <a:pt x="62500" y="31250"/>
                </a:cubicBezTo>
                <a:lnTo>
                  <a:pt x="62500" y="31250"/>
                </a:lnTo>
                <a:cubicBezTo>
                  <a:pt x="64333" y="31250"/>
                  <a:pt x="65833" y="31833"/>
                  <a:pt x="67000" y="33000"/>
                </a:cubicBezTo>
                <a:lnTo>
                  <a:pt x="67000" y="33000"/>
                </a:lnTo>
                <a:cubicBezTo>
                  <a:pt x="68167" y="34167"/>
                  <a:pt x="68750" y="35667"/>
                  <a:pt x="68750" y="37500"/>
                </a:cubicBezTo>
                <a:lnTo>
                  <a:pt x="68750" y="375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0134549252-14"/>
          <p:cNvSpPr/>
          <p:nvPr/>
        </p:nvSpPr>
        <p:spPr>
          <a:xfrm>
            <a:off x="6189702" y="3638498"/>
            <a:ext cx="2584349" cy="17997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0134549304-29"/>
          <p:cNvSpPr/>
          <p:nvPr/>
        </p:nvSpPr>
        <p:spPr>
          <a:xfrm>
            <a:off x="7338932" y="3877456"/>
            <a:ext cx="285741" cy="3029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8913" y="0"/>
                </a:moveTo>
                <a:lnTo>
                  <a:pt x="48913" y="0"/>
                </a:lnTo>
                <a:cubicBezTo>
                  <a:pt x="49870" y="0"/>
                  <a:pt x="50754" y="194"/>
                  <a:pt x="51565" y="583"/>
                </a:cubicBezTo>
                <a:lnTo>
                  <a:pt x="51565" y="583"/>
                </a:lnTo>
                <a:lnTo>
                  <a:pt x="90087" y="16208"/>
                </a:lnTo>
                <a:cubicBezTo>
                  <a:pt x="92406" y="17125"/>
                  <a:pt x="94246" y="18556"/>
                  <a:pt x="95609" y="20500"/>
                </a:cubicBezTo>
                <a:lnTo>
                  <a:pt x="95609" y="20500"/>
                </a:lnTo>
                <a:cubicBezTo>
                  <a:pt x="97087" y="22472"/>
                  <a:pt x="97826" y="24750"/>
                  <a:pt x="97826" y="27333"/>
                </a:cubicBezTo>
                <a:lnTo>
                  <a:pt x="97826" y="27333"/>
                </a:lnTo>
                <a:cubicBezTo>
                  <a:pt x="97971" y="33972"/>
                  <a:pt x="96826" y="41792"/>
                  <a:pt x="94391" y="50792"/>
                </a:cubicBezTo>
                <a:lnTo>
                  <a:pt x="94391" y="50792"/>
                </a:lnTo>
                <a:cubicBezTo>
                  <a:pt x="91928" y="59764"/>
                  <a:pt x="87507" y="68486"/>
                  <a:pt x="81130" y="76958"/>
                </a:cubicBezTo>
                <a:lnTo>
                  <a:pt x="81130" y="76958"/>
                </a:lnTo>
                <a:cubicBezTo>
                  <a:pt x="74870" y="85542"/>
                  <a:pt x="65899" y="92639"/>
                  <a:pt x="54217" y="98250"/>
                </a:cubicBezTo>
                <a:lnTo>
                  <a:pt x="54217" y="98250"/>
                </a:lnTo>
                <a:cubicBezTo>
                  <a:pt x="50681" y="99806"/>
                  <a:pt x="47145" y="99806"/>
                  <a:pt x="43609" y="98250"/>
                </a:cubicBezTo>
                <a:lnTo>
                  <a:pt x="43609" y="98250"/>
                </a:lnTo>
                <a:cubicBezTo>
                  <a:pt x="31928" y="92639"/>
                  <a:pt x="22971" y="85542"/>
                  <a:pt x="16739" y="76958"/>
                </a:cubicBezTo>
                <a:lnTo>
                  <a:pt x="16739" y="76958"/>
                </a:lnTo>
                <a:cubicBezTo>
                  <a:pt x="10333" y="68486"/>
                  <a:pt x="5913" y="59764"/>
                  <a:pt x="3478" y="50792"/>
                </a:cubicBezTo>
                <a:lnTo>
                  <a:pt x="3478" y="50792"/>
                </a:lnTo>
                <a:cubicBezTo>
                  <a:pt x="1043" y="41792"/>
                  <a:pt x="-116" y="33972"/>
                  <a:pt x="0" y="27333"/>
                </a:cubicBezTo>
                <a:lnTo>
                  <a:pt x="0" y="27333"/>
                </a:lnTo>
                <a:cubicBezTo>
                  <a:pt x="0" y="24750"/>
                  <a:pt x="754" y="22472"/>
                  <a:pt x="2261" y="20500"/>
                </a:cubicBezTo>
                <a:lnTo>
                  <a:pt x="2261" y="20500"/>
                </a:lnTo>
                <a:cubicBezTo>
                  <a:pt x="3623" y="18556"/>
                  <a:pt x="5449" y="17125"/>
                  <a:pt x="7739" y="16208"/>
                </a:cubicBezTo>
                <a:lnTo>
                  <a:pt x="7739" y="16208"/>
                </a:lnTo>
                <a:lnTo>
                  <a:pt x="46261" y="583"/>
                </a:lnTo>
                <a:cubicBezTo>
                  <a:pt x="47072" y="194"/>
                  <a:pt x="47957" y="0"/>
                  <a:pt x="48913" y="0"/>
                </a:cubicBezTo>
                <a:lnTo>
                  <a:pt x="48913" y="0"/>
                </a:lnTo>
                <a:close/>
                <a:moveTo>
                  <a:pt x="48913" y="13083"/>
                </a:moveTo>
                <a:lnTo>
                  <a:pt x="48913" y="13083"/>
                </a:lnTo>
                <a:lnTo>
                  <a:pt x="48913" y="86917"/>
                </a:lnTo>
                <a:cubicBezTo>
                  <a:pt x="58159" y="82361"/>
                  <a:pt x="65435" y="76569"/>
                  <a:pt x="70739" y="69542"/>
                </a:cubicBezTo>
                <a:lnTo>
                  <a:pt x="70739" y="69542"/>
                </a:lnTo>
                <a:cubicBezTo>
                  <a:pt x="75899" y="62514"/>
                  <a:pt x="79565" y="55278"/>
                  <a:pt x="81739" y="47833"/>
                </a:cubicBezTo>
                <a:lnTo>
                  <a:pt x="81739" y="47833"/>
                </a:lnTo>
                <a:cubicBezTo>
                  <a:pt x="83768" y="40306"/>
                  <a:pt x="84783" y="33542"/>
                  <a:pt x="84783" y="27542"/>
                </a:cubicBezTo>
                <a:lnTo>
                  <a:pt x="84783" y="27542"/>
                </a:lnTo>
                <a:lnTo>
                  <a:pt x="48913" y="13083"/>
                </a:lnTo>
                <a:lnTo>
                  <a:pt x="48913" y="13083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0134549250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0134549250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49251-6"/>
          <p:cNvSpPr txBox="1"/>
          <p:nvPr/>
        </p:nvSpPr>
        <p:spPr>
          <a:xfrm>
            <a:off x="1212051" y="-3904"/>
            <a:ext cx="2056886" cy="6856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35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详细设计</a:t>
            </a:r>
            <a:endParaRPr sz="35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49251-7"/>
          <p:cNvSpPr txBox="1"/>
          <p:nvPr/>
        </p:nvSpPr>
        <p:spPr>
          <a:xfrm>
            <a:off x="3268936" y="210355"/>
            <a:ext cx="1965379" cy="257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SEQUENCE DIAGRAMS</a:t>
            </a:r>
            <a:endParaRPr sz="13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49255-15"/>
          <p:cNvSpPr txBox="1"/>
          <p:nvPr/>
        </p:nvSpPr>
        <p:spPr>
          <a:xfrm>
            <a:off x="1901250" y="2286286"/>
            <a:ext cx="1047488" cy="3142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登录认证</a:t>
            </a:r>
            <a:endParaRPr sz="164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49255-16"/>
          <p:cNvSpPr txBox="1"/>
          <p:nvPr/>
        </p:nvSpPr>
        <p:spPr>
          <a:xfrm>
            <a:off x="1448747" y="2695758"/>
            <a:ext cx="195249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状态检查 → 密码校验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JWT 生成 → 日志写入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9255-17"/>
          <p:cNvSpPr txBox="1"/>
          <p:nvPr/>
        </p:nvSpPr>
        <p:spPr>
          <a:xfrm>
            <a:off x="5570583" y="2286286"/>
            <a:ext cx="1047488" cy="3142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股票查看</a:t>
            </a:r>
            <a:endParaRPr sz="164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0134549255-18"/>
          <p:cNvSpPr txBox="1"/>
          <p:nvPr/>
        </p:nvSpPr>
        <p:spPr>
          <a:xfrm>
            <a:off x="5148731" y="2695758"/>
            <a:ext cx="1891192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权限范围读取 → TRADE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行情聚合 → 买卖盘查询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0134549255-19"/>
          <p:cNvSpPr txBox="1"/>
          <p:nvPr/>
        </p:nvSpPr>
        <p:spPr>
          <a:xfrm>
            <a:off x="9135316" y="2286286"/>
            <a:ext cx="1256986" cy="3142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涨跌停设置</a:t>
            </a:r>
            <a:endParaRPr sz="164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0134549255-20"/>
          <p:cNvSpPr txBox="1"/>
          <p:nvPr/>
        </p:nvSpPr>
        <p:spPr>
          <a:xfrm>
            <a:off x="8681772" y="2695758"/>
            <a:ext cx="216407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权限校验 → 比例合法性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TRADE 计算 → 次日生效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0134549255-21"/>
          <p:cNvSpPr txBox="1"/>
          <p:nvPr/>
        </p:nvSpPr>
        <p:spPr>
          <a:xfrm>
            <a:off x="3554764" y="4276513"/>
            <a:ext cx="2304474" cy="3142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交易控制与交易日管理</a:t>
            </a:r>
            <a:endParaRPr sz="164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0134549256-22"/>
          <p:cNvSpPr txBox="1"/>
          <p:nvPr/>
        </p:nvSpPr>
        <p:spPr>
          <a:xfrm>
            <a:off x="3559644" y="4685986"/>
            <a:ext cx="2294862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暂停/重启 + 交易日开始/结束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二次确认防误操作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0134549256-23"/>
          <p:cNvSpPr txBox="1"/>
          <p:nvPr/>
        </p:nvSpPr>
        <p:spPr>
          <a:xfrm>
            <a:off x="6434314" y="4276513"/>
            <a:ext cx="2094976" cy="3142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6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权限管理与审计日志</a:t>
            </a:r>
            <a:endParaRPr sz="164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0134549256-24"/>
          <p:cNvSpPr txBox="1"/>
          <p:nvPr/>
        </p:nvSpPr>
        <p:spPr>
          <a:xfrm>
            <a:off x="6521923" y="4685986"/>
            <a:ext cx="191976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角色/授权/状态调整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操作日志与登录日志分离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0134549251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0134549251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el-1780134549250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9308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9309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9310-10"/>
          <p:cNvSpPr/>
          <p:nvPr/>
        </p:nvSpPr>
        <p:spPr>
          <a:xfrm>
            <a:off x="685629" y="1229275"/>
            <a:ext cx="5798084" cy="46278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el-1780134549327-11"/>
          <p:cNvPicPr/>
          <p:nvPr/>
        </p:nvPicPr>
        <p:blipFill>
          <a:blip r:embed="rId1"/>
          <a:stretch>
            <a:fillRect/>
          </a:stretch>
        </p:blipFill>
        <p:spPr>
          <a:xfrm>
            <a:off x="1927289" y="1353069"/>
            <a:ext cx="3314615" cy="4380256"/>
          </a:xfrm>
          <a:prstGeom prst="rect">
            <a:avLst/>
          </a:prstGeom>
          <a:ln>
            <a:noFill/>
          </a:ln>
        </p:spPr>
      </p:pic>
      <p:sp>
        <p:nvSpPr>
          <p:cNvPr id="6" name="el-1780134549328-12"/>
          <p:cNvSpPr/>
          <p:nvPr/>
        </p:nvSpPr>
        <p:spPr>
          <a:xfrm>
            <a:off x="6864618" y="1314979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0134549328-13"/>
          <p:cNvSpPr/>
          <p:nvPr/>
        </p:nvSpPr>
        <p:spPr>
          <a:xfrm>
            <a:off x="6864618" y="2594581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49328-14"/>
          <p:cNvSpPr/>
          <p:nvPr/>
        </p:nvSpPr>
        <p:spPr>
          <a:xfrm>
            <a:off x="6864618" y="3874182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0134549309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0134549309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0134549310-6"/>
          <p:cNvSpPr txBox="1"/>
          <p:nvPr/>
        </p:nvSpPr>
        <p:spPr>
          <a:xfrm>
            <a:off x="1212051" y="53232"/>
            <a:ext cx="3876003" cy="57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详细设计 — 登录认证</a:t>
            </a:r>
            <a:endParaRPr sz="29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0134549310-7"/>
          <p:cNvSpPr txBox="1"/>
          <p:nvPr/>
        </p:nvSpPr>
        <p:spPr>
          <a:xfrm>
            <a:off x="11216455" y="224639"/>
            <a:ext cx="363050" cy="228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7</a:t>
            </a:r>
            <a:endParaRPr sz="119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0134549329-15"/>
          <p:cNvSpPr txBox="1"/>
          <p:nvPr/>
        </p:nvSpPr>
        <p:spPr>
          <a:xfrm>
            <a:off x="7074115" y="1229275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次锁定 / 5 分钟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0134549329-16"/>
          <p:cNvSpPr txBox="1"/>
          <p:nvPr/>
        </p:nvSpPr>
        <p:spPr>
          <a:xfrm>
            <a:off x="7074115" y="1572089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5 次失败直接锁定，提示"账号已被锁定，请 5 分钟后重试"；解锁后 failed_attempts 清零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0134549329-17"/>
          <p:cNvSpPr txBox="1"/>
          <p:nvPr/>
        </p:nvSpPr>
        <p:spPr>
          <a:xfrm>
            <a:off x="7074115" y="2508877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token_version 机制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49329-18"/>
          <p:cNvSpPr txBox="1"/>
          <p:nvPr/>
        </p:nvSpPr>
        <p:spPr>
          <a:xfrm>
            <a:off x="7074115" y="2851691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 payload 包含 token_version，中间件每次校验比对，密码修改/禁用后旧令牌立即失效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49329-19"/>
          <p:cNvSpPr txBox="1"/>
          <p:nvPr/>
        </p:nvSpPr>
        <p:spPr>
          <a:xfrm>
            <a:off x="7074115" y="3788479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登录日志分离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49329-20"/>
          <p:cNvSpPr txBox="1"/>
          <p:nvPr/>
        </p:nvSpPr>
        <p:spPr>
          <a:xfrm>
            <a:off x="7074115" y="4131293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login_log 独立存储，与 operation_log 通过双端点分离查询，审计模块 Tab 切换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49310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9310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el-1780134549308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9419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9420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9421-10"/>
          <p:cNvSpPr/>
          <p:nvPr/>
        </p:nvSpPr>
        <p:spPr>
          <a:xfrm>
            <a:off x="685629" y="1229275"/>
            <a:ext cx="5798084" cy="46278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el-1780134549437-11"/>
          <p:cNvPicPr/>
          <p:nvPr/>
        </p:nvPicPr>
        <p:blipFill>
          <a:blip r:embed="rId1"/>
          <a:stretch>
            <a:fillRect/>
          </a:stretch>
        </p:blipFill>
        <p:spPr>
          <a:xfrm>
            <a:off x="940656" y="1353069"/>
            <a:ext cx="5287880" cy="4380256"/>
          </a:xfrm>
          <a:prstGeom prst="rect">
            <a:avLst/>
          </a:prstGeom>
          <a:ln>
            <a:noFill/>
          </a:ln>
        </p:spPr>
      </p:pic>
      <p:sp>
        <p:nvSpPr>
          <p:cNvPr id="6" name="el-1780134549438-12"/>
          <p:cNvSpPr/>
          <p:nvPr/>
        </p:nvSpPr>
        <p:spPr>
          <a:xfrm>
            <a:off x="6864618" y="1314979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0134549438-13"/>
          <p:cNvSpPr/>
          <p:nvPr/>
        </p:nvSpPr>
        <p:spPr>
          <a:xfrm>
            <a:off x="6864618" y="2594581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49438-14"/>
          <p:cNvSpPr/>
          <p:nvPr/>
        </p:nvSpPr>
        <p:spPr>
          <a:xfrm>
            <a:off x="6864618" y="3874182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0134549419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0134549420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0134549420-6"/>
          <p:cNvSpPr txBox="1"/>
          <p:nvPr/>
        </p:nvSpPr>
        <p:spPr>
          <a:xfrm>
            <a:off x="1212051" y="53232"/>
            <a:ext cx="3876003" cy="57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详细设计 — 股票查看</a:t>
            </a:r>
            <a:endParaRPr sz="29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0134549420-7"/>
          <p:cNvSpPr txBox="1"/>
          <p:nvPr/>
        </p:nvSpPr>
        <p:spPr>
          <a:xfrm>
            <a:off x="11216455" y="224639"/>
            <a:ext cx="363050" cy="228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8</a:t>
            </a:r>
            <a:endParaRPr sz="119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0134549438-15"/>
          <p:cNvSpPr txBox="1"/>
          <p:nvPr/>
        </p:nvSpPr>
        <p:spPr>
          <a:xfrm>
            <a:off x="7074115" y="1229275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 轮询 5 秒/次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0134549438-16"/>
          <p:cNvSpPr txBox="1"/>
          <p:nvPr/>
        </p:nvSpPr>
        <p:spPr>
          <a:xfrm>
            <a:off x="7074115" y="1572089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第一版通过定时器每 5 秒调用 TRADE /market 获取行情，WebSocket 为后续优化方案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0134549439-17"/>
          <p:cNvSpPr txBox="1"/>
          <p:nvPr/>
        </p:nvSpPr>
        <p:spPr>
          <a:xfrm>
            <a:off x="7074115" y="2508877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按角色区分授权范围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49439-18"/>
          <p:cNvSpPr txBox="1"/>
          <p:nvPr/>
        </p:nvSpPr>
        <p:spPr>
          <a:xfrm>
            <a:off x="7074115" y="2851691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高级管理员可见全部股票，普通管理员仅可见 permission_config 中授权列表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49439-19"/>
          <p:cNvSpPr txBox="1"/>
          <p:nvPr/>
        </p:nvSpPr>
        <p:spPr>
          <a:xfrm>
            <a:off x="7074115" y="3788479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买卖盘降序/升序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49439-20"/>
          <p:cNvSpPr txBox="1"/>
          <p:nvPr/>
        </p:nvSpPr>
        <p:spPr>
          <a:xfrm>
            <a:off x="7074115" y="4131293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买盘按价格降序（买一最高），卖盘按价格升序（卖一最低），符合交易惯例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49421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9421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el-1780134549418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9550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9551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9552-10"/>
          <p:cNvSpPr/>
          <p:nvPr/>
        </p:nvSpPr>
        <p:spPr>
          <a:xfrm>
            <a:off x="685629" y="1572685"/>
            <a:ext cx="5798084" cy="394117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el-1780134549583-11"/>
          <p:cNvPicPr/>
          <p:nvPr/>
        </p:nvPicPr>
        <p:blipFill>
          <a:blip r:embed="rId1"/>
          <a:stretch>
            <a:fillRect/>
          </a:stretch>
        </p:blipFill>
        <p:spPr>
          <a:xfrm>
            <a:off x="809423" y="1696479"/>
            <a:ext cx="5550496" cy="3693586"/>
          </a:xfrm>
          <a:prstGeom prst="rect">
            <a:avLst/>
          </a:prstGeom>
          <a:ln>
            <a:noFill/>
          </a:ln>
        </p:spPr>
      </p:pic>
      <p:sp>
        <p:nvSpPr>
          <p:cNvPr id="6" name="el-1780134549584-12"/>
          <p:cNvSpPr/>
          <p:nvPr/>
        </p:nvSpPr>
        <p:spPr>
          <a:xfrm>
            <a:off x="6864618" y="1658388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0134549584-13"/>
          <p:cNvSpPr/>
          <p:nvPr/>
        </p:nvSpPr>
        <p:spPr>
          <a:xfrm>
            <a:off x="6864618" y="2937990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49584-14"/>
          <p:cNvSpPr/>
          <p:nvPr/>
        </p:nvSpPr>
        <p:spPr>
          <a:xfrm>
            <a:off x="6864618" y="4217592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0134549551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0134549551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0134549551-6"/>
          <p:cNvSpPr txBox="1"/>
          <p:nvPr/>
        </p:nvSpPr>
        <p:spPr>
          <a:xfrm>
            <a:off x="1212051" y="53232"/>
            <a:ext cx="4256908" cy="57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详细设计 — 涨跌停设置</a:t>
            </a:r>
            <a:endParaRPr sz="29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0134549551-7"/>
          <p:cNvSpPr txBox="1"/>
          <p:nvPr/>
        </p:nvSpPr>
        <p:spPr>
          <a:xfrm>
            <a:off x="11216455" y="224639"/>
            <a:ext cx="363050" cy="228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9</a:t>
            </a:r>
            <a:endParaRPr sz="119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0134549585-15"/>
          <p:cNvSpPr txBox="1"/>
          <p:nvPr/>
        </p:nvSpPr>
        <p:spPr>
          <a:xfrm>
            <a:off x="7074115" y="1572685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仅高级管理员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0134549585-16"/>
          <p:cNvSpPr txBox="1"/>
          <p:nvPr/>
        </p:nvSpPr>
        <p:spPr>
          <a:xfrm>
            <a:off x="7074115" y="1915499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role != SENIOR_ADMIN 直接返回 403，与需求分析用例权限一致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0134549585-17"/>
          <p:cNvSpPr txBox="1"/>
          <p:nvPr/>
        </p:nvSpPr>
        <p:spPr>
          <a:xfrm>
            <a:off x="7074115" y="2852286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次日生效规则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49585-18"/>
          <p:cNvSpPr txBox="1"/>
          <p:nvPr/>
        </p:nvSpPr>
        <p:spPr>
          <a:xfrm>
            <a:off x="7074115" y="3195101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前端默认填充次日，后端校验 effective_date &gt;= today + 1，否则 422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49585-19"/>
          <p:cNvSpPr txBox="1"/>
          <p:nvPr/>
        </p:nvSpPr>
        <p:spPr>
          <a:xfrm>
            <a:off x="7074115" y="4131888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TRADE 计算返回价格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49585-20"/>
          <p:cNvSpPr txBox="1"/>
          <p:nvPr/>
        </p:nvSpPr>
        <p:spPr>
          <a:xfrm>
            <a:off x="7074115" y="4474703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 仅传比例，TRADE 读取昨收价计算涨跌停价格并返回，前端展示确认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49551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9551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el-1780134549550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9589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9590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9591-10"/>
          <p:cNvSpPr/>
          <p:nvPr/>
        </p:nvSpPr>
        <p:spPr>
          <a:xfrm>
            <a:off x="685629" y="1229275"/>
            <a:ext cx="5798084" cy="46278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el-1780134549649-11"/>
          <p:cNvPicPr/>
          <p:nvPr/>
        </p:nvPicPr>
        <p:blipFill>
          <a:blip r:embed="rId1"/>
          <a:stretch>
            <a:fillRect/>
          </a:stretch>
        </p:blipFill>
        <p:spPr>
          <a:xfrm>
            <a:off x="1674344" y="1353069"/>
            <a:ext cx="3820504" cy="4380256"/>
          </a:xfrm>
          <a:prstGeom prst="rect">
            <a:avLst/>
          </a:prstGeom>
          <a:ln>
            <a:noFill/>
          </a:ln>
        </p:spPr>
      </p:pic>
      <p:sp>
        <p:nvSpPr>
          <p:cNvPr id="6" name="el-1780134549650-12"/>
          <p:cNvSpPr/>
          <p:nvPr/>
        </p:nvSpPr>
        <p:spPr>
          <a:xfrm>
            <a:off x="6864618" y="1314979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0134549650-13"/>
          <p:cNvSpPr/>
          <p:nvPr/>
        </p:nvSpPr>
        <p:spPr>
          <a:xfrm>
            <a:off x="6864618" y="2594581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49650-14"/>
          <p:cNvSpPr/>
          <p:nvPr/>
        </p:nvSpPr>
        <p:spPr>
          <a:xfrm>
            <a:off x="6864618" y="3874182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0134549590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0134549590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0134549590-6"/>
          <p:cNvSpPr txBox="1"/>
          <p:nvPr/>
        </p:nvSpPr>
        <p:spPr>
          <a:xfrm>
            <a:off x="1212051" y="53232"/>
            <a:ext cx="6161432" cy="57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详细设计 — 交易控制与交易日管理</a:t>
            </a:r>
            <a:endParaRPr sz="29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0134549590-7"/>
          <p:cNvSpPr txBox="1"/>
          <p:nvPr/>
        </p:nvSpPr>
        <p:spPr>
          <a:xfrm>
            <a:off x="11127180" y="224639"/>
            <a:ext cx="452324" cy="228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10</a:t>
            </a:r>
            <a:endParaRPr sz="119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0134549651-15"/>
          <p:cNvSpPr txBox="1"/>
          <p:nvPr/>
        </p:nvSpPr>
        <p:spPr>
          <a:xfrm>
            <a:off x="7074115" y="1229275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暂停 → TRADE 广播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0134549651-16"/>
          <p:cNvSpPr txBox="1"/>
          <p:nvPr/>
        </p:nvSpPr>
        <p:spPr>
          <a:xfrm>
            <a:off x="7074115" y="1572089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 调用 TRADE 暂停接口，TRADE 通过 WebSocket 向 CLIENT/INFO 广播状态变更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0134549651-17"/>
          <p:cNvSpPr txBox="1"/>
          <p:nvPr/>
        </p:nvSpPr>
        <p:spPr>
          <a:xfrm>
            <a:off x="7074115" y="2508877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交易日管理属 M4 子功能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49651-18"/>
          <p:cNvSpPr txBox="1"/>
          <p:nvPr/>
        </p:nvSpPr>
        <p:spPr>
          <a:xfrm>
            <a:off x="7074115" y="2851691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交易日开始/结束作为交易控制 Tab 页，仅 SENIOR_ADMIN 可操作，含二次确认弹窗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49651-19"/>
          <p:cNvSpPr txBox="1"/>
          <p:nvPr/>
        </p:nvSpPr>
        <p:spPr>
          <a:xfrm>
            <a:off x="7074115" y="3788479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交易日结束清理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49651-20"/>
          <p:cNvSpPr txBox="1"/>
          <p:nvPr/>
        </p:nvSpPr>
        <p:spPr>
          <a:xfrm>
            <a:off x="7074115" y="4131293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拒收新指令、QUEUED/PARTIALLY_FILLED → EXPIRED、释放冻结资源、归档当日行情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49591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9591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el-1780134549589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9658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9659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9660-10"/>
          <p:cNvSpPr/>
          <p:nvPr/>
        </p:nvSpPr>
        <p:spPr>
          <a:xfrm>
            <a:off x="685629" y="1229275"/>
            <a:ext cx="5798084" cy="46278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el-1780134549686-11"/>
          <p:cNvPicPr/>
          <p:nvPr/>
        </p:nvPicPr>
        <p:blipFill>
          <a:blip r:embed="rId1"/>
          <a:stretch>
            <a:fillRect/>
          </a:stretch>
        </p:blipFill>
        <p:spPr>
          <a:xfrm>
            <a:off x="2140060" y="1355899"/>
            <a:ext cx="2885353" cy="4374745"/>
          </a:xfrm>
          <a:prstGeom prst="rect">
            <a:avLst/>
          </a:prstGeom>
          <a:ln>
            <a:noFill/>
          </a:ln>
        </p:spPr>
      </p:pic>
      <p:sp>
        <p:nvSpPr>
          <p:cNvPr id="6" name="el-1780134549686-12"/>
          <p:cNvSpPr/>
          <p:nvPr/>
        </p:nvSpPr>
        <p:spPr>
          <a:xfrm>
            <a:off x="6864618" y="1314979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0134549686-13"/>
          <p:cNvSpPr/>
          <p:nvPr/>
        </p:nvSpPr>
        <p:spPr>
          <a:xfrm>
            <a:off x="6864618" y="2929658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49687-14"/>
          <p:cNvSpPr/>
          <p:nvPr/>
        </p:nvSpPr>
        <p:spPr>
          <a:xfrm>
            <a:off x="6864618" y="4209260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0134549658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0134549659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0134549659-6"/>
          <p:cNvSpPr txBox="1"/>
          <p:nvPr/>
        </p:nvSpPr>
        <p:spPr>
          <a:xfrm>
            <a:off x="1212051" y="53232"/>
            <a:ext cx="5780527" cy="57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详细设计 — 权限管理与审计日志</a:t>
            </a:r>
            <a:endParaRPr sz="29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0134549659-7"/>
          <p:cNvSpPr txBox="1"/>
          <p:nvPr/>
        </p:nvSpPr>
        <p:spPr>
          <a:xfrm>
            <a:off x="11127180" y="224639"/>
            <a:ext cx="452324" cy="228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11</a:t>
            </a:r>
            <a:endParaRPr sz="119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0134549687-15"/>
          <p:cNvSpPr txBox="1"/>
          <p:nvPr/>
        </p:nvSpPr>
        <p:spPr>
          <a:xfrm>
            <a:off x="7074115" y="1229275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双端点分离查询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0134549687-16"/>
          <p:cNvSpPr txBox="1"/>
          <p:nvPr/>
        </p:nvSpPr>
        <p:spPr>
          <a:xfrm>
            <a:off x="7074115" y="1572089"/>
            <a:ext cx="4429208" cy="10052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/audit/operation-logs 与 /audit/login-logs 独立端点，前端 Tab 切换，满足审计合规要求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0134549688-17"/>
          <p:cNvSpPr txBox="1"/>
          <p:nvPr/>
        </p:nvSpPr>
        <p:spPr>
          <a:xfrm>
            <a:off x="7074115" y="2843954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CSV 导出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49688-18"/>
          <p:cNvSpPr txBox="1"/>
          <p:nvPr/>
        </p:nvSpPr>
        <p:spPr>
          <a:xfrm>
            <a:off x="7074115" y="3186768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支持按筛选条件导出操作日志和登录日志为 CSV 文件，手动清理无需归档表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49688-19"/>
          <p:cNvSpPr txBox="1"/>
          <p:nvPr/>
        </p:nvSpPr>
        <p:spPr>
          <a:xfrm>
            <a:off x="7074115" y="4123556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仅系统管理员可调整权限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49688-20"/>
          <p:cNvSpPr txBox="1"/>
          <p:nvPr/>
        </p:nvSpPr>
        <p:spPr>
          <a:xfrm>
            <a:off x="7074115" y="4466370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角色变更、授权范围修改、状态调整均需 SYSTEM_ADMIN 角色，且不可操作自身账号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49659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9659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el-1780134549658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9891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9892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9893-11"/>
          <p:cNvSpPr/>
          <p:nvPr/>
        </p:nvSpPr>
        <p:spPr>
          <a:xfrm>
            <a:off x="685629" y="2181537"/>
            <a:ext cx="2561584" cy="10189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19045" algn="in">
            <a:solidFill>
              <a:srgbClr val="CBD5E1"/>
            </a:solidFill>
            <a:prstDash val="sysDash"/>
          </a:ln>
        </p:spPr>
        <p:txBody>
          <a:bodyPr/>
          <a:lstStyle/>
          <a:p/>
        </p:txBody>
      </p:sp>
      <p:sp>
        <p:nvSpPr>
          <p:cNvPr id="5" name="el-1780134549898-25"/>
          <p:cNvSpPr/>
          <p:nvPr/>
        </p:nvSpPr>
        <p:spPr>
          <a:xfrm>
            <a:off x="1833104" y="2407699"/>
            <a:ext cx="266633" cy="23330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2571" y="16889"/>
                </a:moveTo>
                <a:lnTo>
                  <a:pt x="42571" y="16889"/>
                </a:lnTo>
                <a:lnTo>
                  <a:pt x="66619" y="44889"/>
                </a:lnTo>
                <a:cubicBezTo>
                  <a:pt x="68048" y="46556"/>
                  <a:pt x="68762" y="48611"/>
                  <a:pt x="68762" y="51056"/>
                </a:cubicBezTo>
                <a:lnTo>
                  <a:pt x="68762" y="51056"/>
                </a:lnTo>
                <a:cubicBezTo>
                  <a:pt x="68762" y="53463"/>
                  <a:pt x="68048" y="55500"/>
                  <a:pt x="66619" y="57167"/>
                </a:cubicBezTo>
                <a:lnTo>
                  <a:pt x="66619" y="57167"/>
                </a:lnTo>
                <a:lnTo>
                  <a:pt x="42571" y="85222"/>
                </a:lnTo>
                <a:cubicBezTo>
                  <a:pt x="41270" y="86741"/>
                  <a:pt x="39714" y="87500"/>
                  <a:pt x="37905" y="87500"/>
                </a:cubicBezTo>
                <a:lnTo>
                  <a:pt x="37905" y="87500"/>
                </a:lnTo>
                <a:cubicBezTo>
                  <a:pt x="36063" y="87500"/>
                  <a:pt x="34492" y="86741"/>
                  <a:pt x="33190" y="85222"/>
                </a:cubicBezTo>
                <a:lnTo>
                  <a:pt x="33190" y="85222"/>
                </a:lnTo>
                <a:cubicBezTo>
                  <a:pt x="31889" y="83704"/>
                  <a:pt x="31238" y="81889"/>
                  <a:pt x="31238" y="79778"/>
                </a:cubicBezTo>
                <a:lnTo>
                  <a:pt x="31238" y="79778"/>
                </a:lnTo>
                <a:lnTo>
                  <a:pt x="31238" y="65611"/>
                </a:lnTo>
                <a:lnTo>
                  <a:pt x="6238" y="65611"/>
                </a:lnTo>
                <a:cubicBezTo>
                  <a:pt x="4429" y="65611"/>
                  <a:pt x="2937" y="64926"/>
                  <a:pt x="1762" y="63556"/>
                </a:cubicBezTo>
                <a:lnTo>
                  <a:pt x="1762" y="63556"/>
                </a:lnTo>
                <a:cubicBezTo>
                  <a:pt x="587" y="62185"/>
                  <a:pt x="0" y="60444"/>
                  <a:pt x="0" y="58333"/>
                </a:cubicBezTo>
                <a:lnTo>
                  <a:pt x="0" y="58333"/>
                </a:lnTo>
                <a:lnTo>
                  <a:pt x="0" y="43778"/>
                </a:lnTo>
                <a:cubicBezTo>
                  <a:pt x="0" y="41630"/>
                  <a:pt x="587" y="39870"/>
                  <a:pt x="1762" y="38500"/>
                </a:cubicBezTo>
                <a:lnTo>
                  <a:pt x="1762" y="38500"/>
                </a:lnTo>
                <a:cubicBezTo>
                  <a:pt x="2937" y="37130"/>
                  <a:pt x="4429" y="36444"/>
                  <a:pt x="6238" y="36444"/>
                </a:cubicBezTo>
                <a:lnTo>
                  <a:pt x="6238" y="36444"/>
                </a:lnTo>
                <a:lnTo>
                  <a:pt x="31238" y="36444"/>
                </a:lnTo>
                <a:lnTo>
                  <a:pt x="31238" y="22333"/>
                </a:lnTo>
                <a:cubicBezTo>
                  <a:pt x="31238" y="20222"/>
                  <a:pt x="31889" y="18407"/>
                  <a:pt x="33190" y="16889"/>
                </a:cubicBezTo>
                <a:lnTo>
                  <a:pt x="33190" y="16889"/>
                </a:lnTo>
                <a:cubicBezTo>
                  <a:pt x="34492" y="15370"/>
                  <a:pt x="36063" y="14611"/>
                  <a:pt x="37905" y="14611"/>
                </a:cubicBezTo>
                <a:lnTo>
                  <a:pt x="37905" y="14611"/>
                </a:lnTo>
                <a:cubicBezTo>
                  <a:pt x="39714" y="14611"/>
                  <a:pt x="41270" y="15370"/>
                  <a:pt x="42571" y="16889"/>
                </a:cubicBezTo>
                <a:lnTo>
                  <a:pt x="42571" y="16889"/>
                </a:lnTo>
                <a:close/>
                <a:moveTo>
                  <a:pt x="68762" y="87500"/>
                </a:moveTo>
                <a:lnTo>
                  <a:pt x="68762" y="87500"/>
                </a:lnTo>
                <a:lnTo>
                  <a:pt x="81238" y="87500"/>
                </a:lnTo>
                <a:cubicBezTo>
                  <a:pt x="83079" y="87500"/>
                  <a:pt x="84587" y="86815"/>
                  <a:pt x="85762" y="85444"/>
                </a:cubicBezTo>
                <a:lnTo>
                  <a:pt x="85762" y="85444"/>
                </a:lnTo>
                <a:cubicBezTo>
                  <a:pt x="86937" y="84074"/>
                  <a:pt x="87524" y="82333"/>
                  <a:pt x="87524" y="80222"/>
                </a:cubicBezTo>
                <a:lnTo>
                  <a:pt x="87524" y="80222"/>
                </a:lnTo>
                <a:lnTo>
                  <a:pt x="87524" y="21889"/>
                </a:lnTo>
                <a:cubicBezTo>
                  <a:pt x="87524" y="19741"/>
                  <a:pt x="86937" y="17981"/>
                  <a:pt x="85762" y="16611"/>
                </a:cubicBezTo>
                <a:lnTo>
                  <a:pt x="85762" y="16611"/>
                </a:lnTo>
                <a:cubicBezTo>
                  <a:pt x="84587" y="15278"/>
                  <a:pt x="83079" y="14611"/>
                  <a:pt x="81238" y="14611"/>
                </a:cubicBezTo>
                <a:lnTo>
                  <a:pt x="81238" y="14611"/>
                </a:lnTo>
                <a:lnTo>
                  <a:pt x="68762" y="14611"/>
                </a:lnTo>
                <a:cubicBezTo>
                  <a:pt x="66921" y="14611"/>
                  <a:pt x="65413" y="13926"/>
                  <a:pt x="64238" y="12556"/>
                </a:cubicBezTo>
                <a:lnTo>
                  <a:pt x="64238" y="12556"/>
                </a:lnTo>
                <a:cubicBezTo>
                  <a:pt x="63095" y="11185"/>
                  <a:pt x="62524" y="9426"/>
                  <a:pt x="62524" y="7278"/>
                </a:cubicBezTo>
                <a:lnTo>
                  <a:pt x="62524" y="7278"/>
                </a:lnTo>
                <a:cubicBezTo>
                  <a:pt x="62524" y="5167"/>
                  <a:pt x="63095" y="3426"/>
                  <a:pt x="64238" y="2056"/>
                </a:cubicBezTo>
                <a:lnTo>
                  <a:pt x="64238" y="2056"/>
                </a:lnTo>
                <a:cubicBezTo>
                  <a:pt x="65413" y="685"/>
                  <a:pt x="66921" y="0"/>
                  <a:pt x="68762" y="0"/>
                </a:cubicBezTo>
                <a:lnTo>
                  <a:pt x="68762" y="0"/>
                </a:lnTo>
                <a:lnTo>
                  <a:pt x="81238" y="0"/>
                </a:lnTo>
                <a:cubicBezTo>
                  <a:pt x="86571" y="148"/>
                  <a:pt x="91000" y="2278"/>
                  <a:pt x="94524" y="6389"/>
                </a:cubicBezTo>
                <a:lnTo>
                  <a:pt x="94524" y="6389"/>
                </a:lnTo>
                <a:cubicBezTo>
                  <a:pt x="98048" y="10500"/>
                  <a:pt x="99873" y="15667"/>
                  <a:pt x="100000" y="21889"/>
                </a:cubicBezTo>
                <a:lnTo>
                  <a:pt x="100000" y="21889"/>
                </a:lnTo>
                <a:lnTo>
                  <a:pt x="100000" y="80222"/>
                </a:lnTo>
                <a:cubicBezTo>
                  <a:pt x="99873" y="86444"/>
                  <a:pt x="98048" y="91611"/>
                  <a:pt x="94524" y="95722"/>
                </a:cubicBezTo>
                <a:lnTo>
                  <a:pt x="94524" y="95722"/>
                </a:lnTo>
                <a:cubicBezTo>
                  <a:pt x="91000" y="99796"/>
                  <a:pt x="86571" y="101926"/>
                  <a:pt x="81238" y="102111"/>
                </a:cubicBezTo>
                <a:lnTo>
                  <a:pt x="81238" y="102111"/>
                </a:lnTo>
                <a:lnTo>
                  <a:pt x="68762" y="102111"/>
                </a:lnTo>
                <a:cubicBezTo>
                  <a:pt x="66921" y="102111"/>
                  <a:pt x="65413" y="101426"/>
                  <a:pt x="64238" y="100056"/>
                </a:cubicBezTo>
                <a:lnTo>
                  <a:pt x="64238" y="100056"/>
                </a:lnTo>
                <a:cubicBezTo>
                  <a:pt x="63095" y="98685"/>
                  <a:pt x="62524" y="96926"/>
                  <a:pt x="62524" y="94778"/>
                </a:cubicBezTo>
                <a:lnTo>
                  <a:pt x="62524" y="94778"/>
                </a:lnTo>
                <a:cubicBezTo>
                  <a:pt x="62524" y="92667"/>
                  <a:pt x="63095" y="90926"/>
                  <a:pt x="64238" y="89556"/>
                </a:cubicBezTo>
                <a:lnTo>
                  <a:pt x="64238" y="89556"/>
                </a:lnTo>
                <a:cubicBezTo>
                  <a:pt x="65413" y="88185"/>
                  <a:pt x="66921" y="87500"/>
                  <a:pt x="68762" y="87500"/>
                </a:cubicBezTo>
                <a:lnTo>
                  <a:pt x="68762" y="875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0134549893-12"/>
          <p:cNvSpPr/>
          <p:nvPr/>
        </p:nvSpPr>
        <p:spPr>
          <a:xfrm>
            <a:off x="3437665" y="2181537"/>
            <a:ext cx="2561584" cy="10189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19045" algn="in">
            <a:solidFill>
              <a:srgbClr val="CBD5E1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0134549899-26"/>
          <p:cNvSpPr/>
          <p:nvPr/>
        </p:nvSpPr>
        <p:spPr>
          <a:xfrm>
            <a:off x="4585141" y="2407699"/>
            <a:ext cx="266633" cy="23330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2524" y="7278"/>
                </a:moveTo>
                <a:lnTo>
                  <a:pt x="12524" y="7278"/>
                </a:lnTo>
                <a:cubicBezTo>
                  <a:pt x="12524" y="5167"/>
                  <a:pt x="11937" y="3426"/>
                  <a:pt x="10762" y="2056"/>
                </a:cubicBezTo>
                <a:lnTo>
                  <a:pt x="10762" y="2056"/>
                </a:lnTo>
                <a:lnTo>
                  <a:pt x="10762" y="2056"/>
                </a:lnTo>
                <a:cubicBezTo>
                  <a:pt x="9587" y="685"/>
                  <a:pt x="8079" y="0"/>
                  <a:pt x="6238" y="0"/>
                </a:cubicBezTo>
                <a:lnTo>
                  <a:pt x="6238" y="0"/>
                </a:lnTo>
                <a:cubicBezTo>
                  <a:pt x="4429" y="0"/>
                  <a:pt x="2937" y="685"/>
                  <a:pt x="1762" y="2056"/>
                </a:cubicBezTo>
                <a:lnTo>
                  <a:pt x="1762" y="2056"/>
                </a:lnTo>
                <a:cubicBezTo>
                  <a:pt x="587" y="3426"/>
                  <a:pt x="0" y="5167"/>
                  <a:pt x="0" y="7278"/>
                </a:cubicBezTo>
                <a:lnTo>
                  <a:pt x="0" y="7278"/>
                </a:lnTo>
                <a:lnTo>
                  <a:pt x="0" y="83833"/>
                </a:lnTo>
                <a:cubicBezTo>
                  <a:pt x="127" y="89019"/>
                  <a:pt x="1619" y="93352"/>
                  <a:pt x="4476" y="96833"/>
                </a:cubicBezTo>
                <a:lnTo>
                  <a:pt x="4476" y="96833"/>
                </a:lnTo>
                <a:cubicBezTo>
                  <a:pt x="7492" y="100167"/>
                  <a:pt x="11206" y="101926"/>
                  <a:pt x="15619" y="102111"/>
                </a:cubicBezTo>
                <a:lnTo>
                  <a:pt x="15619" y="102111"/>
                </a:lnTo>
                <a:lnTo>
                  <a:pt x="93762" y="102111"/>
                </a:lnTo>
                <a:cubicBezTo>
                  <a:pt x="95571" y="102111"/>
                  <a:pt x="97063" y="101426"/>
                  <a:pt x="98238" y="100056"/>
                </a:cubicBezTo>
                <a:lnTo>
                  <a:pt x="98238" y="100056"/>
                </a:lnTo>
                <a:cubicBezTo>
                  <a:pt x="99413" y="98685"/>
                  <a:pt x="100000" y="96926"/>
                  <a:pt x="100000" y="94778"/>
                </a:cubicBezTo>
                <a:lnTo>
                  <a:pt x="100000" y="94778"/>
                </a:lnTo>
                <a:cubicBezTo>
                  <a:pt x="100000" y="92667"/>
                  <a:pt x="99413" y="90926"/>
                  <a:pt x="98238" y="89556"/>
                </a:cubicBezTo>
                <a:lnTo>
                  <a:pt x="98238" y="89556"/>
                </a:lnTo>
                <a:cubicBezTo>
                  <a:pt x="97063" y="88185"/>
                  <a:pt x="95571" y="87500"/>
                  <a:pt x="93762" y="87500"/>
                </a:cubicBezTo>
                <a:lnTo>
                  <a:pt x="93762" y="87500"/>
                </a:lnTo>
                <a:lnTo>
                  <a:pt x="15619" y="87500"/>
                </a:lnTo>
                <a:cubicBezTo>
                  <a:pt x="13683" y="87352"/>
                  <a:pt x="12651" y="86130"/>
                  <a:pt x="12524" y="83833"/>
                </a:cubicBezTo>
                <a:lnTo>
                  <a:pt x="12524" y="83833"/>
                </a:lnTo>
                <a:lnTo>
                  <a:pt x="12524" y="7278"/>
                </a:lnTo>
                <a:close/>
                <a:moveTo>
                  <a:pt x="92000" y="27111"/>
                </a:moveTo>
                <a:lnTo>
                  <a:pt x="92000" y="27111"/>
                </a:lnTo>
                <a:cubicBezTo>
                  <a:pt x="93175" y="25593"/>
                  <a:pt x="93762" y="23852"/>
                  <a:pt x="93762" y="21889"/>
                </a:cubicBezTo>
                <a:lnTo>
                  <a:pt x="93762" y="21889"/>
                </a:lnTo>
                <a:lnTo>
                  <a:pt x="93762" y="21889"/>
                </a:lnTo>
                <a:cubicBezTo>
                  <a:pt x="93762" y="19889"/>
                  <a:pt x="93175" y="18130"/>
                  <a:pt x="92000" y="16611"/>
                </a:cubicBezTo>
                <a:lnTo>
                  <a:pt x="92000" y="16611"/>
                </a:lnTo>
                <a:cubicBezTo>
                  <a:pt x="90698" y="15278"/>
                  <a:pt x="89206" y="14611"/>
                  <a:pt x="87524" y="14611"/>
                </a:cubicBezTo>
                <a:lnTo>
                  <a:pt x="87524" y="14611"/>
                </a:lnTo>
                <a:cubicBezTo>
                  <a:pt x="85810" y="14611"/>
                  <a:pt x="84302" y="15278"/>
                  <a:pt x="83000" y="16611"/>
                </a:cubicBezTo>
                <a:lnTo>
                  <a:pt x="83000" y="16611"/>
                </a:lnTo>
                <a:lnTo>
                  <a:pt x="62524" y="40778"/>
                </a:lnTo>
                <a:lnTo>
                  <a:pt x="51381" y="27556"/>
                </a:lnTo>
                <a:cubicBezTo>
                  <a:pt x="50079" y="26185"/>
                  <a:pt x="48571" y="25500"/>
                  <a:pt x="46857" y="25500"/>
                </a:cubicBezTo>
                <a:lnTo>
                  <a:pt x="46857" y="25500"/>
                </a:lnTo>
                <a:cubicBezTo>
                  <a:pt x="45175" y="25500"/>
                  <a:pt x="43683" y="26185"/>
                  <a:pt x="42381" y="27556"/>
                </a:cubicBezTo>
                <a:lnTo>
                  <a:pt x="42381" y="27556"/>
                </a:lnTo>
                <a:lnTo>
                  <a:pt x="20524" y="53111"/>
                </a:lnTo>
                <a:cubicBezTo>
                  <a:pt x="19349" y="54630"/>
                  <a:pt x="18762" y="56370"/>
                  <a:pt x="18762" y="58333"/>
                </a:cubicBezTo>
                <a:lnTo>
                  <a:pt x="18762" y="58333"/>
                </a:lnTo>
                <a:cubicBezTo>
                  <a:pt x="18762" y="60296"/>
                  <a:pt x="19349" y="62037"/>
                  <a:pt x="20524" y="63556"/>
                </a:cubicBezTo>
                <a:lnTo>
                  <a:pt x="20524" y="63556"/>
                </a:lnTo>
                <a:cubicBezTo>
                  <a:pt x="21825" y="64926"/>
                  <a:pt x="23317" y="65611"/>
                  <a:pt x="25000" y="65611"/>
                </a:cubicBezTo>
                <a:lnTo>
                  <a:pt x="25000" y="65611"/>
                </a:lnTo>
                <a:cubicBezTo>
                  <a:pt x="26683" y="65611"/>
                  <a:pt x="28175" y="64926"/>
                  <a:pt x="29476" y="63556"/>
                </a:cubicBezTo>
                <a:lnTo>
                  <a:pt x="29476" y="63556"/>
                </a:lnTo>
                <a:lnTo>
                  <a:pt x="46857" y="43056"/>
                </a:lnTo>
                <a:lnTo>
                  <a:pt x="58000" y="56278"/>
                </a:lnTo>
                <a:cubicBezTo>
                  <a:pt x="59302" y="57648"/>
                  <a:pt x="60810" y="58333"/>
                  <a:pt x="62524" y="58333"/>
                </a:cubicBezTo>
                <a:lnTo>
                  <a:pt x="62524" y="58333"/>
                </a:lnTo>
                <a:cubicBezTo>
                  <a:pt x="64206" y="58333"/>
                  <a:pt x="65698" y="57648"/>
                  <a:pt x="67000" y="56278"/>
                </a:cubicBezTo>
                <a:lnTo>
                  <a:pt x="67000" y="56278"/>
                </a:lnTo>
                <a:lnTo>
                  <a:pt x="92000" y="27111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49893-13"/>
          <p:cNvSpPr/>
          <p:nvPr/>
        </p:nvSpPr>
        <p:spPr>
          <a:xfrm>
            <a:off x="6189702" y="2181537"/>
            <a:ext cx="2561584" cy="10189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19045" algn="in">
            <a:solidFill>
              <a:srgbClr val="CBD5E1"/>
            </a:solidFill>
            <a:prstDash val="sysDash"/>
          </a:ln>
        </p:spPr>
        <p:txBody>
          <a:bodyPr/>
          <a:lstStyle/>
          <a:p/>
        </p:txBody>
      </p:sp>
      <p:sp>
        <p:nvSpPr>
          <p:cNvPr id="9" name="el-1780134549899-27"/>
          <p:cNvSpPr/>
          <p:nvPr/>
        </p:nvSpPr>
        <p:spPr>
          <a:xfrm>
            <a:off x="7370507" y="2424364"/>
            <a:ext cx="199975" cy="1999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6125" y="14125"/>
                </a:moveTo>
                <a:lnTo>
                  <a:pt x="96125" y="14125"/>
                </a:lnTo>
                <a:cubicBezTo>
                  <a:pt x="97667" y="12417"/>
                  <a:pt x="98438" y="10438"/>
                  <a:pt x="98438" y="8188"/>
                </a:cubicBezTo>
                <a:lnTo>
                  <a:pt x="98438" y="8188"/>
                </a:lnTo>
                <a:lnTo>
                  <a:pt x="98438" y="8188"/>
                </a:lnTo>
                <a:cubicBezTo>
                  <a:pt x="98438" y="5979"/>
                  <a:pt x="97667" y="4021"/>
                  <a:pt x="96125" y="2313"/>
                </a:cubicBezTo>
                <a:lnTo>
                  <a:pt x="96125" y="2313"/>
                </a:lnTo>
                <a:cubicBezTo>
                  <a:pt x="94417" y="771"/>
                  <a:pt x="92458" y="0"/>
                  <a:pt x="90250" y="0"/>
                </a:cubicBezTo>
                <a:lnTo>
                  <a:pt x="90250" y="0"/>
                </a:lnTo>
                <a:cubicBezTo>
                  <a:pt x="88000" y="0"/>
                  <a:pt x="86021" y="771"/>
                  <a:pt x="84313" y="2313"/>
                </a:cubicBezTo>
                <a:lnTo>
                  <a:pt x="84313" y="2313"/>
                </a:lnTo>
                <a:lnTo>
                  <a:pt x="2313" y="84313"/>
                </a:lnTo>
                <a:cubicBezTo>
                  <a:pt x="771" y="86021"/>
                  <a:pt x="0" y="88000"/>
                  <a:pt x="0" y="90250"/>
                </a:cubicBezTo>
                <a:lnTo>
                  <a:pt x="0" y="90250"/>
                </a:lnTo>
                <a:cubicBezTo>
                  <a:pt x="0" y="92458"/>
                  <a:pt x="771" y="94417"/>
                  <a:pt x="2313" y="96125"/>
                </a:cubicBezTo>
                <a:lnTo>
                  <a:pt x="2313" y="96125"/>
                </a:lnTo>
                <a:cubicBezTo>
                  <a:pt x="4021" y="97667"/>
                  <a:pt x="5979" y="98438"/>
                  <a:pt x="8188" y="98438"/>
                </a:cubicBezTo>
                <a:lnTo>
                  <a:pt x="8188" y="98438"/>
                </a:lnTo>
                <a:cubicBezTo>
                  <a:pt x="10438" y="98438"/>
                  <a:pt x="12417" y="97667"/>
                  <a:pt x="14125" y="96125"/>
                </a:cubicBezTo>
                <a:lnTo>
                  <a:pt x="14125" y="96125"/>
                </a:lnTo>
                <a:lnTo>
                  <a:pt x="96125" y="14125"/>
                </a:lnTo>
                <a:close/>
                <a:moveTo>
                  <a:pt x="32813" y="16438"/>
                </a:moveTo>
                <a:lnTo>
                  <a:pt x="32813" y="16438"/>
                </a:lnTo>
                <a:cubicBezTo>
                  <a:pt x="32646" y="10271"/>
                  <a:pt x="29917" y="5562"/>
                  <a:pt x="24625" y="2313"/>
                </a:cubicBezTo>
                <a:lnTo>
                  <a:pt x="24625" y="2313"/>
                </a:lnTo>
                <a:cubicBezTo>
                  <a:pt x="19167" y="-771"/>
                  <a:pt x="13688" y="-771"/>
                  <a:pt x="8188" y="2313"/>
                </a:cubicBezTo>
                <a:lnTo>
                  <a:pt x="8188" y="2313"/>
                </a:lnTo>
                <a:cubicBezTo>
                  <a:pt x="2896" y="5562"/>
                  <a:pt x="167" y="10271"/>
                  <a:pt x="0" y="16438"/>
                </a:cubicBezTo>
                <a:lnTo>
                  <a:pt x="0" y="16438"/>
                </a:lnTo>
                <a:cubicBezTo>
                  <a:pt x="167" y="22562"/>
                  <a:pt x="2896" y="27250"/>
                  <a:pt x="8188" y="30500"/>
                </a:cubicBezTo>
                <a:lnTo>
                  <a:pt x="8188" y="30500"/>
                </a:lnTo>
                <a:cubicBezTo>
                  <a:pt x="13688" y="33583"/>
                  <a:pt x="19167" y="33583"/>
                  <a:pt x="24625" y="30500"/>
                </a:cubicBezTo>
                <a:lnTo>
                  <a:pt x="24625" y="30500"/>
                </a:lnTo>
                <a:cubicBezTo>
                  <a:pt x="29917" y="27250"/>
                  <a:pt x="32646" y="22562"/>
                  <a:pt x="32813" y="16438"/>
                </a:cubicBezTo>
                <a:lnTo>
                  <a:pt x="32813" y="16438"/>
                </a:lnTo>
                <a:close/>
                <a:moveTo>
                  <a:pt x="98438" y="82063"/>
                </a:moveTo>
                <a:lnTo>
                  <a:pt x="98438" y="82063"/>
                </a:lnTo>
                <a:cubicBezTo>
                  <a:pt x="98271" y="75896"/>
                  <a:pt x="95542" y="71188"/>
                  <a:pt x="90250" y="67938"/>
                </a:cubicBezTo>
                <a:lnTo>
                  <a:pt x="90250" y="67938"/>
                </a:lnTo>
                <a:cubicBezTo>
                  <a:pt x="84792" y="64854"/>
                  <a:pt x="79313" y="64854"/>
                  <a:pt x="73813" y="67938"/>
                </a:cubicBezTo>
                <a:lnTo>
                  <a:pt x="73813" y="67938"/>
                </a:lnTo>
                <a:cubicBezTo>
                  <a:pt x="68521" y="71188"/>
                  <a:pt x="65792" y="75896"/>
                  <a:pt x="65625" y="82063"/>
                </a:cubicBezTo>
                <a:lnTo>
                  <a:pt x="65625" y="82063"/>
                </a:lnTo>
                <a:cubicBezTo>
                  <a:pt x="65792" y="88188"/>
                  <a:pt x="68521" y="92875"/>
                  <a:pt x="73813" y="96125"/>
                </a:cubicBezTo>
                <a:lnTo>
                  <a:pt x="73813" y="96125"/>
                </a:lnTo>
                <a:cubicBezTo>
                  <a:pt x="79313" y="99208"/>
                  <a:pt x="84792" y="99208"/>
                  <a:pt x="90250" y="96125"/>
                </a:cubicBezTo>
                <a:lnTo>
                  <a:pt x="90250" y="96125"/>
                </a:lnTo>
                <a:cubicBezTo>
                  <a:pt x="95542" y="92875"/>
                  <a:pt x="98271" y="88188"/>
                  <a:pt x="98438" y="82063"/>
                </a:cubicBezTo>
                <a:lnTo>
                  <a:pt x="98438" y="82063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0134549893-14"/>
          <p:cNvSpPr/>
          <p:nvPr/>
        </p:nvSpPr>
        <p:spPr>
          <a:xfrm>
            <a:off x="8941739" y="2181537"/>
            <a:ext cx="2561584" cy="10189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19045" algn="in">
            <a:solidFill>
              <a:srgbClr val="CBD5E1"/>
            </a:solidFill>
            <a:prstDash val="sysDash"/>
          </a:ln>
        </p:spPr>
        <p:txBody>
          <a:bodyPr/>
          <a:lstStyle/>
          <a:p/>
        </p:txBody>
      </p:sp>
      <p:sp>
        <p:nvSpPr>
          <p:cNvPr id="11" name="el-1780134549900-28"/>
          <p:cNvSpPr/>
          <p:nvPr/>
        </p:nvSpPr>
        <p:spPr>
          <a:xfrm>
            <a:off x="10089215" y="2391035"/>
            <a:ext cx="266633" cy="26663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100000"/>
                </a:moveTo>
                <a:lnTo>
                  <a:pt x="50000" y="100000"/>
                </a:lnTo>
                <a:cubicBezTo>
                  <a:pt x="59111" y="99873"/>
                  <a:pt x="67444" y="97667"/>
                  <a:pt x="75000" y="93381"/>
                </a:cubicBezTo>
                <a:lnTo>
                  <a:pt x="75000" y="93381"/>
                </a:lnTo>
                <a:lnTo>
                  <a:pt x="75000" y="93381"/>
                </a:lnTo>
                <a:cubicBezTo>
                  <a:pt x="82556" y="88937"/>
                  <a:pt x="88683" y="82810"/>
                  <a:pt x="93381" y="75000"/>
                </a:cubicBezTo>
                <a:lnTo>
                  <a:pt x="93381" y="75000"/>
                </a:lnTo>
                <a:cubicBezTo>
                  <a:pt x="97794" y="67063"/>
                  <a:pt x="100000" y="58730"/>
                  <a:pt x="100000" y="50000"/>
                </a:cubicBezTo>
                <a:lnTo>
                  <a:pt x="100000" y="50000"/>
                </a:lnTo>
                <a:cubicBezTo>
                  <a:pt x="100000" y="41270"/>
                  <a:pt x="97794" y="32937"/>
                  <a:pt x="93381" y="25000"/>
                </a:cubicBezTo>
                <a:lnTo>
                  <a:pt x="93381" y="25000"/>
                </a:lnTo>
                <a:cubicBezTo>
                  <a:pt x="88683" y="17190"/>
                  <a:pt x="82556" y="11063"/>
                  <a:pt x="75000" y="6619"/>
                </a:cubicBezTo>
                <a:lnTo>
                  <a:pt x="75000" y="6619"/>
                </a:lnTo>
                <a:cubicBezTo>
                  <a:pt x="67444" y="2333"/>
                  <a:pt x="59111" y="127"/>
                  <a:pt x="50000" y="0"/>
                </a:cubicBezTo>
                <a:lnTo>
                  <a:pt x="50000" y="0"/>
                </a:lnTo>
                <a:cubicBezTo>
                  <a:pt x="40889" y="127"/>
                  <a:pt x="32556" y="2333"/>
                  <a:pt x="25000" y="6619"/>
                </a:cubicBezTo>
                <a:lnTo>
                  <a:pt x="25000" y="6619"/>
                </a:lnTo>
                <a:cubicBezTo>
                  <a:pt x="17444" y="11063"/>
                  <a:pt x="11317" y="17190"/>
                  <a:pt x="6619" y="25000"/>
                </a:cubicBezTo>
                <a:lnTo>
                  <a:pt x="6619" y="25000"/>
                </a:lnTo>
                <a:cubicBezTo>
                  <a:pt x="2206" y="32937"/>
                  <a:pt x="0" y="41270"/>
                  <a:pt x="0" y="50000"/>
                </a:cubicBezTo>
                <a:lnTo>
                  <a:pt x="0" y="50000"/>
                </a:lnTo>
                <a:cubicBezTo>
                  <a:pt x="0" y="58730"/>
                  <a:pt x="2206" y="67063"/>
                  <a:pt x="6619" y="75000"/>
                </a:cubicBezTo>
                <a:lnTo>
                  <a:pt x="6619" y="75000"/>
                </a:lnTo>
                <a:cubicBezTo>
                  <a:pt x="11317" y="82810"/>
                  <a:pt x="17444" y="88937"/>
                  <a:pt x="25000" y="93381"/>
                </a:cubicBezTo>
                <a:lnTo>
                  <a:pt x="25000" y="93381"/>
                </a:lnTo>
                <a:cubicBezTo>
                  <a:pt x="32556" y="97667"/>
                  <a:pt x="40889" y="99873"/>
                  <a:pt x="50000" y="100000"/>
                </a:cubicBezTo>
                <a:lnTo>
                  <a:pt x="50000" y="100000"/>
                </a:lnTo>
                <a:close/>
                <a:moveTo>
                  <a:pt x="43762" y="37524"/>
                </a:moveTo>
                <a:lnTo>
                  <a:pt x="43762" y="37524"/>
                </a:lnTo>
                <a:lnTo>
                  <a:pt x="43762" y="62524"/>
                </a:lnTo>
                <a:cubicBezTo>
                  <a:pt x="43762" y="64333"/>
                  <a:pt x="43175" y="65825"/>
                  <a:pt x="42000" y="67000"/>
                </a:cubicBezTo>
                <a:lnTo>
                  <a:pt x="42000" y="67000"/>
                </a:lnTo>
                <a:cubicBezTo>
                  <a:pt x="40825" y="68175"/>
                  <a:pt x="39333" y="68762"/>
                  <a:pt x="37524" y="68762"/>
                </a:cubicBezTo>
                <a:lnTo>
                  <a:pt x="37524" y="68762"/>
                </a:lnTo>
                <a:cubicBezTo>
                  <a:pt x="35683" y="68762"/>
                  <a:pt x="34175" y="68175"/>
                  <a:pt x="33000" y="67000"/>
                </a:cubicBezTo>
                <a:lnTo>
                  <a:pt x="33000" y="67000"/>
                </a:lnTo>
                <a:cubicBezTo>
                  <a:pt x="31825" y="65825"/>
                  <a:pt x="31238" y="64333"/>
                  <a:pt x="31238" y="62524"/>
                </a:cubicBezTo>
                <a:lnTo>
                  <a:pt x="31238" y="62524"/>
                </a:lnTo>
                <a:lnTo>
                  <a:pt x="31238" y="37524"/>
                </a:lnTo>
                <a:cubicBezTo>
                  <a:pt x="31238" y="35683"/>
                  <a:pt x="31825" y="34175"/>
                  <a:pt x="33000" y="33000"/>
                </a:cubicBezTo>
                <a:lnTo>
                  <a:pt x="33000" y="33000"/>
                </a:lnTo>
                <a:cubicBezTo>
                  <a:pt x="34175" y="31825"/>
                  <a:pt x="35683" y="31238"/>
                  <a:pt x="37524" y="31238"/>
                </a:cubicBezTo>
                <a:lnTo>
                  <a:pt x="37524" y="31238"/>
                </a:lnTo>
                <a:cubicBezTo>
                  <a:pt x="39333" y="31238"/>
                  <a:pt x="40825" y="31825"/>
                  <a:pt x="42000" y="33000"/>
                </a:cubicBezTo>
                <a:lnTo>
                  <a:pt x="42000" y="33000"/>
                </a:lnTo>
                <a:cubicBezTo>
                  <a:pt x="43175" y="34175"/>
                  <a:pt x="43762" y="35683"/>
                  <a:pt x="43762" y="37524"/>
                </a:cubicBezTo>
                <a:lnTo>
                  <a:pt x="43762" y="37524"/>
                </a:lnTo>
                <a:close/>
                <a:moveTo>
                  <a:pt x="68762" y="37524"/>
                </a:moveTo>
                <a:lnTo>
                  <a:pt x="68762" y="37524"/>
                </a:lnTo>
                <a:lnTo>
                  <a:pt x="68762" y="62524"/>
                </a:lnTo>
                <a:cubicBezTo>
                  <a:pt x="68762" y="64333"/>
                  <a:pt x="68175" y="65825"/>
                  <a:pt x="67000" y="67000"/>
                </a:cubicBezTo>
                <a:lnTo>
                  <a:pt x="67000" y="67000"/>
                </a:lnTo>
                <a:cubicBezTo>
                  <a:pt x="65825" y="68175"/>
                  <a:pt x="64333" y="68762"/>
                  <a:pt x="62524" y="68762"/>
                </a:cubicBezTo>
                <a:lnTo>
                  <a:pt x="62524" y="68762"/>
                </a:lnTo>
                <a:cubicBezTo>
                  <a:pt x="60683" y="68762"/>
                  <a:pt x="59175" y="68175"/>
                  <a:pt x="58000" y="67000"/>
                </a:cubicBezTo>
                <a:lnTo>
                  <a:pt x="58000" y="67000"/>
                </a:lnTo>
                <a:cubicBezTo>
                  <a:pt x="56825" y="65825"/>
                  <a:pt x="56238" y="64333"/>
                  <a:pt x="56238" y="62524"/>
                </a:cubicBezTo>
                <a:lnTo>
                  <a:pt x="56238" y="62524"/>
                </a:lnTo>
                <a:lnTo>
                  <a:pt x="56238" y="37524"/>
                </a:lnTo>
                <a:cubicBezTo>
                  <a:pt x="56238" y="35683"/>
                  <a:pt x="56825" y="34175"/>
                  <a:pt x="58000" y="33000"/>
                </a:cubicBezTo>
                <a:lnTo>
                  <a:pt x="58000" y="33000"/>
                </a:lnTo>
                <a:cubicBezTo>
                  <a:pt x="59175" y="31825"/>
                  <a:pt x="60683" y="31238"/>
                  <a:pt x="62524" y="31238"/>
                </a:cubicBezTo>
                <a:lnTo>
                  <a:pt x="62524" y="31238"/>
                </a:lnTo>
                <a:cubicBezTo>
                  <a:pt x="64333" y="31238"/>
                  <a:pt x="65825" y="31825"/>
                  <a:pt x="67000" y="33000"/>
                </a:cubicBezTo>
                <a:lnTo>
                  <a:pt x="67000" y="33000"/>
                </a:lnTo>
                <a:cubicBezTo>
                  <a:pt x="68175" y="34175"/>
                  <a:pt x="68762" y="35683"/>
                  <a:pt x="68762" y="37524"/>
                </a:cubicBezTo>
                <a:lnTo>
                  <a:pt x="68762" y="37524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0134549894-15"/>
          <p:cNvSpPr/>
          <p:nvPr/>
        </p:nvSpPr>
        <p:spPr>
          <a:xfrm>
            <a:off x="4475631" y="3390910"/>
            <a:ext cx="952262" cy="10189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19045" algn="in">
            <a:solidFill>
              <a:srgbClr val="CBD5E1"/>
            </a:solidFill>
            <a:prstDash val="sysDash"/>
          </a:ln>
        </p:spPr>
        <p:txBody>
          <a:bodyPr/>
          <a:lstStyle/>
          <a:p/>
        </p:txBody>
      </p:sp>
      <p:sp>
        <p:nvSpPr>
          <p:cNvPr id="13" name="el-1780134549901-29"/>
          <p:cNvSpPr/>
          <p:nvPr/>
        </p:nvSpPr>
        <p:spPr>
          <a:xfrm>
            <a:off x="4826764" y="3601188"/>
            <a:ext cx="249996" cy="26507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9200" y="0"/>
                </a:moveTo>
                <a:lnTo>
                  <a:pt x="49200" y="0"/>
                </a:lnTo>
                <a:cubicBezTo>
                  <a:pt x="50167" y="0"/>
                  <a:pt x="51067" y="190"/>
                  <a:pt x="51900" y="571"/>
                </a:cubicBezTo>
                <a:lnTo>
                  <a:pt x="51900" y="571"/>
                </a:lnTo>
                <a:lnTo>
                  <a:pt x="90650" y="16190"/>
                </a:lnTo>
                <a:cubicBezTo>
                  <a:pt x="92983" y="17111"/>
                  <a:pt x="94833" y="18556"/>
                  <a:pt x="96200" y="20524"/>
                </a:cubicBezTo>
                <a:lnTo>
                  <a:pt x="96200" y="20524"/>
                </a:lnTo>
                <a:cubicBezTo>
                  <a:pt x="97700" y="22460"/>
                  <a:pt x="98450" y="24730"/>
                  <a:pt x="98450" y="27333"/>
                </a:cubicBezTo>
                <a:lnTo>
                  <a:pt x="98450" y="27333"/>
                </a:lnTo>
                <a:cubicBezTo>
                  <a:pt x="98583" y="33968"/>
                  <a:pt x="97417" y="41778"/>
                  <a:pt x="94950" y="50762"/>
                </a:cubicBezTo>
                <a:lnTo>
                  <a:pt x="94950" y="50762"/>
                </a:lnTo>
                <a:cubicBezTo>
                  <a:pt x="92483" y="59746"/>
                  <a:pt x="88033" y="68476"/>
                  <a:pt x="81600" y="76952"/>
                </a:cubicBezTo>
                <a:lnTo>
                  <a:pt x="81600" y="76952"/>
                </a:lnTo>
                <a:cubicBezTo>
                  <a:pt x="75333" y="85556"/>
                  <a:pt x="66317" y="92651"/>
                  <a:pt x="54550" y="98238"/>
                </a:cubicBezTo>
                <a:lnTo>
                  <a:pt x="54550" y="98238"/>
                </a:lnTo>
                <a:cubicBezTo>
                  <a:pt x="50983" y="99794"/>
                  <a:pt x="47433" y="99794"/>
                  <a:pt x="43900" y="98238"/>
                </a:cubicBezTo>
                <a:lnTo>
                  <a:pt x="43900" y="98238"/>
                </a:lnTo>
                <a:cubicBezTo>
                  <a:pt x="32133" y="92651"/>
                  <a:pt x="23100" y="85556"/>
                  <a:pt x="16800" y="76952"/>
                </a:cubicBezTo>
                <a:lnTo>
                  <a:pt x="16800" y="76952"/>
                </a:lnTo>
                <a:cubicBezTo>
                  <a:pt x="10400" y="68476"/>
                  <a:pt x="5967" y="59746"/>
                  <a:pt x="3500" y="50762"/>
                </a:cubicBezTo>
                <a:lnTo>
                  <a:pt x="3500" y="50762"/>
                </a:lnTo>
                <a:cubicBezTo>
                  <a:pt x="1033" y="41778"/>
                  <a:pt x="-133" y="33968"/>
                  <a:pt x="0" y="27333"/>
                </a:cubicBezTo>
                <a:lnTo>
                  <a:pt x="0" y="27333"/>
                </a:lnTo>
                <a:cubicBezTo>
                  <a:pt x="0" y="24730"/>
                  <a:pt x="750" y="22460"/>
                  <a:pt x="2250" y="20524"/>
                </a:cubicBezTo>
                <a:lnTo>
                  <a:pt x="2250" y="20524"/>
                </a:lnTo>
                <a:cubicBezTo>
                  <a:pt x="3617" y="18556"/>
                  <a:pt x="5467" y="17111"/>
                  <a:pt x="7800" y="16190"/>
                </a:cubicBezTo>
                <a:lnTo>
                  <a:pt x="7800" y="16190"/>
                </a:lnTo>
                <a:lnTo>
                  <a:pt x="46550" y="571"/>
                </a:lnTo>
                <a:cubicBezTo>
                  <a:pt x="47383" y="190"/>
                  <a:pt x="48267" y="0"/>
                  <a:pt x="49200" y="0"/>
                </a:cubicBezTo>
                <a:lnTo>
                  <a:pt x="49200" y="0"/>
                </a:lnTo>
                <a:close/>
                <a:moveTo>
                  <a:pt x="49200" y="13095"/>
                </a:moveTo>
                <a:lnTo>
                  <a:pt x="49200" y="13095"/>
                </a:lnTo>
                <a:lnTo>
                  <a:pt x="49200" y="86905"/>
                </a:lnTo>
                <a:cubicBezTo>
                  <a:pt x="58500" y="82365"/>
                  <a:pt x="65817" y="76571"/>
                  <a:pt x="71150" y="69524"/>
                </a:cubicBezTo>
                <a:lnTo>
                  <a:pt x="71150" y="69524"/>
                </a:lnTo>
                <a:cubicBezTo>
                  <a:pt x="76350" y="62508"/>
                  <a:pt x="80050" y="55286"/>
                  <a:pt x="82250" y="47857"/>
                </a:cubicBezTo>
                <a:lnTo>
                  <a:pt x="82250" y="47857"/>
                </a:lnTo>
                <a:cubicBezTo>
                  <a:pt x="84283" y="40302"/>
                  <a:pt x="85300" y="33524"/>
                  <a:pt x="85300" y="27524"/>
                </a:cubicBezTo>
                <a:lnTo>
                  <a:pt x="85300" y="27524"/>
                </a:lnTo>
                <a:lnTo>
                  <a:pt x="49200" y="13095"/>
                </a:lnTo>
                <a:lnTo>
                  <a:pt x="49200" y="13095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0134549894-16"/>
          <p:cNvSpPr/>
          <p:nvPr/>
        </p:nvSpPr>
        <p:spPr>
          <a:xfrm>
            <a:off x="5618345" y="3390910"/>
            <a:ext cx="952262" cy="10189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19045" algn="in">
            <a:solidFill>
              <a:srgbClr val="CBD5E1"/>
            </a:solidFill>
            <a:prstDash val="sysDash"/>
          </a:ln>
        </p:spPr>
        <p:txBody>
          <a:bodyPr/>
          <a:lstStyle/>
          <a:p/>
        </p:txBody>
      </p:sp>
      <p:sp>
        <p:nvSpPr>
          <p:cNvPr id="15" name="el-1780134549901-30"/>
          <p:cNvSpPr/>
          <p:nvPr/>
        </p:nvSpPr>
        <p:spPr>
          <a:xfrm>
            <a:off x="5961159" y="3600407"/>
            <a:ext cx="266633" cy="26663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81238" y="40619"/>
                </a:moveTo>
                <a:lnTo>
                  <a:pt x="81238" y="40619"/>
                </a:lnTo>
                <a:cubicBezTo>
                  <a:pt x="81111" y="49730"/>
                  <a:pt x="78508" y="57746"/>
                  <a:pt x="73429" y="64667"/>
                </a:cubicBezTo>
                <a:lnTo>
                  <a:pt x="73429" y="64667"/>
                </a:lnTo>
                <a:lnTo>
                  <a:pt x="98238" y="89238"/>
                </a:lnTo>
                <a:cubicBezTo>
                  <a:pt x="99413" y="90540"/>
                  <a:pt x="100000" y="92048"/>
                  <a:pt x="100000" y="93762"/>
                </a:cubicBezTo>
                <a:lnTo>
                  <a:pt x="100000" y="93762"/>
                </a:lnTo>
                <a:cubicBezTo>
                  <a:pt x="100000" y="95444"/>
                  <a:pt x="99413" y="96937"/>
                  <a:pt x="98238" y="98238"/>
                </a:cubicBezTo>
                <a:lnTo>
                  <a:pt x="98238" y="98238"/>
                </a:lnTo>
                <a:cubicBezTo>
                  <a:pt x="96937" y="99413"/>
                  <a:pt x="95444" y="100000"/>
                  <a:pt x="93762" y="100000"/>
                </a:cubicBezTo>
                <a:lnTo>
                  <a:pt x="93762" y="100000"/>
                </a:lnTo>
                <a:cubicBezTo>
                  <a:pt x="92048" y="100000"/>
                  <a:pt x="90540" y="99413"/>
                  <a:pt x="89238" y="98238"/>
                </a:cubicBezTo>
                <a:lnTo>
                  <a:pt x="89238" y="98238"/>
                </a:lnTo>
                <a:lnTo>
                  <a:pt x="64667" y="73429"/>
                </a:lnTo>
                <a:cubicBezTo>
                  <a:pt x="57746" y="78508"/>
                  <a:pt x="49730" y="81111"/>
                  <a:pt x="40619" y="81238"/>
                </a:cubicBezTo>
                <a:lnTo>
                  <a:pt x="40619" y="81238"/>
                </a:lnTo>
                <a:cubicBezTo>
                  <a:pt x="29159" y="80984"/>
                  <a:pt x="19587" y="77016"/>
                  <a:pt x="11905" y="69333"/>
                </a:cubicBezTo>
                <a:lnTo>
                  <a:pt x="11905" y="69333"/>
                </a:lnTo>
                <a:cubicBezTo>
                  <a:pt x="4222" y="61651"/>
                  <a:pt x="254" y="52079"/>
                  <a:pt x="0" y="40619"/>
                </a:cubicBezTo>
                <a:lnTo>
                  <a:pt x="0" y="40619"/>
                </a:lnTo>
                <a:cubicBezTo>
                  <a:pt x="254" y="29159"/>
                  <a:pt x="4222" y="19587"/>
                  <a:pt x="11905" y="11905"/>
                </a:cubicBezTo>
                <a:lnTo>
                  <a:pt x="11905" y="11905"/>
                </a:lnTo>
                <a:cubicBezTo>
                  <a:pt x="19587" y="4222"/>
                  <a:pt x="29159" y="254"/>
                  <a:pt x="40619" y="0"/>
                </a:cubicBezTo>
                <a:lnTo>
                  <a:pt x="40619" y="0"/>
                </a:lnTo>
                <a:cubicBezTo>
                  <a:pt x="52079" y="254"/>
                  <a:pt x="61651" y="4222"/>
                  <a:pt x="69333" y="11905"/>
                </a:cubicBezTo>
                <a:lnTo>
                  <a:pt x="69333" y="11905"/>
                </a:lnTo>
                <a:cubicBezTo>
                  <a:pt x="77016" y="19587"/>
                  <a:pt x="80984" y="29159"/>
                  <a:pt x="81238" y="40619"/>
                </a:cubicBezTo>
                <a:lnTo>
                  <a:pt x="81238" y="40619"/>
                </a:lnTo>
                <a:close/>
                <a:moveTo>
                  <a:pt x="40619" y="68762"/>
                </a:moveTo>
                <a:lnTo>
                  <a:pt x="40619" y="68762"/>
                </a:lnTo>
                <a:cubicBezTo>
                  <a:pt x="45698" y="68762"/>
                  <a:pt x="50381" y="67524"/>
                  <a:pt x="54667" y="65048"/>
                </a:cubicBezTo>
                <a:lnTo>
                  <a:pt x="54667" y="65048"/>
                </a:lnTo>
                <a:lnTo>
                  <a:pt x="54667" y="65048"/>
                </a:lnTo>
                <a:cubicBezTo>
                  <a:pt x="58984" y="62571"/>
                  <a:pt x="62444" y="59111"/>
                  <a:pt x="65048" y="54667"/>
                </a:cubicBezTo>
                <a:lnTo>
                  <a:pt x="65048" y="54667"/>
                </a:lnTo>
                <a:cubicBezTo>
                  <a:pt x="67524" y="50254"/>
                  <a:pt x="68762" y="45571"/>
                  <a:pt x="68762" y="40619"/>
                </a:cubicBezTo>
                <a:lnTo>
                  <a:pt x="68762" y="40619"/>
                </a:lnTo>
                <a:cubicBezTo>
                  <a:pt x="68762" y="35667"/>
                  <a:pt x="67524" y="30984"/>
                  <a:pt x="65048" y="26571"/>
                </a:cubicBezTo>
                <a:lnTo>
                  <a:pt x="65048" y="26571"/>
                </a:lnTo>
                <a:cubicBezTo>
                  <a:pt x="62444" y="22127"/>
                  <a:pt x="58984" y="18667"/>
                  <a:pt x="54667" y="16190"/>
                </a:cubicBezTo>
                <a:lnTo>
                  <a:pt x="54667" y="16190"/>
                </a:lnTo>
                <a:cubicBezTo>
                  <a:pt x="50381" y="13746"/>
                  <a:pt x="45698" y="12524"/>
                  <a:pt x="40619" y="12524"/>
                </a:cubicBezTo>
                <a:lnTo>
                  <a:pt x="40619" y="12524"/>
                </a:lnTo>
                <a:cubicBezTo>
                  <a:pt x="35540" y="12524"/>
                  <a:pt x="30857" y="13746"/>
                  <a:pt x="26571" y="16190"/>
                </a:cubicBezTo>
                <a:lnTo>
                  <a:pt x="26571" y="16190"/>
                </a:lnTo>
                <a:cubicBezTo>
                  <a:pt x="22254" y="18667"/>
                  <a:pt x="18794" y="22127"/>
                  <a:pt x="16190" y="26571"/>
                </a:cubicBezTo>
                <a:lnTo>
                  <a:pt x="16190" y="26571"/>
                </a:lnTo>
                <a:cubicBezTo>
                  <a:pt x="13746" y="30984"/>
                  <a:pt x="12524" y="35667"/>
                  <a:pt x="12524" y="40619"/>
                </a:cubicBezTo>
                <a:lnTo>
                  <a:pt x="12524" y="40619"/>
                </a:lnTo>
                <a:cubicBezTo>
                  <a:pt x="12524" y="45571"/>
                  <a:pt x="13746" y="50254"/>
                  <a:pt x="16190" y="54667"/>
                </a:cubicBezTo>
                <a:lnTo>
                  <a:pt x="16190" y="54667"/>
                </a:lnTo>
                <a:cubicBezTo>
                  <a:pt x="18794" y="59111"/>
                  <a:pt x="22254" y="62571"/>
                  <a:pt x="26571" y="65048"/>
                </a:cubicBezTo>
                <a:lnTo>
                  <a:pt x="26571" y="65048"/>
                </a:lnTo>
                <a:cubicBezTo>
                  <a:pt x="30857" y="67524"/>
                  <a:pt x="35540" y="68762"/>
                  <a:pt x="40619" y="68762"/>
                </a:cubicBezTo>
                <a:lnTo>
                  <a:pt x="40619" y="68762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0134549894-17"/>
          <p:cNvSpPr/>
          <p:nvPr/>
        </p:nvSpPr>
        <p:spPr>
          <a:xfrm>
            <a:off x="6761059" y="3390910"/>
            <a:ext cx="952262" cy="101892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19045" algn="in">
            <a:solidFill>
              <a:srgbClr val="CBD5E1"/>
            </a:solidFill>
            <a:prstDash val="sysDash"/>
          </a:ln>
        </p:spPr>
        <p:txBody>
          <a:bodyPr/>
          <a:lstStyle/>
          <a:p/>
        </p:txBody>
      </p:sp>
      <p:sp>
        <p:nvSpPr>
          <p:cNvPr id="17" name="el-1780134549902-31"/>
          <p:cNvSpPr/>
          <p:nvPr/>
        </p:nvSpPr>
        <p:spPr>
          <a:xfrm>
            <a:off x="7103874" y="3600407"/>
            <a:ext cx="266633" cy="26663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5619" y="68762"/>
                </a:moveTo>
                <a:lnTo>
                  <a:pt x="65619" y="68762"/>
                </a:lnTo>
                <a:cubicBezTo>
                  <a:pt x="75397" y="68508"/>
                  <a:pt x="83476" y="65111"/>
                  <a:pt x="89857" y="58571"/>
                </a:cubicBezTo>
                <a:lnTo>
                  <a:pt x="89857" y="58571"/>
                </a:lnTo>
                <a:lnTo>
                  <a:pt x="89857" y="58571"/>
                </a:lnTo>
                <a:cubicBezTo>
                  <a:pt x="96365" y="52190"/>
                  <a:pt x="99746" y="44127"/>
                  <a:pt x="100000" y="34381"/>
                </a:cubicBezTo>
                <a:lnTo>
                  <a:pt x="100000" y="34381"/>
                </a:lnTo>
                <a:cubicBezTo>
                  <a:pt x="99746" y="24603"/>
                  <a:pt x="96365" y="16524"/>
                  <a:pt x="89857" y="10143"/>
                </a:cubicBezTo>
                <a:lnTo>
                  <a:pt x="89857" y="10143"/>
                </a:lnTo>
                <a:cubicBezTo>
                  <a:pt x="83476" y="3635"/>
                  <a:pt x="75397" y="254"/>
                  <a:pt x="65619" y="0"/>
                </a:cubicBezTo>
                <a:lnTo>
                  <a:pt x="65619" y="0"/>
                </a:lnTo>
                <a:cubicBezTo>
                  <a:pt x="55873" y="254"/>
                  <a:pt x="47810" y="3635"/>
                  <a:pt x="41429" y="10143"/>
                </a:cubicBezTo>
                <a:lnTo>
                  <a:pt x="41429" y="10143"/>
                </a:lnTo>
                <a:cubicBezTo>
                  <a:pt x="34889" y="16524"/>
                  <a:pt x="31492" y="24603"/>
                  <a:pt x="31238" y="34381"/>
                </a:cubicBezTo>
                <a:lnTo>
                  <a:pt x="31238" y="34381"/>
                </a:lnTo>
                <a:cubicBezTo>
                  <a:pt x="31238" y="38032"/>
                  <a:pt x="31762" y="41540"/>
                  <a:pt x="32810" y="44905"/>
                </a:cubicBezTo>
                <a:lnTo>
                  <a:pt x="32810" y="44905"/>
                </a:lnTo>
                <a:lnTo>
                  <a:pt x="1381" y="76381"/>
                </a:lnTo>
                <a:cubicBezTo>
                  <a:pt x="460" y="77270"/>
                  <a:pt x="0" y="78365"/>
                  <a:pt x="0" y="79667"/>
                </a:cubicBezTo>
                <a:lnTo>
                  <a:pt x="0" y="79667"/>
                </a:lnTo>
                <a:lnTo>
                  <a:pt x="0" y="95333"/>
                </a:lnTo>
                <a:cubicBezTo>
                  <a:pt x="254" y="98190"/>
                  <a:pt x="1810" y="99746"/>
                  <a:pt x="4667" y="100000"/>
                </a:cubicBezTo>
                <a:lnTo>
                  <a:pt x="4667" y="100000"/>
                </a:lnTo>
                <a:lnTo>
                  <a:pt x="20333" y="100000"/>
                </a:lnTo>
                <a:cubicBezTo>
                  <a:pt x="23190" y="99746"/>
                  <a:pt x="24746" y="98190"/>
                  <a:pt x="25000" y="95333"/>
                </a:cubicBezTo>
                <a:lnTo>
                  <a:pt x="25000" y="95333"/>
                </a:lnTo>
                <a:lnTo>
                  <a:pt x="25000" y="87524"/>
                </a:lnTo>
                <a:lnTo>
                  <a:pt x="32810" y="87524"/>
                </a:lnTo>
                <a:cubicBezTo>
                  <a:pt x="35667" y="87238"/>
                  <a:pt x="37238" y="85667"/>
                  <a:pt x="37524" y="82810"/>
                </a:cubicBezTo>
                <a:lnTo>
                  <a:pt x="37524" y="82810"/>
                </a:lnTo>
                <a:lnTo>
                  <a:pt x="37524" y="75000"/>
                </a:lnTo>
                <a:lnTo>
                  <a:pt x="45333" y="75000"/>
                </a:lnTo>
                <a:cubicBezTo>
                  <a:pt x="46635" y="75000"/>
                  <a:pt x="47730" y="74540"/>
                  <a:pt x="48619" y="73619"/>
                </a:cubicBezTo>
                <a:lnTo>
                  <a:pt x="48619" y="73619"/>
                </a:lnTo>
                <a:lnTo>
                  <a:pt x="55095" y="67190"/>
                </a:lnTo>
                <a:cubicBezTo>
                  <a:pt x="58460" y="68238"/>
                  <a:pt x="61968" y="68762"/>
                  <a:pt x="65619" y="68762"/>
                </a:cubicBezTo>
                <a:lnTo>
                  <a:pt x="65619" y="68762"/>
                </a:lnTo>
                <a:close/>
                <a:moveTo>
                  <a:pt x="73429" y="18762"/>
                </a:moveTo>
                <a:lnTo>
                  <a:pt x="73429" y="18762"/>
                </a:lnTo>
                <a:cubicBezTo>
                  <a:pt x="76444" y="18889"/>
                  <a:pt x="78730" y="20190"/>
                  <a:pt x="80286" y="22667"/>
                </a:cubicBezTo>
                <a:lnTo>
                  <a:pt x="80286" y="22667"/>
                </a:lnTo>
                <a:cubicBezTo>
                  <a:pt x="81587" y="25270"/>
                  <a:pt x="81587" y="27873"/>
                  <a:pt x="80286" y="30476"/>
                </a:cubicBezTo>
                <a:lnTo>
                  <a:pt x="80286" y="30476"/>
                </a:lnTo>
                <a:cubicBezTo>
                  <a:pt x="78730" y="32952"/>
                  <a:pt x="76444" y="34254"/>
                  <a:pt x="73429" y="34381"/>
                </a:cubicBezTo>
                <a:lnTo>
                  <a:pt x="73429" y="34381"/>
                </a:lnTo>
                <a:cubicBezTo>
                  <a:pt x="70444" y="34254"/>
                  <a:pt x="68175" y="32952"/>
                  <a:pt x="66619" y="30476"/>
                </a:cubicBezTo>
                <a:lnTo>
                  <a:pt x="66619" y="30476"/>
                </a:lnTo>
                <a:cubicBezTo>
                  <a:pt x="65317" y="27873"/>
                  <a:pt x="65317" y="25270"/>
                  <a:pt x="66619" y="22667"/>
                </a:cubicBezTo>
                <a:lnTo>
                  <a:pt x="66619" y="22667"/>
                </a:lnTo>
                <a:cubicBezTo>
                  <a:pt x="68175" y="20190"/>
                  <a:pt x="70444" y="18889"/>
                  <a:pt x="73429" y="18762"/>
                </a:cubicBezTo>
                <a:lnTo>
                  <a:pt x="73429" y="18762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8" name="el-1780134549891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-1780134549892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9892-6"/>
          <p:cNvSpPr txBox="1"/>
          <p:nvPr/>
        </p:nvSpPr>
        <p:spPr>
          <a:xfrm>
            <a:off x="1212051" y="-3904"/>
            <a:ext cx="2056886" cy="6856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35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用户界面</a:t>
            </a:r>
            <a:endParaRPr sz="35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0134549892-7"/>
          <p:cNvSpPr txBox="1"/>
          <p:nvPr/>
        </p:nvSpPr>
        <p:spPr>
          <a:xfrm>
            <a:off x="3268936" y="210355"/>
            <a:ext cx="1469757" cy="257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 INTERFACE</a:t>
            </a:r>
            <a:endParaRPr sz="13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0134549896-18"/>
          <p:cNvSpPr txBox="1"/>
          <p:nvPr/>
        </p:nvSpPr>
        <p:spPr>
          <a:xfrm>
            <a:off x="1623606" y="2733849"/>
            <a:ext cx="771332" cy="257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登录界面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0134549896-19"/>
          <p:cNvSpPr txBox="1"/>
          <p:nvPr/>
        </p:nvSpPr>
        <p:spPr>
          <a:xfrm>
            <a:off x="4118533" y="2733849"/>
            <a:ext cx="1285554" cy="257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股票查看主界面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0134549896-20"/>
          <p:cNvSpPr txBox="1"/>
          <p:nvPr/>
        </p:nvSpPr>
        <p:spPr>
          <a:xfrm>
            <a:off x="7041977" y="2733849"/>
            <a:ext cx="942739" cy="257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涨跌停设置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0134549896-21"/>
          <p:cNvSpPr txBox="1"/>
          <p:nvPr/>
        </p:nvSpPr>
        <p:spPr>
          <a:xfrm>
            <a:off x="9879717" y="2733849"/>
            <a:ext cx="771332" cy="257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交易控制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0134549896-22"/>
          <p:cNvSpPr txBox="1"/>
          <p:nvPr/>
        </p:nvSpPr>
        <p:spPr>
          <a:xfrm>
            <a:off x="4608947" y="3943221"/>
            <a:ext cx="771332" cy="257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0134549896-23"/>
          <p:cNvSpPr txBox="1"/>
          <p:nvPr/>
        </p:nvSpPr>
        <p:spPr>
          <a:xfrm>
            <a:off x="5751662" y="3943221"/>
            <a:ext cx="771332" cy="257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审计日志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0134549896-24"/>
          <p:cNvSpPr txBox="1"/>
          <p:nvPr/>
        </p:nvSpPr>
        <p:spPr>
          <a:xfrm>
            <a:off x="6894376" y="3943221"/>
            <a:ext cx="771332" cy="257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密码修改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0134549892-8"/>
          <p:cNvSpPr txBox="1"/>
          <p:nvPr/>
        </p:nvSpPr>
        <p:spPr>
          <a:xfrm>
            <a:off x="609448" y="4676463"/>
            <a:ext cx="1097005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以上界面均使用占位符示意，实际 UI 原型图详见系统设计报告第 5 章</a:t>
            </a:r>
            <a:endParaRPr sz="119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0134549892-9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0134549892-10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el-1780134549891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9941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9944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9945-9"/>
          <p:cNvSpPr/>
          <p:nvPr/>
        </p:nvSpPr>
        <p:spPr>
          <a:xfrm>
            <a:off x="685629" y="524601"/>
            <a:ext cx="5313621" cy="29234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0134549946-21"/>
          <p:cNvSpPr/>
          <p:nvPr/>
        </p:nvSpPr>
        <p:spPr>
          <a:xfrm>
            <a:off x="847513" y="686486"/>
            <a:ext cx="4989852" cy="133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 w="19045" algn="in">
            <a:solidFill>
              <a:srgbClr val="CBD5E1"/>
            </a:solidFill>
            <a:prstDash val="sysDash"/>
          </a:ln>
        </p:spPr>
        <p:txBody>
          <a:bodyPr/>
          <a:lstStyle/>
          <a:p/>
        </p:txBody>
      </p:sp>
      <p:sp>
        <p:nvSpPr>
          <p:cNvPr id="6" name="el-1780134550024-21"/>
          <p:cNvSpPr/>
          <p:nvPr/>
        </p:nvSpPr>
        <p:spPr>
          <a:xfrm>
            <a:off x="3171032" y="1203088"/>
            <a:ext cx="342814" cy="29996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2519" y="7042"/>
                </a:moveTo>
                <a:lnTo>
                  <a:pt x="12519" y="7042"/>
                </a:lnTo>
                <a:cubicBezTo>
                  <a:pt x="12519" y="4986"/>
                  <a:pt x="11926" y="3292"/>
                  <a:pt x="10741" y="1958"/>
                </a:cubicBezTo>
                <a:lnTo>
                  <a:pt x="10741" y="1958"/>
                </a:lnTo>
                <a:lnTo>
                  <a:pt x="10741" y="1958"/>
                </a:lnTo>
                <a:cubicBezTo>
                  <a:pt x="9580" y="653"/>
                  <a:pt x="8086" y="0"/>
                  <a:pt x="6259" y="0"/>
                </a:cubicBezTo>
                <a:lnTo>
                  <a:pt x="6259" y="0"/>
                </a:lnTo>
                <a:cubicBezTo>
                  <a:pt x="4432" y="0"/>
                  <a:pt x="2926" y="653"/>
                  <a:pt x="1741" y="1958"/>
                </a:cubicBezTo>
                <a:lnTo>
                  <a:pt x="1741" y="1958"/>
                </a:lnTo>
                <a:cubicBezTo>
                  <a:pt x="580" y="3292"/>
                  <a:pt x="0" y="4986"/>
                  <a:pt x="0" y="7042"/>
                </a:cubicBezTo>
                <a:lnTo>
                  <a:pt x="0" y="7042"/>
                </a:lnTo>
                <a:lnTo>
                  <a:pt x="0" y="80875"/>
                </a:lnTo>
                <a:cubicBezTo>
                  <a:pt x="123" y="85847"/>
                  <a:pt x="1617" y="90014"/>
                  <a:pt x="4481" y="93375"/>
                </a:cubicBezTo>
                <a:lnTo>
                  <a:pt x="4481" y="93375"/>
                </a:lnTo>
                <a:cubicBezTo>
                  <a:pt x="7494" y="96597"/>
                  <a:pt x="11210" y="98292"/>
                  <a:pt x="15630" y="98458"/>
                </a:cubicBezTo>
                <a:lnTo>
                  <a:pt x="15630" y="98458"/>
                </a:lnTo>
                <a:lnTo>
                  <a:pt x="93741" y="98458"/>
                </a:lnTo>
                <a:cubicBezTo>
                  <a:pt x="95568" y="98458"/>
                  <a:pt x="97074" y="97792"/>
                  <a:pt x="98259" y="96458"/>
                </a:cubicBezTo>
                <a:lnTo>
                  <a:pt x="98259" y="96458"/>
                </a:lnTo>
                <a:cubicBezTo>
                  <a:pt x="99420" y="95153"/>
                  <a:pt x="100000" y="93472"/>
                  <a:pt x="100000" y="91417"/>
                </a:cubicBezTo>
                <a:lnTo>
                  <a:pt x="100000" y="91417"/>
                </a:lnTo>
                <a:cubicBezTo>
                  <a:pt x="100000" y="89361"/>
                  <a:pt x="99420" y="87667"/>
                  <a:pt x="98259" y="86333"/>
                </a:cubicBezTo>
                <a:lnTo>
                  <a:pt x="98259" y="86333"/>
                </a:lnTo>
                <a:cubicBezTo>
                  <a:pt x="97074" y="85028"/>
                  <a:pt x="95568" y="84375"/>
                  <a:pt x="93741" y="84375"/>
                </a:cubicBezTo>
                <a:lnTo>
                  <a:pt x="93741" y="84375"/>
                </a:lnTo>
                <a:lnTo>
                  <a:pt x="15630" y="84375"/>
                </a:lnTo>
                <a:cubicBezTo>
                  <a:pt x="13679" y="84236"/>
                  <a:pt x="12642" y="83069"/>
                  <a:pt x="12519" y="80875"/>
                </a:cubicBezTo>
                <a:lnTo>
                  <a:pt x="12519" y="80875"/>
                </a:lnTo>
                <a:lnTo>
                  <a:pt x="12519" y="7042"/>
                </a:lnTo>
                <a:close/>
                <a:moveTo>
                  <a:pt x="92000" y="26167"/>
                </a:moveTo>
                <a:lnTo>
                  <a:pt x="92000" y="26167"/>
                </a:lnTo>
                <a:cubicBezTo>
                  <a:pt x="93160" y="24694"/>
                  <a:pt x="93741" y="23000"/>
                  <a:pt x="93741" y="21083"/>
                </a:cubicBezTo>
                <a:lnTo>
                  <a:pt x="93741" y="21083"/>
                </a:lnTo>
                <a:lnTo>
                  <a:pt x="93741" y="21083"/>
                </a:lnTo>
                <a:cubicBezTo>
                  <a:pt x="93741" y="19194"/>
                  <a:pt x="93160" y="17514"/>
                  <a:pt x="92000" y="16042"/>
                </a:cubicBezTo>
                <a:lnTo>
                  <a:pt x="92000" y="16042"/>
                </a:lnTo>
                <a:cubicBezTo>
                  <a:pt x="90691" y="14736"/>
                  <a:pt x="89198" y="14083"/>
                  <a:pt x="87519" y="14083"/>
                </a:cubicBezTo>
                <a:lnTo>
                  <a:pt x="87519" y="14083"/>
                </a:lnTo>
                <a:cubicBezTo>
                  <a:pt x="85815" y="14083"/>
                  <a:pt x="84309" y="14736"/>
                  <a:pt x="83000" y="16042"/>
                </a:cubicBezTo>
                <a:lnTo>
                  <a:pt x="83000" y="16042"/>
                </a:lnTo>
                <a:lnTo>
                  <a:pt x="62519" y="39333"/>
                </a:lnTo>
                <a:lnTo>
                  <a:pt x="51370" y="26583"/>
                </a:lnTo>
                <a:cubicBezTo>
                  <a:pt x="50062" y="25278"/>
                  <a:pt x="48568" y="24625"/>
                  <a:pt x="46889" y="24625"/>
                </a:cubicBezTo>
                <a:lnTo>
                  <a:pt x="46889" y="24625"/>
                </a:lnTo>
                <a:cubicBezTo>
                  <a:pt x="45185" y="24625"/>
                  <a:pt x="43679" y="25278"/>
                  <a:pt x="42370" y="26583"/>
                </a:cubicBezTo>
                <a:lnTo>
                  <a:pt x="42370" y="26583"/>
                </a:lnTo>
                <a:lnTo>
                  <a:pt x="20519" y="51208"/>
                </a:lnTo>
                <a:cubicBezTo>
                  <a:pt x="19333" y="52653"/>
                  <a:pt x="18741" y="54333"/>
                  <a:pt x="18741" y="56250"/>
                </a:cubicBezTo>
                <a:lnTo>
                  <a:pt x="18741" y="56250"/>
                </a:lnTo>
                <a:cubicBezTo>
                  <a:pt x="18741" y="58167"/>
                  <a:pt x="19333" y="59847"/>
                  <a:pt x="20519" y="61292"/>
                </a:cubicBezTo>
                <a:lnTo>
                  <a:pt x="20519" y="61292"/>
                </a:lnTo>
                <a:cubicBezTo>
                  <a:pt x="21802" y="62625"/>
                  <a:pt x="23296" y="63292"/>
                  <a:pt x="25000" y="63292"/>
                </a:cubicBezTo>
                <a:lnTo>
                  <a:pt x="25000" y="63292"/>
                </a:lnTo>
                <a:cubicBezTo>
                  <a:pt x="26704" y="63292"/>
                  <a:pt x="28198" y="62625"/>
                  <a:pt x="29481" y="61292"/>
                </a:cubicBezTo>
                <a:lnTo>
                  <a:pt x="29481" y="61292"/>
                </a:lnTo>
                <a:lnTo>
                  <a:pt x="46889" y="41542"/>
                </a:lnTo>
                <a:lnTo>
                  <a:pt x="58000" y="54292"/>
                </a:lnTo>
                <a:cubicBezTo>
                  <a:pt x="59309" y="55597"/>
                  <a:pt x="60815" y="56250"/>
                  <a:pt x="62519" y="56250"/>
                </a:cubicBezTo>
                <a:lnTo>
                  <a:pt x="62519" y="56250"/>
                </a:lnTo>
                <a:cubicBezTo>
                  <a:pt x="64198" y="56250"/>
                  <a:pt x="65691" y="55597"/>
                  <a:pt x="67000" y="54292"/>
                </a:cubicBezTo>
                <a:lnTo>
                  <a:pt x="67000" y="54292"/>
                </a:lnTo>
                <a:lnTo>
                  <a:pt x="92000" y="26167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0134549945-10"/>
          <p:cNvSpPr/>
          <p:nvPr/>
        </p:nvSpPr>
        <p:spPr>
          <a:xfrm>
            <a:off x="6189702" y="524601"/>
            <a:ext cx="5313621" cy="29234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0134549947-22"/>
          <p:cNvSpPr/>
          <p:nvPr/>
        </p:nvSpPr>
        <p:spPr>
          <a:xfrm>
            <a:off x="6351587" y="686486"/>
            <a:ext cx="4989852" cy="133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 w="19045" algn="in">
            <a:solidFill>
              <a:srgbClr val="CBD5E1"/>
            </a:solidFill>
            <a:prstDash val="sysDash"/>
          </a:ln>
        </p:spPr>
        <p:txBody>
          <a:bodyPr/>
          <a:lstStyle/>
          <a:p/>
        </p:txBody>
      </p:sp>
      <p:sp>
        <p:nvSpPr>
          <p:cNvPr id="9" name="el-1780134550024-22"/>
          <p:cNvSpPr/>
          <p:nvPr/>
        </p:nvSpPr>
        <p:spPr>
          <a:xfrm>
            <a:off x="8717957" y="1224514"/>
            <a:ext cx="257111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8900" y="14500"/>
                </a:moveTo>
                <a:lnTo>
                  <a:pt x="98900" y="14500"/>
                </a:lnTo>
                <a:cubicBezTo>
                  <a:pt x="100467" y="12733"/>
                  <a:pt x="101250" y="10717"/>
                  <a:pt x="101250" y="8450"/>
                </a:cubicBezTo>
                <a:lnTo>
                  <a:pt x="101250" y="8450"/>
                </a:lnTo>
                <a:lnTo>
                  <a:pt x="101250" y="8450"/>
                </a:lnTo>
                <a:cubicBezTo>
                  <a:pt x="101250" y="6150"/>
                  <a:pt x="100467" y="4117"/>
                  <a:pt x="98900" y="2350"/>
                </a:cubicBezTo>
                <a:lnTo>
                  <a:pt x="98900" y="2350"/>
                </a:lnTo>
                <a:cubicBezTo>
                  <a:pt x="97133" y="783"/>
                  <a:pt x="95100" y="0"/>
                  <a:pt x="92800" y="0"/>
                </a:cubicBezTo>
                <a:lnTo>
                  <a:pt x="92800" y="0"/>
                </a:lnTo>
                <a:cubicBezTo>
                  <a:pt x="90533" y="0"/>
                  <a:pt x="88517" y="783"/>
                  <a:pt x="86750" y="2350"/>
                </a:cubicBezTo>
                <a:lnTo>
                  <a:pt x="86750" y="2350"/>
                </a:lnTo>
                <a:lnTo>
                  <a:pt x="2350" y="86750"/>
                </a:lnTo>
                <a:cubicBezTo>
                  <a:pt x="783" y="88517"/>
                  <a:pt x="0" y="90533"/>
                  <a:pt x="0" y="92800"/>
                </a:cubicBezTo>
                <a:lnTo>
                  <a:pt x="0" y="92800"/>
                </a:lnTo>
                <a:cubicBezTo>
                  <a:pt x="0" y="95100"/>
                  <a:pt x="783" y="97133"/>
                  <a:pt x="2350" y="98900"/>
                </a:cubicBezTo>
                <a:lnTo>
                  <a:pt x="2350" y="98900"/>
                </a:lnTo>
                <a:cubicBezTo>
                  <a:pt x="4117" y="100467"/>
                  <a:pt x="6150" y="101250"/>
                  <a:pt x="8450" y="101250"/>
                </a:cubicBezTo>
                <a:lnTo>
                  <a:pt x="8450" y="101250"/>
                </a:lnTo>
                <a:cubicBezTo>
                  <a:pt x="10717" y="101250"/>
                  <a:pt x="12733" y="100467"/>
                  <a:pt x="14500" y="98900"/>
                </a:cubicBezTo>
                <a:lnTo>
                  <a:pt x="14500" y="98900"/>
                </a:lnTo>
                <a:lnTo>
                  <a:pt x="98900" y="14500"/>
                </a:lnTo>
                <a:close/>
                <a:moveTo>
                  <a:pt x="33750" y="16900"/>
                </a:moveTo>
                <a:lnTo>
                  <a:pt x="33750" y="16900"/>
                </a:lnTo>
                <a:cubicBezTo>
                  <a:pt x="33583" y="10567"/>
                  <a:pt x="30767" y="5717"/>
                  <a:pt x="25300" y="2350"/>
                </a:cubicBezTo>
                <a:lnTo>
                  <a:pt x="25300" y="2350"/>
                </a:lnTo>
                <a:cubicBezTo>
                  <a:pt x="19700" y="-783"/>
                  <a:pt x="14083" y="-783"/>
                  <a:pt x="8450" y="2350"/>
                </a:cubicBezTo>
                <a:lnTo>
                  <a:pt x="8450" y="2350"/>
                </a:lnTo>
                <a:cubicBezTo>
                  <a:pt x="2983" y="5717"/>
                  <a:pt x="167" y="10567"/>
                  <a:pt x="0" y="16900"/>
                </a:cubicBezTo>
                <a:lnTo>
                  <a:pt x="0" y="16900"/>
                </a:lnTo>
                <a:cubicBezTo>
                  <a:pt x="167" y="23200"/>
                  <a:pt x="2983" y="28033"/>
                  <a:pt x="8450" y="31400"/>
                </a:cubicBezTo>
                <a:lnTo>
                  <a:pt x="8450" y="31400"/>
                </a:lnTo>
                <a:cubicBezTo>
                  <a:pt x="14083" y="34533"/>
                  <a:pt x="19700" y="34533"/>
                  <a:pt x="25300" y="31400"/>
                </a:cubicBezTo>
                <a:lnTo>
                  <a:pt x="25300" y="31400"/>
                </a:lnTo>
                <a:cubicBezTo>
                  <a:pt x="30767" y="28033"/>
                  <a:pt x="33583" y="23200"/>
                  <a:pt x="33750" y="16900"/>
                </a:cubicBezTo>
                <a:lnTo>
                  <a:pt x="33750" y="16900"/>
                </a:lnTo>
                <a:close/>
                <a:moveTo>
                  <a:pt x="101250" y="84400"/>
                </a:moveTo>
                <a:lnTo>
                  <a:pt x="101250" y="84400"/>
                </a:lnTo>
                <a:cubicBezTo>
                  <a:pt x="101083" y="78067"/>
                  <a:pt x="98267" y="73217"/>
                  <a:pt x="92800" y="69850"/>
                </a:cubicBezTo>
                <a:lnTo>
                  <a:pt x="92800" y="69850"/>
                </a:lnTo>
                <a:cubicBezTo>
                  <a:pt x="87200" y="66717"/>
                  <a:pt x="81583" y="66717"/>
                  <a:pt x="75950" y="69850"/>
                </a:cubicBezTo>
                <a:lnTo>
                  <a:pt x="75950" y="69850"/>
                </a:lnTo>
                <a:cubicBezTo>
                  <a:pt x="70483" y="73217"/>
                  <a:pt x="67667" y="78067"/>
                  <a:pt x="67500" y="84400"/>
                </a:cubicBezTo>
                <a:lnTo>
                  <a:pt x="67500" y="84400"/>
                </a:lnTo>
                <a:cubicBezTo>
                  <a:pt x="67667" y="90700"/>
                  <a:pt x="70483" y="95533"/>
                  <a:pt x="75950" y="98900"/>
                </a:cubicBezTo>
                <a:lnTo>
                  <a:pt x="75950" y="98900"/>
                </a:lnTo>
                <a:cubicBezTo>
                  <a:pt x="81583" y="102033"/>
                  <a:pt x="87200" y="102033"/>
                  <a:pt x="92800" y="98900"/>
                </a:cubicBezTo>
                <a:lnTo>
                  <a:pt x="92800" y="98900"/>
                </a:lnTo>
                <a:cubicBezTo>
                  <a:pt x="98267" y="95533"/>
                  <a:pt x="101083" y="90700"/>
                  <a:pt x="101250" y="84400"/>
                </a:cubicBezTo>
                <a:lnTo>
                  <a:pt x="101250" y="844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0134549945-11"/>
          <p:cNvSpPr/>
          <p:nvPr/>
        </p:nvSpPr>
        <p:spPr>
          <a:xfrm>
            <a:off x="685629" y="3638498"/>
            <a:ext cx="5313621" cy="29234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0134549947-23"/>
          <p:cNvSpPr/>
          <p:nvPr/>
        </p:nvSpPr>
        <p:spPr>
          <a:xfrm>
            <a:off x="847513" y="3800382"/>
            <a:ext cx="4989852" cy="133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 w="19045" algn="in">
            <a:solidFill>
              <a:srgbClr val="CBD5E1"/>
            </a:solidFill>
            <a:prstDash val="sysDash"/>
          </a:ln>
        </p:spPr>
        <p:txBody>
          <a:bodyPr/>
          <a:lstStyle/>
          <a:p/>
        </p:txBody>
      </p:sp>
      <p:sp>
        <p:nvSpPr>
          <p:cNvPr id="12" name="el-1780134550024-23"/>
          <p:cNvSpPr/>
          <p:nvPr/>
        </p:nvSpPr>
        <p:spPr>
          <a:xfrm>
            <a:off x="3171032" y="4295558"/>
            <a:ext cx="342814" cy="3428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100000"/>
                </a:moveTo>
                <a:lnTo>
                  <a:pt x="50000" y="100000"/>
                </a:lnTo>
                <a:cubicBezTo>
                  <a:pt x="59111" y="99877"/>
                  <a:pt x="67444" y="97667"/>
                  <a:pt x="75000" y="93370"/>
                </a:cubicBezTo>
                <a:lnTo>
                  <a:pt x="75000" y="93370"/>
                </a:lnTo>
                <a:lnTo>
                  <a:pt x="75000" y="93370"/>
                </a:lnTo>
                <a:cubicBezTo>
                  <a:pt x="82556" y="88926"/>
                  <a:pt x="88679" y="82802"/>
                  <a:pt x="93370" y="75000"/>
                </a:cubicBezTo>
                <a:lnTo>
                  <a:pt x="93370" y="75000"/>
                </a:lnTo>
                <a:cubicBezTo>
                  <a:pt x="97790" y="67049"/>
                  <a:pt x="100000" y="58716"/>
                  <a:pt x="100000" y="50000"/>
                </a:cubicBezTo>
                <a:lnTo>
                  <a:pt x="100000" y="50000"/>
                </a:lnTo>
                <a:cubicBezTo>
                  <a:pt x="100000" y="41284"/>
                  <a:pt x="97790" y="32951"/>
                  <a:pt x="93370" y="25000"/>
                </a:cubicBezTo>
                <a:lnTo>
                  <a:pt x="93370" y="25000"/>
                </a:lnTo>
                <a:cubicBezTo>
                  <a:pt x="88679" y="17198"/>
                  <a:pt x="82556" y="11074"/>
                  <a:pt x="75000" y="6630"/>
                </a:cubicBezTo>
                <a:lnTo>
                  <a:pt x="75000" y="6630"/>
                </a:lnTo>
                <a:cubicBezTo>
                  <a:pt x="67444" y="2333"/>
                  <a:pt x="59111" y="123"/>
                  <a:pt x="50000" y="0"/>
                </a:cubicBezTo>
                <a:lnTo>
                  <a:pt x="50000" y="0"/>
                </a:lnTo>
                <a:cubicBezTo>
                  <a:pt x="40889" y="123"/>
                  <a:pt x="32556" y="2333"/>
                  <a:pt x="25000" y="6630"/>
                </a:cubicBezTo>
                <a:lnTo>
                  <a:pt x="25000" y="6630"/>
                </a:lnTo>
                <a:cubicBezTo>
                  <a:pt x="17444" y="11074"/>
                  <a:pt x="11321" y="17198"/>
                  <a:pt x="6630" y="25000"/>
                </a:cubicBezTo>
                <a:lnTo>
                  <a:pt x="6630" y="25000"/>
                </a:lnTo>
                <a:cubicBezTo>
                  <a:pt x="2210" y="32951"/>
                  <a:pt x="0" y="41284"/>
                  <a:pt x="0" y="50000"/>
                </a:cubicBezTo>
                <a:lnTo>
                  <a:pt x="0" y="50000"/>
                </a:lnTo>
                <a:cubicBezTo>
                  <a:pt x="0" y="58716"/>
                  <a:pt x="2210" y="67049"/>
                  <a:pt x="6630" y="75000"/>
                </a:cubicBezTo>
                <a:lnTo>
                  <a:pt x="6630" y="75000"/>
                </a:lnTo>
                <a:cubicBezTo>
                  <a:pt x="11321" y="82802"/>
                  <a:pt x="17444" y="88926"/>
                  <a:pt x="25000" y="93370"/>
                </a:cubicBezTo>
                <a:lnTo>
                  <a:pt x="25000" y="93370"/>
                </a:lnTo>
                <a:cubicBezTo>
                  <a:pt x="32556" y="97667"/>
                  <a:pt x="40889" y="99877"/>
                  <a:pt x="50000" y="100000"/>
                </a:cubicBezTo>
                <a:lnTo>
                  <a:pt x="50000" y="100000"/>
                </a:lnTo>
                <a:close/>
                <a:moveTo>
                  <a:pt x="43741" y="37519"/>
                </a:moveTo>
                <a:lnTo>
                  <a:pt x="43741" y="37519"/>
                </a:lnTo>
                <a:lnTo>
                  <a:pt x="43741" y="62519"/>
                </a:lnTo>
                <a:cubicBezTo>
                  <a:pt x="43741" y="64321"/>
                  <a:pt x="43160" y="65815"/>
                  <a:pt x="42000" y="67000"/>
                </a:cubicBezTo>
                <a:lnTo>
                  <a:pt x="42000" y="67000"/>
                </a:lnTo>
                <a:cubicBezTo>
                  <a:pt x="40815" y="68160"/>
                  <a:pt x="39321" y="68741"/>
                  <a:pt x="37519" y="68741"/>
                </a:cubicBezTo>
                <a:lnTo>
                  <a:pt x="37519" y="68741"/>
                </a:lnTo>
                <a:cubicBezTo>
                  <a:pt x="35691" y="68741"/>
                  <a:pt x="34185" y="68160"/>
                  <a:pt x="33000" y="67000"/>
                </a:cubicBezTo>
                <a:lnTo>
                  <a:pt x="33000" y="67000"/>
                </a:lnTo>
                <a:cubicBezTo>
                  <a:pt x="31840" y="65815"/>
                  <a:pt x="31259" y="64321"/>
                  <a:pt x="31259" y="62519"/>
                </a:cubicBezTo>
                <a:lnTo>
                  <a:pt x="31259" y="62519"/>
                </a:lnTo>
                <a:lnTo>
                  <a:pt x="31259" y="37519"/>
                </a:lnTo>
                <a:cubicBezTo>
                  <a:pt x="31259" y="35691"/>
                  <a:pt x="31840" y="34185"/>
                  <a:pt x="33000" y="33000"/>
                </a:cubicBezTo>
                <a:lnTo>
                  <a:pt x="33000" y="33000"/>
                </a:lnTo>
                <a:cubicBezTo>
                  <a:pt x="34185" y="31840"/>
                  <a:pt x="35691" y="31259"/>
                  <a:pt x="37519" y="31259"/>
                </a:cubicBezTo>
                <a:lnTo>
                  <a:pt x="37519" y="31259"/>
                </a:lnTo>
                <a:cubicBezTo>
                  <a:pt x="39321" y="31259"/>
                  <a:pt x="40815" y="31840"/>
                  <a:pt x="42000" y="33000"/>
                </a:cubicBezTo>
                <a:lnTo>
                  <a:pt x="42000" y="33000"/>
                </a:lnTo>
                <a:cubicBezTo>
                  <a:pt x="43160" y="34185"/>
                  <a:pt x="43741" y="35691"/>
                  <a:pt x="43741" y="37519"/>
                </a:cubicBezTo>
                <a:lnTo>
                  <a:pt x="43741" y="37519"/>
                </a:lnTo>
                <a:close/>
                <a:moveTo>
                  <a:pt x="68741" y="37519"/>
                </a:moveTo>
                <a:lnTo>
                  <a:pt x="68741" y="37519"/>
                </a:lnTo>
                <a:lnTo>
                  <a:pt x="68741" y="62519"/>
                </a:lnTo>
                <a:cubicBezTo>
                  <a:pt x="68741" y="64321"/>
                  <a:pt x="68160" y="65815"/>
                  <a:pt x="67000" y="67000"/>
                </a:cubicBezTo>
                <a:lnTo>
                  <a:pt x="67000" y="67000"/>
                </a:lnTo>
                <a:cubicBezTo>
                  <a:pt x="65815" y="68160"/>
                  <a:pt x="64321" y="68741"/>
                  <a:pt x="62519" y="68741"/>
                </a:cubicBezTo>
                <a:lnTo>
                  <a:pt x="62519" y="68741"/>
                </a:lnTo>
                <a:cubicBezTo>
                  <a:pt x="60691" y="68741"/>
                  <a:pt x="59185" y="68160"/>
                  <a:pt x="58000" y="67000"/>
                </a:cubicBezTo>
                <a:lnTo>
                  <a:pt x="58000" y="67000"/>
                </a:lnTo>
                <a:cubicBezTo>
                  <a:pt x="56840" y="65815"/>
                  <a:pt x="56259" y="64321"/>
                  <a:pt x="56259" y="62519"/>
                </a:cubicBezTo>
                <a:lnTo>
                  <a:pt x="56259" y="62519"/>
                </a:lnTo>
                <a:lnTo>
                  <a:pt x="56259" y="37519"/>
                </a:lnTo>
                <a:cubicBezTo>
                  <a:pt x="56259" y="35691"/>
                  <a:pt x="56840" y="34185"/>
                  <a:pt x="58000" y="33000"/>
                </a:cubicBezTo>
                <a:lnTo>
                  <a:pt x="58000" y="33000"/>
                </a:lnTo>
                <a:cubicBezTo>
                  <a:pt x="59185" y="31840"/>
                  <a:pt x="60691" y="31259"/>
                  <a:pt x="62519" y="31259"/>
                </a:cubicBezTo>
                <a:lnTo>
                  <a:pt x="62519" y="31259"/>
                </a:lnTo>
                <a:cubicBezTo>
                  <a:pt x="64321" y="31259"/>
                  <a:pt x="65815" y="31840"/>
                  <a:pt x="67000" y="33000"/>
                </a:cubicBezTo>
                <a:lnTo>
                  <a:pt x="67000" y="33000"/>
                </a:lnTo>
                <a:cubicBezTo>
                  <a:pt x="68160" y="34185"/>
                  <a:pt x="68741" y="35691"/>
                  <a:pt x="68741" y="37519"/>
                </a:cubicBezTo>
                <a:lnTo>
                  <a:pt x="68741" y="37519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0134549945-12"/>
          <p:cNvSpPr/>
          <p:nvPr/>
        </p:nvSpPr>
        <p:spPr>
          <a:xfrm>
            <a:off x="6189702" y="3638498"/>
            <a:ext cx="5313621" cy="29234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0134549947-24"/>
          <p:cNvSpPr/>
          <p:nvPr/>
        </p:nvSpPr>
        <p:spPr>
          <a:xfrm>
            <a:off x="6351587" y="3800382"/>
            <a:ext cx="4989852" cy="133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 w="19045" algn="in">
            <a:solidFill>
              <a:srgbClr val="CBD5E1"/>
            </a:solidFill>
            <a:prstDash val="sysDash"/>
          </a:ln>
        </p:spPr>
        <p:txBody>
          <a:bodyPr/>
          <a:lstStyle/>
          <a:p/>
        </p:txBody>
      </p:sp>
      <p:sp>
        <p:nvSpPr>
          <p:cNvPr id="15" name="el-1780134550025-24"/>
          <p:cNvSpPr/>
          <p:nvPr/>
        </p:nvSpPr>
        <p:spPr>
          <a:xfrm>
            <a:off x="8675106" y="4295558"/>
            <a:ext cx="342814" cy="3428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81259" y="40630"/>
                </a:moveTo>
                <a:lnTo>
                  <a:pt x="81259" y="40630"/>
                </a:lnTo>
                <a:cubicBezTo>
                  <a:pt x="81111" y="49741"/>
                  <a:pt x="78506" y="57753"/>
                  <a:pt x="73444" y="64667"/>
                </a:cubicBezTo>
                <a:lnTo>
                  <a:pt x="73444" y="64667"/>
                </a:lnTo>
                <a:lnTo>
                  <a:pt x="98259" y="89259"/>
                </a:lnTo>
                <a:cubicBezTo>
                  <a:pt x="99420" y="90568"/>
                  <a:pt x="100000" y="92062"/>
                  <a:pt x="100000" y="93741"/>
                </a:cubicBezTo>
                <a:lnTo>
                  <a:pt x="100000" y="93741"/>
                </a:lnTo>
                <a:cubicBezTo>
                  <a:pt x="100000" y="95444"/>
                  <a:pt x="99420" y="96951"/>
                  <a:pt x="98259" y="98259"/>
                </a:cubicBezTo>
                <a:lnTo>
                  <a:pt x="98259" y="98259"/>
                </a:lnTo>
                <a:cubicBezTo>
                  <a:pt x="96951" y="99420"/>
                  <a:pt x="95444" y="100000"/>
                  <a:pt x="93741" y="100000"/>
                </a:cubicBezTo>
                <a:lnTo>
                  <a:pt x="93741" y="100000"/>
                </a:lnTo>
                <a:cubicBezTo>
                  <a:pt x="92062" y="100000"/>
                  <a:pt x="90568" y="99420"/>
                  <a:pt x="89259" y="98259"/>
                </a:cubicBezTo>
                <a:lnTo>
                  <a:pt x="89259" y="98259"/>
                </a:lnTo>
                <a:lnTo>
                  <a:pt x="64667" y="73444"/>
                </a:lnTo>
                <a:cubicBezTo>
                  <a:pt x="57753" y="78506"/>
                  <a:pt x="49741" y="81111"/>
                  <a:pt x="40630" y="81259"/>
                </a:cubicBezTo>
                <a:lnTo>
                  <a:pt x="40630" y="81259"/>
                </a:lnTo>
                <a:cubicBezTo>
                  <a:pt x="29173" y="80988"/>
                  <a:pt x="19605" y="77012"/>
                  <a:pt x="11926" y="69333"/>
                </a:cubicBezTo>
                <a:lnTo>
                  <a:pt x="11926" y="69333"/>
                </a:lnTo>
                <a:cubicBezTo>
                  <a:pt x="4247" y="61654"/>
                  <a:pt x="272" y="52086"/>
                  <a:pt x="0" y="40630"/>
                </a:cubicBezTo>
                <a:lnTo>
                  <a:pt x="0" y="40630"/>
                </a:lnTo>
                <a:cubicBezTo>
                  <a:pt x="272" y="29173"/>
                  <a:pt x="4247" y="19605"/>
                  <a:pt x="11926" y="11926"/>
                </a:cubicBezTo>
                <a:lnTo>
                  <a:pt x="11926" y="11926"/>
                </a:lnTo>
                <a:cubicBezTo>
                  <a:pt x="19605" y="4247"/>
                  <a:pt x="29173" y="272"/>
                  <a:pt x="40630" y="0"/>
                </a:cubicBezTo>
                <a:lnTo>
                  <a:pt x="40630" y="0"/>
                </a:lnTo>
                <a:cubicBezTo>
                  <a:pt x="52086" y="272"/>
                  <a:pt x="61654" y="4247"/>
                  <a:pt x="69333" y="11926"/>
                </a:cubicBezTo>
                <a:lnTo>
                  <a:pt x="69333" y="11926"/>
                </a:lnTo>
                <a:cubicBezTo>
                  <a:pt x="77012" y="19605"/>
                  <a:pt x="80988" y="29173"/>
                  <a:pt x="81259" y="40630"/>
                </a:cubicBezTo>
                <a:lnTo>
                  <a:pt x="81259" y="40630"/>
                </a:lnTo>
                <a:close/>
                <a:moveTo>
                  <a:pt x="40630" y="68741"/>
                </a:moveTo>
                <a:lnTo>
                  <a:pt x="40630" y="68741"/>
                </a:lnTo>
                <a:cubicBezTo>
                  <a:pt x="45716" y="68741"/>
                  <a:pt x="50407" y="67506"/>
                  <a:pt x="54704" y="65037"/>
                </a:cubicBezTo>
                <a:lnTo>
                  <a:pt x="54704" y="65037"/>
                </a:lnTo>
                <a:lnTo>
                  <a:pt x="54704" y="65037"/>
                </a:lnTo>
                <a:cubicBezTo>
                  <a:pt x="59000" y="62568"/>
                  <a:pt x="62444" y="59123"/>
                  <a:pt x="65037" y="54704"/>
                </a:cubicBezTo>
                <a:lnTo>
                  <a:pt x="65037" y="54704"/>
                </a:lnTo>
                <a:cubicBezTo>
                  <a:pt x="67506" y="50259"/>
                  <a:pt x="68741" y="45568"/>
                  <a:pt x="68741" y="40630"/>
                </a:cubicBezTo>
                <a:lnTo>
                  <a:pt x="68741" y="40630"/>
                </a:lnTo>
                <a:cubicBezTo>
                  <a:pt x="68741" y="35667"/>
                  <a:pt x="67506" y="30975"/>
                  <a:pt x="65037" y="26556"/>
                </a:cubicBezTo>
                <a:lnTo>
                  <a:pt x="65037" y="26556"/>
                </a:lnTo>
                <a:cubicBezTo>
                  <a:pt x="62444" y="22136"/>
                  <a:pt x="59000" y="18691"/>
                  <a:pt x="54704" y="16222"/>
                </a:cubicBezTo>
                <a:lnTo>
                  <a:pt x="54704" y="16222"/>
                </a:lnTo>
                <a:cubicBezTo>
                  <a:pt x="50407" y="13753"/>
                  <a:pt x="45716" y="12519"/>
                  <a:pt x="40630" y="12519"/>
                </a:cubicBezTo>
                <a:lnTo>
                  <a:pt x="40630" y="12519"/>
                </a:lnTo>
                <a:cubicBezTo>
                  <a:pt x="35543" y="12519"/>
                  <a:pt x="30852" y="13753"/>
                  <a:pt x="26556" y="16222"/>
                </a:cubicBezTo>
                <a:lnTo>
                  <a:pt x="26556" y="16222"/>
                </a:lnTo>
                <a:cubicBezTo>
                  <a:pt x="22259" y="18691"/>
                  <a:pt x="18815" y="22136"/>
                  <a:pt x="16222" y="26556"/>
                </a:cubicBezTo>
                <a:lnTo>
                  <a:pt x="16222" y="26556"/>
                </a:lnTo>
                <a:cubicBezTo>
                  <a:pt x="13753" y="30975"/>
                  <a:pt x="12519" y="35667"/>
                  <a:pt x="12519" y="40630"/>
                </a:cubicBezTo>
                <a:lnTo>
                  <a:pt x="12519" y="40630"/>
                </a:lnTo>
                <a:cubicBezTo>
                  <a:pt x="12519" y="45568"/>
                  <a:pt x="13753" y="50259"/>
                  <a:pt x="16222" y="54704"/>
                </a:cubicBezTo>
                <a:lnTo>
                  <a:pt x="16222" y="54704"/>
                </a:lnTo>
                <a:cubicBezTo>
                  <a:pt x="18815" y="59123"/>
                  <a:pt x="22259" y="62568"/>
                  <a:pt x="26556" y="65037"/>
                </a:cubicBezTo>
                <a:lnTo>
                  <a:pt x="26556" y="65037"/>
                </a:lnTo>
                <a:cubicBezTo>
                  <a:pt x="30852" y="67506"/>
                  <a:pt x="35543" y="68741"/>
                  <a:pt x="40630" y="68741"/>
                </a:cubicBezTo>
                <a:lnTo>
                  <a:pt x="40630" y="68741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0134549941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0134549942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49944-6"/>
          <p:cNvSpPr txBox="1"/>
          <p:nvPr/>
        </p:nvSpPr>
        <p:spPr>
          <a:xfrm>
            <a:off x="1212051" y="53232"/>
            <a:ext cx="4637813" cy="57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用户界面 — 核心界面详情</a:t>
            </a:r>
            <a:endParaRPr sz="29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49946-13"/>
          <p:cNvSpPr txBox="1"/>
          <p:nvPr/>
        </p:nvSpPr>
        <p:spPr>
          <a:xfrm>
            <a:off x="847513" y="2095833"/>
            <a:ext cx="5104124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股票查看主界面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9946-14"/>
          <p:cNvSpPr txBox="1"/>
          <p:nvPr/>
        </p:nvSpPr>
        <p:spPr>
          <a:xfrm>
            <a:off x="847513" y="2514829"/>
            <a:ext cx="4989852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左侧菜单导航，顶部搜索栏，中部股票列表表格（代码/名称/类型/最新价/涨跌幅/成交量/状态），底部分页器。支持按角色区分授权范围，REST 轮询 5 秒刷新行情。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0134549946-15"/>
          <p:cNvSpPr txBox="1"/>
          <p:nvPr/>
        </p:nvSpPr>
        <p:spPr>
          <a:xfrm>
            <a:off x="6351587" y="2095833"/>
            <a:ext cx="5104124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涨跌停设置界面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0134549946-16"/>
          <p:cNvSpPr txBox="1"/>
          <p:nvPr/>
        </p:nvSpPr>
        <p:spPr>
          <a:xfrm>
            <a:off x="6351587" y="2514829"/>
            <a:ext cx="4989852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多选股票下拉框 + 涨跌幅比例输入 + 生效日期选择器（默认次日）。下方虚线预览区展示 TRADE 计算的涨跌停价格。仅高级管理员可见此菜单。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0134549946-17"/>
          <p:cNvSpPr txBox="1"/>
          <p:nvPr/>
        </p:nvSpPr>
        <p:spPr>
          <a:xfrm>
            <a:off x="847513" y="5209730"/>
            <a:ext cx="5104124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交易控制界面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0134549946-18"/>
          <p:cNvSpPr txBox="1"/>
          <p:nvPr/>
        </p:nvSpPr>
        <p:spPr>
          <a:xfrm>
            <a:off x="847513" y="5628725"/>
            <a:ext cx="4989852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 Tab：交易暂停/重启（股票选择器 + 状态标签 + 暂停/重启按钮）和交易日管理（状态卡片 + 开始/结束按钮，含二次确认弹窗）。仅高级管理员可见。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0134549946-19"/>
          <p:cNvSpPr txBox="1"/>
          <p:nvPr/>
        </p:nvSpPr>
        <p:spPr>
          <a:xfrm>
            <a:off x="6351587" y="5209730"/>
            <a:ext cx="5104124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审计日志界面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0134549946-20"/>
          <p:cNvSpPr txBox="1"/>
          <p:nvPr/>
        </p:nvSpPr>
        <p:spPr>
          <a:xfrm>
            <a:off x="6351587" y="5628725"/>
            <a:ext cx="4989852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顶部筛选区（管理员/操作类型/时间范围），两个 Tab（操作日志/登录日志），日志列表表格 + 分页器，支持按条件导出 CSV。仅审计管理员可见。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0134549944-7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0134549944-8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el-1780134549941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49948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49949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49950-10"/>
          <p:cNvSpPr/>
          <p:nvPr/>
        </p:nvSpPr>
        <p:spPr>
          <a:xfrm>
            <a:off x="685629" y="1422108"/>
            <a:ext cx="5798084" cy="4242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el-1780134549960-11"/>
          <p:cNvPicPr/>
          <p:nvPr/>
        </p:nvPicPr>
        <p:blipFill>
          <a:blip r:embed="rId1"/>
          <a:stretch>
            <a:fillRect/>
          </a:stretch>
        </p:blipFill>
        <p:spPr>
          <a:xfrm>
            <a:off x="809423" y="1685914"/>
            <a:ext cx="5550496" cy="3714714"/>
          </a:xfrm>
          <a:prstGeom prst="rect">
            <a:avLst/>
          </a:prstGeom>
          <a:ln>
            <a:noFill/>
          </a:ln>
        </p:spPr>
      </p:pic>
      <p:sp>
        <p:nvSpPr>
          <p:cNvPr id="6" name="el-1780134549961-12"/>
          <p:cNvSpPr/>
          <p:nvPr/>
        </p:nvSpPr>
        <p:spPr>
          <a:xfrm>
            <a:off x="6864618" y="1507812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0134549961-13"/>
          <p:cNvSpPr/>
          <p:nvPr/>
        </p:nvSpPr>
        <p:spPr>
          <a:xfrm>
            <a:off x="6864618" y="3122491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49961-14"/>
          <p:cNvSpPr/>
          <p:nvPr/>
        </p:nvSpPr>
        <p:spPr>
          <a:xfrm>
            <a:off x="6864618" y="4737170"/>
            <a:ext cx="76181" cy="76181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0134549949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0134549949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0134549949-6"/>
          <p:cNvSpPr txBox="1"/>
          <p:nvPr/>
        </p:nvSpPr>
        <p:spPr>
          <a:xfrm>
            <a:off x="1212051" y="53232"/>
            <a:ext cx="4752977" cy="57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 — 全局 E-R 图</a:t>
            </a:r>
            <a:endParaRPr sz="29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0134549949-7"/>
          <p:cNvSpPr txBox="1"/>
          <p:nvPr/>
        </p:nvSpPr>
        <p:spPr>
          <a:xfrm>
            <a:off x="11127180" y="224639"/>
            <a:ext cx="452324" cy="228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 12</a:t>
            </a:r>
            <a:endParaRPr sz="119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0134549962-15"/>
          <p:cNvSpPr txBox="1"/>
          <p:nvPr/>
        </p:nvSpPr>
        <p:spPr>
          <a:xfrm>
            <a:off x="7074115" y="1422108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四表关系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0134549962-16"/>
          <p:cNvSpPr txBox="1"/>
          <p:nvPr/>
        </p:nvSpPr>
        <p:spPr>
          <a:xfrm>
            <a:off x="7074115" y="1764922"/>
            <a:ext cx="4429208" cy="10052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 1:1 PermissionConfig，Admin 1:N OperationLog，Admin 1:N LoginLog，updated_by 自引用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0134549962-17"/>
          <p:cNvSpPr txBox="1"/>
          <p:nvPr/>
        </p:nvSpPr>
        <p:spPr>
          <a:xfrm>
            <a:off x="7074115" y="3036787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全部外键 RESTRICT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49962-18"/>
          <p:cNvSpPr txBox="1"/>
          <p:nvPr/>
        </p:nvSpPr>
        <p:spPr>
          <a:xfrm>
            <a:off x="7074115" y="3379601"/>
            <a:ext cx="4429208" cy="10052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禁止物理删除管理员记录，仅通过 status='disabled' 软禁用，保证审计日志完整性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49962-19"/>
          <p:cNvSpPr txBox="1"/>
          <p:nvPr/>
        </p:nvSpPr>
        <p:spPr>
          <a:xfrm>
            <a:off x="7074115" y="4651466"/>
            <a:ext cx="454347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仅存本地数据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49962-20"/>
          <p:cNvSpPr txBox="1"/>
          <p:nvPr/>
        </p:nvSpPr>
        <p:spPr>
          <a:xfrm>
            <a:off x="7074115" y="4994280"/>
            <a:ext cx="4429208" cy="6701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625"/>
              </a:lnSpc>
            </a:pPr>
            <a:r>
              <a:rPr sz="16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 仅维护四表，股票行情/订单簿等通过 TRADE API 获取，不本地持久化行情数据</a:t>
            </a:r>
            <a:endParaRPr sz="16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49950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49950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el-1780134549948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50088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50089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50090-10"/>
          <p:cNvSpPr/>
          <p:nvPr/>
        </p:nvSpPr>
        <p:spPr>
          <a:xfrm>
            <a:off x="685629" y="990019"/>
            <a:ext cx="5323144" cy="2467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0134550091-15"/>
          <p:cNvSpPr/>
          <p:nvPr/>
        </p:nvSpPr>
        <p:spPr>
          <a:xfrm>
            <a:off x="695151" y="999542"/>
            <a:ext cx="5304099" cy="4761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0134550090-11"/>
          <p:cNvSpPr/>
          <p:nvPr/>
        </p:nvSpPr>
        <p:spPr>
          <a:xfrm>
            <a:off x="6180180" y="990019"/>
            <a:ext cx="5323144" cy="2467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0134550091-17"/>
          <p:cNvSpPr/>
          <p:nvPr/>
        </p:nvSpPr>
        <p:spPr>
          <a:xfrm>
            <a:off x="6189702" y="999542"/>
            <a:ext cx="5304099" cy="4761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50090-12"/>
          <p:cNvSpPr/>
          <p:nvPr/>
        </p:nvSpPr>
        <p:spPr>
          <a:xfrm>
            <a:off x="685629" y="3628975"/>
            <a:ext cx="5323144" cy="2467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0134550092-19"/>
          <p:cNvSpPr/>
          <p:nvPr/>
        </p:nvSpPr>
        <p:spPr>
          <a:xfrm>
            <a:off x="695151" y="3638498"/>
            <a:ext cx="5304099" cy="4761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0134550090-13"/>
          <p:cNvSpPr/>
          <p:nvPr/>
        </p:nvSpPr>
        <p:spPr>
          <a:xfrm>
            <a:off x="6180180" y="3628975"/>
            <a:ext cx="5323144" cy="2467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0134550092-21"/>
          <p:cNvSpPr/>
          <p:nvPr/>
        </p:nvSpPr>
        <p:spPr>
          <a:xfrm>
            <a:off x="6189702" y="3638498"/>
            <a:ext cx="5304099" cy="4761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0134550089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0134550089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0134550089-6"/>
          <p:cNvSpPr txBox="1"/>
          <p:nvPr/>
        </p:nvSpPr>
        <p:spPr>
          <a:xfrm>
            <a:off x="1212051" y="53232"/>
            <a:ext cx="3876003" cy="5713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29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 — 表结构</a:t>
            </a:r>
            <a:endParaRPr sz="29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0134550089-7"/>
          <p:cNvSpPr txBox="1"/>
          <p:nvPr/>
        </p:nvSpPr>
        <p:spPr>
          <a:xfrm>
            <a:off x="11061266" y="224639"/>
            <a:ext cx="518239" cy="2285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 1-4</a:t>
            </a:r>
            <a:endParaRPr sz="119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50091-14"/>
          <p:cNvSpPr txBox="1"/>
          <p:nvPr/>
        </p:nvSpPr>
        <p:spPr>
          <a:xfrm>
            <a:off x="847513" y="1094768"/>
            <a:ext cx="5246963" cy="285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admin_info（管理员信息表）</a:t>
            </a:r>
            <a:endParaRPr sz="14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50095-22"/>
          <p:cNvSpPr txBox="1"/>
          <p:nvPr/>
        </p:nvSpPr>
        <p:spPr>
          <a:xfrm>
            <a:off x="847513" y="1589944"/>
            <a:ext cx="787699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admin_id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50095-23"/>
          <p:cNvSpPr txBox="1"/>
          <p:nvPr/>
        </p:nvSpPr>
        <p:spPr>
          <a:xfrm>
            <a:off x="5325078" y="1589944"/>
            <a:ext cx="602752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PK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50095-24"/>
          <p:cNvSpPr txBox="1"/>
          <p:nvPr/>
        </p:nvSpPr>
        <p:spPr>
          <a:xfrm>
            <a:off x="847513" y="1886931"/>
            <a:ext cx="841859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username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50095-25"/>
          <p:cNvSpPr txBox="1"/>
          <p:nvPr/>
        </p:nvSpPr>
        <p:spPr>
          <a:xfrm>
            <a:off x="4507621" y="1886931"/>
            <a:ext cx="1420209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VARCHAR(20) UK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0134550096-26"/>
          <p:cNvSpPr txBox="1"/>
          <p:nvPr/>
        </p:nvSpPr>
        <p:spPr>
          <a:xfrm>
            <a:off x="847513" y="2183918"/>
            <a:ext cx="1251183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password_hash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0134550096-27"/>
          <p:cNvSpPr txBox="1"/>
          <p:nvPr/>
        </p:nvSpPr>
        <p:spPr>
          <a:xfrm>
            <a:off x="4684087" y="2183918"/>
            <a:ext cx="1243743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VARCHAR(256)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0134550096-28"/>
          <p:cNvSpPr txBox="1"/>
          <p:nvPr/>
        </p:nvSpPr>
        <p:spPr>
          <a:xfrm>
            <a:off x="847513" y="2480904"/>
            <a:ext cx="792163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role_type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0134550096-29"/>
          <p:cNvSpPr txBox="1"/>
          <p:nvPr/>
        </p:nvSpPr>
        <p:spPr>
          <a:xfrm>
            <a:off x="4789133" y="2480904"/>
            <a:ext cx="1138697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TINYINT (0-3)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0134550096-30"/>
          <p:cNvSpPr txBox="1"/>
          <p:nvPr/>
        </p:nvSpPr>
        <p:spPr>
          <a:xfrm>
            <a:off x="847513" y="2777891"/>
            <a:ext cx="1896340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status / failed_attempts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0134550096-31"/>
          <p:cNvSpPr txBox="1"/>
          <p:nvPr/>
        </p:nvSpPr>
        <p:spPr>
          <a:xfrm>
            <a:off x="4342165" y="2777891"/>
            <a:ext cx="1585665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VARCHAR(10) / INT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0134550096-32"/>
          <p:cNvSpPr txBox="1"/>
          <p:nvPr/>
        </p:nvSpPr>
        <p:spPr>
          <a:xfrm>
            <a:off x="847513" y="3074878"/>
            <a:ext cx="2050041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lock_until / token_version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0134550096-33"/>
          <p:cNvSpPr txBox="1"/>
          <p:nvPr/>
        </p:nvSpPr>
        <p:spPr>
          <a:xfrm>
            <a:off x="4618321" y="3074878"/>
            <a:ext cx="1309509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DATETIME / INT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0134550091-16"/>
          <p:cNvSpPr txBox="1"/>
          <p:nvPr/>
        </p:nvSpPr>
        <p:spPr>
          <a:xfrm>
            <a:off x="6342064" y="1094768"/>
            <a:ext cx="5246963" cy="285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operation_log（操作日志表）</a:t>
            </a:r>
            <a:endParaRPr sz="14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0134550096-34"/>
          <p:cNvSpPr txBox="1"/>
          <p:nvPr/>
        </p:nvSpPr>
        <p:spPr>
          <a:xfrm>
            <a:off x="6342064" y="1589944"/>
            <a:ext cx="549782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log_id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0134550096-35"/>
          <p:cNvSpPr txBox="1"/>
          <p:nvPr/>
        </p:nvSpPr>
        <p:spPr>
          <a:xfrm>
            <a:off x="10819629" y="1589944"/>
            <a:ext cx="602752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PK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0134550096-36"/>
          <p:cNvSpPr txBox="1"/>
          <p:nvPr/>
        </p:nvSpPr>
        <p:spPr>
          <a:xfrm>
            <a:off x="6342064" y="1886931"/>
            <a:ext cx="787699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admin_id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0134550097-37"/>
          <p:cNvSpPr txBox="1"/>
          <p:nvPr/>
        </p:nvSpPr>
        <p:spPr>
          <a:xfrm>
            <a:off x="10832723" y="1886931"/>
            <a:ext cx="589658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FK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0134550097-38"/>
          <p:cNvSpPr txBox="1"/>
          <p:nvPr/>
        </p:nvSpPr>
        <p:spPr>
          <a:xfrm>
            <a:off x="6342064" y="2183918"/>
            <a:ext cx="1250290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operation_type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0134550097-39"/>
          <p:cNvSpPr txBox="1"/>
          <p:nvPr/>
        </p:nvSpPr>
        <p:spPr>
          <a:xfrm>
            <a:off x="10273567" y="2183918"/>
            <a:ext cx="1148815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VARCHAR(20)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0134550097-40"/>
          <p:cNvSpPr txBox="1"/>
          <p:nvPr/>
        </p:nvSpPr>
        <p:spPr>
          <a:xfrm>
            <a:off x="6342064" y="2480904"/>
            <a:ext cx="1024723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target_stock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0134550097-41"/>
          <p:cNvSpPr txBox="1"/>
          <p:nvPr/>
        </p:nvSpPr>
        <p:spPr>
          <a:xfrm>
            <a:off x="10368495" y="2480904"/>
            <a:ext cx="1053886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VARCHAR(6)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0134550097-42"/>
          <p:cNvSpPr txBox="1"/>
          <p:nvPr/>
        </p:nvSpPr>
        <p:spPr>
          <a:xfrm>
            <a:off x="6342064" y="2777891"/>
            <a:ext cx="512436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detail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0134550097-43"/>
          <p:cNvSpPr txBox="1"/>
          <p:nvPr/>
        </p:nvSpPr>
        <p:spPr>
          <a:xfrm>
            <a:off x="10178638" y="2777891"/>
            <a:ext cx="1243743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VARCHAR(512)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0134550097-44"/>
          <p:cNvSpPr txBox="1"/>
          <p:nvPr/>
        </p:nvSpPr>
        <p:spPr>
          <a:xfrm>
            <a:off x="6342064" y="3074878"/>
            <a:ext cx="1850513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operation_result / time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0134550097-45"/>
          <p:cNvSpPr txBox="1"/>
          <p:nvPr/>
        </p:nvSpPr>
        <p:spPr>
          <a:xfrm>
            <a:off x="9743276" y="3074878"/>
            <a:ext cx="1679106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TINYINT / DATETIME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0134550091-18"/>
          <p:cNvSpPr txBox="1"/>
          <p:nvPr/>
        </p:nvSpPr>
        <p:spPr>
          <a:xfrm>
            <a:off x="847513" y="3733724"/>
            <a:ext cx="5246963" cy="285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permission_config（权限配置表）</a:t>
            </a:r>
            <a:endParaRPr sz="14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0134550098-46"/>
          <p:cNvSpPr txBox="1"/>
          <p:nvPr/>
        </p:nvSpPr>
        <p:spPr>
          <a:xfrm>
            <a:off x="847513" y="4228900"/>
            <a:ext cx="786806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config_id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0134550098-47"/>
          <p:cNvSpPr txBox="1"/>
          <p:nvPr/>
        </p:nvSpPr>
        <p:spPr>
          <a:xfrm>
            <a:off x="5325078" y="4228900"/>
            <a:ext cx="602752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PK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0134550098-48"/>
          <p:cNvSpPr txBox="1"/>
          <p:nvPr/>
        </p:nvSpPr>
        <p:spPr>
          <a:xfrm>
            <a:off x="847513" y="4525887"/>
            <a:ext cx="787699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admin_id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0134550098-49"/>
          <p:cNvSpPr txBox="1"/>
          <p:nvPr/>
        </p:nvSpPr>
        <p:spPr>
          <a:xfrm>
            <a:off x="5024372" y="4525887"/>
            <a:ext cx="903458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FK, UK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0134550098-50"/>
          <p:cNvSpPr txBox="1"/>
          <p:nvPr/>
        </p:nvSpPr>
        <p:spPr>
          <a:xfrm>
            <a:off x="847513" y="4822873"/>
            <a:ext cx="1466632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authorized_stocks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0134550098-51"/>
          <p:cNvSpPr txBox="1"/>
          <p:nvPr/>
        </p:nvSpPr>
        <p:spPr>
          <a:xfrm>
            <a:off x="5425810" y="4822873"/>
            <a:ext cx="502021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0134550098-52"/>
          <p:cNvSpPr txBox="1"/>
          <p:nvPr/>
        </p:nvSpPr>
        <p:spPr>
          <a:xfrm>
            <a:off x="847513" y="5119860"/>
            <a:ext cx="993179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updated_by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0134550098-53"/>
          <p:cNvSpPr txBox="1"/>
          <p:nvPr/>
        </p:nvSpPr>
        <p:spPr>
          <a:xfrm>
            <a:off x="5338172" y="5119860"/>
            <a:ext cx="589658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FK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0134550098-54"/>
          <p:cNvSpPr txBox="1"/>
          <p:nvPr/>
        </p:nvSpPr>
        <p:spPr>
          <a:xfrm>
            <a:off x="847513" y="5416847"/>
            <a:ext cx="953899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updated_at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0134550098-55"/>
          <p:cNvSpPr txBox="1"/>
          <p:nvPr/>
        </p:nvSpPr>
        <p:spPr>
          <a:xfrm>
            <a:off x="5055320" y="5416847"/>
            <a:ext cx="872510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DATETIME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0134550092-20"/>
          <p:cNvSpPr txBox="1"/>
          <p:nvPr/>
        </p:nvSpPr>
        <p:spPr>
          <a:xfrm>
            <a:off x="6342064" y="3733724"/>
            <a:ext cx="5246963" cy="285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login_log（登录日志表）</a:t>
            </a:r>
            <a:endParaRPr sz="149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0134550098-56"/>
          <p:cNvSpPr txBox="1"/>
          <p:nvPr/>
        </p:nvSpPr>
        <p:spPr>
          <a:xfrm>
            <a:off x="6342064" y="4228900"/>
            <a:ext cx="1014754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login_log_id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0134550099-57"/>
          <p:cNvSpPr txBox="1"/>
          <p:nvPr/>
        </p:nvSpPr>
        <p:spPr>
          <a:xfrm>
            <a:off x="10819629" y="4228900"/>
            <a:ext cx="602752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PK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0134550099-58"/>
          <p:cNvSpPr txBox="1"/>
          <p:nvPr/>
        </p:nvSpPr>
        <p:spPr>
          <a:xfrm>
            <a:off x="6342064" y="4525887"/>
            <a:ext cx="787699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admin_id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0134550099-59"/>
          <p:cNvSpPr txBox="1"/>
          <p:nvPr/>
        </p:nvSpPr>
        <p:spPr>
          <a:xfrm>
            <a:off x="10832723" y="4525887"/>
            <a:ext cx="589658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FK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0134550099-60"/>
          <p:cNvSpPr txBox="1"/>
          <p:nvPr/>
        </p:nvSpPr>
        <p:spPr>
          <a:xfrm>
            <a:off x="6342064" y="4822873"/>
            <a:ext cx="1989930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login_time / logout_time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0134550099-61"/>
          <p:cNvSpPr txBox="1"/>
          <p:nvPr/>
        </p:nvSpPr>
        <p:spPr>
          <a:xfrm>
            <a:off x="9593443" y="4822873"/>
            <a:ext cx="1828938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DATETIME / DATETIME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0134550099-62"/>
          <p:cNvSpPr txBox="1"/>
          <p:nvPr/>
        </p:nvSpPr>
        <p:spPr>
          <a:xfrm>
            <a:off x="6342064" y="5119860"/>
            <a:ext cx="975473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login_result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0134550099-63"/>
          <p:cNvSpPr txBox="1"/>
          <p:nvPr/>
        </p:nvSpPr>
        <p:spPr>
          <a:xfrm>
            <a:off x="10699704" y="5119860"/>
            <a:ext cx="722677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TINYINT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0134550099-64"/>
          <p:cNvSpPr txBox="1"/>
          <p:nvPr/>
        </p:nvSpPr>
        <p:spPr>
          <a:xfrm>
            <a:off x="6342064" y="5416847"/>
            <a:ext cx="903756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fail_reason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0134550099-65"/>
          <p:cNvSpPr txBox="1"/>
          <p:nvPr/>
        </p:nvSpPr>
        <p:spPr>
          <a:xfrm>
            <a:off x="10178638" y="5416847"/>
            <a:ext cx="1243743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VARCHAR(128)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0134550099-66"/>
          <p:cNvSpPr txBox="1"/>
          <p:nvPr/>
        </p:nvSpPr>
        <p:spPr>
          <a:xfrm>
            <a:off x="6342064" y="5713833"/>
            <a:ext cx="1844412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ip_address / session_id</a:t>
            </a:r>
            <a:endParaRPr sz="127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0134550100-67"/>
          <p:cNvSpPr txBox="1"/>
          <p:nvPr/>
        </p:nvSpPr>
        <p:spPr>
          <a:xfrm>
            <a:off x="9040983" y="5713833"/>
            <a:ext cx="2381399" cy="2588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VARCHAR(45) / VARCHAR(64)</a:t>
            </a:r>
            <a:endParaRPr sz="127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0134550089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0134550089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8" name="el-1780134550088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50158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50159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50162-16"/>
          <p:cNvSpPr/>
          <p:nvPr/>
        </p:nvSpPr>
        <p:spPr>
          <a:xfrm>
            <a:off x="685629" y="1507812"/>
            <a:ext cx="35043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0134550177-80"/>
          <p:cNvSpPr/>
          <p:nvPr/>
        </p:nvSpPr>
        <p:spPr>
          <a:xfrm>
            <a:off x="847513" y="1698264"/>
            <a:ext cx="190452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5600" y="68733"/>
                </a:moveTo>
                <a:lnTo>
                  <a:pt x="65600" y="68733"/>
                </a:lnTo>
                <a:cubicBezTo>
                  <a:pt x="75378" y="68467"/>
                  <a:pt x="83467" y="65089"/>
                  <a:pt x="89867" y="58600"/>
                </a:cubicBezTo>
                <a:lnTo>
                  <a:pt x="89867" y="58600"/>
                </a:lnTo>
                <a:lnTo>
                  <a:pt x="89867" y="58600"/>
                </a:lnTo>
                <a:cubicBezTo>
                  <a:pt x="96356" y="52200"/>
                  <a:pt x="99733" y="44133"/>
                  <a:pt x="100000" y="34400"/>
                </a:cubicBezTo>
                <a:lnTo>
                  <a:pt x="100000" y="34400"/>
                </a:lnTo>
                <a:cubicBezTo>
                  <a:pt x="99733" y="24622"/>
                  <a:pt x="96356" y="16533"/>
                  <a:pt x="89867" y="10133"/>
                </a:cubicBezTo>
                <a:lnTo>
                  <a:pt x="89867" y="10133"/>
                </a:lnTo>
                <a:cubicBezTo>
                  <a:pt x="83467" y="3644"/>
                  <a:pt x="75378" y="267"/>
                  <a:pt x="65600" y="0"/>
                </a:cubicBezTo>
                <a:lnTo>
                  <a:pt x="65600" y="0"/>
                </a:lnTo>
                <a:cubicBezTo>
                  <a:pt x="55867" y="267"/>
                  <a:pt x="47800" y="3644"/>
                  <a:pt x="41400" y="10133"/>
                </a:cubicBezTo>
                <a:lnTo>
                  <a:pt x="41400" y="10133"/>
                </a:lnTo>
                <a:cubicBezTo>
                  <a:pt x="34911" y="16533"/>
                  <a:pt x="31533" y="24622"/>
                  <a:pt x="31267" y="34400"/>
                </a:cubicBezTo>
                <a:lnTo>
                  <a:pt x="31267" y="34400"/>
                </a:lnTo>
                <a:cubicBezTo>
                  <a:pt x="31267" y="38044"/>
                  <a:pt x="31778" y="41556"/>
                  <a:pt x="32800" y="44933"/>
                </a:cubicBezTo>
                <a:lnTo>
                  <a:pt x="32800" y="44933"/>
                </a:lnTo>
                <a:lnTo>
                  <a:pt x="1400" y="76400"/>
                </a:lnTo>
                <a:cubicBezTo>
                  <a:pt x="467" y="77289"/>
                  <a:pt x="0" y="78378"/>
                  <a:pt x="0" y="79667"/>
                </a:cubicBezTo>
                <a:lnTo>
                  <a:pt x="0" y="79667"/>
                </a:lnTo>
                <a:lnTo>
                  <a:pt x="0" y="95333"/>
                </a:lnTo>
                <a:cubicBezTo>
                  <a:pt x="267" y="98178"/>
                  <a:pt x="1822" y="99733"/>
                  <a:pt x="4667" y="100000"/>
                </a:cubicBezTo>
                <a:lnTo>
                  <a:pt x="4667" y="100000"/>
                </a:lnTo>
                <a:lnTo>
                  <a:pt x="20333" y="100000"/>
                </a:lnTo>
                <a:cubicBezTo>
                  <a:pt x="23178" y="99733"/>
                  <a:pt x="24733" y="98178"/>
                  <a:pt x="25000" y="95333"/>
                </a:cubicBezTo>
                <a:lnTo>
                  <a:pt x="25000" y="95333"/>
                </a:lnTo>
                <a:lnTo>
                  <a:pt x="25000" y="87533"/>
                </a:lnTo>
                <a:lnTo>
                  <a:pt x="32800" y="87533"/>
                </a:lnTo>
                <a:cubicBezTo>
                  <a:pt x="35689" y="87267"/>
                  <a:pt x="37267" y="85689"/>
                  <a:pt x="37533" y="82800"/>
                </a:cubicBezTo>
                <a:lnTo>
                  <a:pt x="37533" y="82800"/>
                </a:lnTo>
                <a:lnTo>
                  <a:pt x="37533" y="75000"/>
                </a:lnTo>
                <a:lnTo>
                  <a:pt x="45333" y="75000"/>
                </a:lnTo>
                <a:cubicBezTo>
                  <a:pt x="46622" y="75000"/>
                  <a:pt x="47711" y="74533"/>
                  <a:pt x="48600" y="73600"/>
                </a:cubicBezTo>
                <a:lnTo>
                  <a:pt x="48600" y="73600"/>
                </a:lnTo>
                <a:lnTo>
                  <a:pt x="55067" y="67200"/>
                </a:lnTo>
                <a:cubicBezTo>
                  <a:pt x="58444" y="68222"/>
                  <a:pt x="61956" y="68733"/>
                  <a:pt x="65600" y="68733"/>
                </a:cubicBezTo>
                <a:lnTo>
                  <a:pt x="65600" y="68733"/>
                </a:lnTo>
                <a:close/>
                <a:moveTo>
                  <a:pt x="73467" y="18733"/>
                </a:moveTo>
                <a:lnTo>
                  <a:pt x="73467" y="18733"/>
                </a:lnTo>
                <a:cubicBezTo>
                  <a:pt x="76444" y="18867"/>
                  <a:pt x="78711" y="20178"/>
                  <a:pt x="80267" y="22667"/>
                </a:cubicBezTo>
                <a:lnTo>
                  <a:pt x="80267" y="22667"/>
                </a:lnTo>
                <a:cubicBezTo>
                  <a:pt x="81556" y="25244"/>
                  <a:pt x="81556" y="27844"/>
                  <a:pt x="80267" y="30467"/>
                </a:cubicBezTo>
                <a:lnTo>
                  <a:pt x="80267" y="30467"/>
                </a:lnTo>
                <a:cubicBezTo>
                  <a:pt x="78711" y="32956"/>
                  <a:pt x="76444" y="34267"/>
                  <a:pt x="73467" y="34400"/>
                </a:cubicBezTo>
                <a:lnTo>
                  <a:pt x="73467" y="34400"/>
                </a:lnTo>
                <a:cubicBezTo>
                  <a:pt x="70444" y="34267"/>
                  <a:pt x="68156" y="32956"/>
                  <a:pt x="66600" y="30467"/>
                </a:cubicBezTo>
                <a:lnTo>
                  <a:pt x="66600" y="30467"/>
                </a:lnTo>
                <a:cubicBezTo>
                  <a:pt x="65311" y="27844"/>
                  <a:pt x="65311" y="25244"/>
                  <a:pt x="66600" y="22667"/>
                </a:cubicBezTo>
                <a:lnTo>
                  <a:pt x="66600" y="22667"/>
                </a:lnTo>
                <a:cubicBezTo>
                  <a:pt x="68156" y="20178"/>
                  <a:pt x="70444" y="18867"/>
                  <a:pt x="73467" y="18733"/>
                </a:cubicBezTo>
                <a:lnTo>
                  <a:pt x="73467" y="18733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0134550169-46"/>
          <p:cNvSpPr/>
          <p:nvPr/>
        </p:nvSpPr>
        <p:spPr>
          <a:xfrm>
            <a:off x="847513" y="2014891"/>
            <a:ext cx="525083" cy="223782"/>
          </a:xfrm>
          <a:prstGeom prst="roundRect">
            <a:avLst>
              <a:gd name="adj" fmla="val 8513"/>
            </a:avLst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0134550169-48"/>
          <p:cNvSpPr/>
          <p:nvPr/>
        </p:nvSpPr>
        <p:spPr>
          <a:xfrm>
            <a:off x="847513" y="2319615"/>
            <a:ext cx="476131" cy="223782"/>
          </a:xfrm>
          <a:prstGeom prst="roundRect">
            <a:avLst>
              <a:gd name="adj" fmla="val 8513"/>
            </a:avLst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50162-17"/>
          <p:cNvSpPr/>
          <p:nvPr/>
        </p:nvSpPr>
        <p:spPr>
          <a:xfrm>
            <a:off x="4342314" y="1507812"/>
            <a:ext cx="35043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0134550177-81"/>
          <p:cNvSpPr/>
          <p:nvPr/>
        </p:nvSpPr>
        <p:spPr>
          <a:xfrm>
            <a:off x="4504199" y="1710167"/>
            <a:ext cx="190452" cy="1666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2533" y="7231"/>
                </a:moveTo>
                <a:lnTo>
                  <a:pt x="12533" y="7231"/>
                </a:lnTo>
                <a:cubicBezTo>
                  <a:pt x="12533" y="5128"/>
                  <a:pt x="11933" y="3385"/>
                  <a:pt x="10733" y="2000"/>
                </a:cubicBezTo>
                <a:lnTo>
                  <a:pt x="10733" y="2000"/>
                </a:lnTo>
                <a:lnTo>
                  <a:pt x="10733" y="2000"/>
                </a:lnTo>
                <a:cubicBezTo>
                  <a:pt x="9578" y="667"/>
                  <a:pt x="8089" y="0"/>
                  <a:pt x="6267" y="0"/>
                </a:cubicBezTo>
                <a:lnTo>
                  <a:pt x="6267" y="0"/>
                </a:lnTo>
                <a:cubicBezTo>
                  <a:pt x="4444" y="0"/>
                  <a:pt x="2933" y="667"/>
                  <a:pt x="1733" y="2000"/>
                </a:cubicBezTo>
                <a:lnTo>
                  <a:pt x="1733" y="2000"/>
                </a:lnTo>
                <a:cubicBezTo>
                  <a:pt x="578" y="3385"/>
                  <a:pt x="0" y="5128"/>
                  <a:pt x="0" y="7231"/>
                </a:cubicBezTo>
                <a:lnTo>
                  <a:pt x="0" y="7231"/>
                </a:lnTo>
                <a:lnTo>
                  <a:pt x="0" y="82923"/>
                </a:lnTo>
                <a:cubicBezTo>
                  <a:pt x="133" y="88051"/>
                  <a:pt x="1622" y="92333"/>
                  <a:pt x="4467" y="95769"/>
                </a:cubicBezTo>
                <a:lnTo>
                  <a:pt x="4467" y="95769"/>
                </a:lnTo>
                <a:cubicBezTo>
                  <a:pt x="7489" y="99103"/>
                  <a:pt x="11200" y="100846"/>
                  <a:pt x="15600" y="101000"/>
                </a:cubicBezTo>
                <a:lnTo>
                  <a:pt x="15600" y="101000"/>
                </a:lnTo>
                <a:lnTo>
                  <a:pt x="93733" y="101000"/>
                </a:lnTo>
                <a:cubicBezTo>
                  <a:pt x="95556" y="101000"/>
                  <a:pt x="97067" y="100308"/>
                  <a:pt x="98267" y="98923"/>
                </a:cubicBezTo>
                <a:lnTo>
                  <a:pt x="98267" y="98923"/>
                </a:lnTo>
                <a:cubicBezTo>
                  <a:pt x="99422" y="97590"/>
                  <a:pt x="100000" y="95872"/>
                  <a:pt x="100000" y="93769"/>
                </a:cubicBezTo>
                <a:lnTo>
                  <a:pt x="100000" y="93769"/>
                </a:lnTo>
                <a:cubicBezTo>
                  <a:pt x="100000" y="91667"/>
                  <a:pt x="99422" y="89923"/>
                  <a:pt x="98267" y="88538"/>
                </a:cubicBezTo>
                <a:lnTo>
                  <a:pt x="98267" y="88538"/>
                </a:lnTo>
                <a:cubicBezTo>
                  <a:pt x="97067" y="87205"/>
                  <a:pt x="95556" y="86538"/>
                  <a:pt x="93733" y="86538"/>
                </a:cubicBezTo>
                <a:lnTo>
                  <a:pt x="93733" y="86538"/>
                </a:lnTo>
                <a:lnTo>
                  <a:pt x="15600" y="86538"/>
                </a:lnTo>
                <a:cubicBezTo>
                  <a:pt x="13644" y="86385"/>
                  <a:pt x="12622" y="85179"/>
                  <a:pt x="12533" y="82923"/>
                </a:cubicBezTo>
                <a:lnTo>
                  <a:pt x="12533" y="82923"/>
                </a:lnTo>
                <a:lnTo>
                  <a:pt x="12533" y="7231"/>
                </a:lnTo>
                <a:close/>
                <a:moveTo>
                  <a:pt x="92000" y="26846"/>
                </a:moveTo>
                <a:lnTo>
                  <a:pt x="92000" y="26846"/>
                </a:lnTo>
                <a:cubicBezTo>
                  <a:pt x="93156" y="25308"/>
                  <a:pt x="93733" y="23564"/>
                  <a:pt x="93733" y="21615"/>
                </a:cubicBezTo>
                <a:lnTo>
                  <a:pt x="93733" y="21615"/>
                </a:lnTo>
                <a:lnTo>
                  <a:pt x="93733" y="21615"/>
                </a:lnTo>
                <a:cubicBezTo>
                  <a:pt x="93733" y="19667"/>
                  <a:pt x="93156" y="17949"/>
                  <a:pt x="92000" y="16462"/>
                </a:cubicBezTo>
                <a:lnTo>
                  <a:pt x="92000" y="16462"/>
                </a:lnTo>
                <a:cubicBezTo>
                  <a:pt x="90711" y="15128"/>
                  <a:pt x="89222" y="14462"/>
                  <a:pt x="87533" y="14462"/>
                </a:cubicBezTo>
                <a:lnTo>
                  <a:pt x="87533" y="14462"/>
                </a:lnTo>
                <a:cubicBezTo>
                  <a:pt x="85800" y="14462"/>
                  <a:pt x="84289" y="15128"/>
                  <a:pt x="83000" y="16462"/>
                </a:cubicBezTo>
                <a:lnTo>
                  <a:pt x="83000" y="16462"/>
                </a:lnTo>
                <a:lnTo>
                  <a:pt x="62533" y="40308"/>
                </a:lnTo>
                <a:lnTo>
                  <a:pt x="51400" y="27231"/>
                </a:lnTo>
                <a:cubicBezTo>
                  <a:pt x="50067" y="25897"/>
                  <a:pt x="48556" y="25231"/>
                  <a:pt x="46867" y="25231"/>
                </a:cubicBezTo>
                <a:lnTo>
                  <a:pt x="46867" y="25231"/>
                </a:lnTo>
                <a:cubicBezTo>
                  <a:pt x="45178" y="25231"/>
                  <a:pt x="43689" y="25897"/>
                  <a:pt x="42400" y="27231"/>
                </a:cubicBezTo>
                <a:lnTo>
                  <a:pt x="42400" y="27231"/>
                </a:lnTo>
                <a:lnTo>
                  <a:pt x="20533" y="52538"/>
                </a:lnTo>
                <a:cubicBezTo>
                  <a:pt x="19333" y="54026"/>
                  <a:pt x="18733" y="55744"/>
                  <a:pt x="18733" y="57692"/>
                </a:cubicBezTo>
                <a:lnTo>
                  <a:pt x="18733" y="57692"/>
                </a:lnTo>
                <a:cubicBezTo>
                  <a:pt x="18733" y="59641"/>
                  <a:pt x="19333" y="61359"/>
                  <a:pt x="20533" y="62846"/>
                </a:cubicBezTo>
                <a:lnTo>
                  <a:pt x="20533" y="62846"/>
                </a:lnTo>
                <a:cubicBezTo>
                  <a:pt x="21822" y="64231"/>
                  <a:pt x="23311" y="64923"/>
                  <a:pt x="25000" y="64923"/>
                </a:cubicBezTo>
                <a:lnTo>
                  <a:pt x="25000" y="64923"/>
                </a:lnTo>
                <a:cubicBezTo>
                  <a:pt x="26689" y="64923"/>
                  <a:pt x="28178" y="64231"/>
                  <a:pt x="29467" y="62846"/>
                </a:cubicBezTo>
                <a:lnTo>
                  <a:pt x="29467" y="62846"/>
                </a:lnTo>
                <a:lnTo>
                  <a:pt x="46867" y="42615"/>
                </a:lnTo>
                <a:lnTo>
                  <a:pt x="58000" y="55692"/>
                </a:lnTo>
                <a:cubicBezTo>
                  <a:pt x="59289" y="57026"/>
                  <a:pt x="60800" y="57692"/>
                  <a:pt x="62533" y="57692"/>
                </a:cubicBezTo>
                <a:lnTo>
                  <a:pt x="62533" y="57692"/>
                </a:lnTo>
                <a:cubicBezTo>
                  <a:pt x="64222" y="57692"/>
                  <a:pt x="65711" y="57026"/>
                  <a:pt x="67000" y="55692"/>
                </a:cubicBezTo>
                <a:lnTo>
                  <a:pt x="67000" y="55692"/>
                </a:lnTo>
                <a:lnTo>
                  <a:pt x="92000" y="26846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0134550169-50"/>
          <p:cNvSpPr/>
          <p:nvPr/>
        </p:nvSpPr>
        <p:spPr>
          <a:xfrm>
            <a:off x="4504199" y="2014891"/>
            <a:ext cx="476131" cy="223782"/>
          </a:xfrm>
          <a:prstGeom prst="roundRect">
            <a:avLst>
              <a:gd name="adj" fmla="val 8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0134550170-52"/>
          <p:cNvSpPr/>
          <p:nvPr/>
        </p:nvSpPr>
        <p:spPr>
          <a:xfrm>
            <a:off x="4504199" y="2319615"/>
            <a:ext cx="476131" cy="223782"/>
          </a:xfrm>
          <a:prstGeom prst="roundRect">
            <a:avLst>
              <a:gd name="adj" fmla="val 8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0134550170-54"/>
          <p:cNvSpPr/>
          <p:nvPr/>
        </p:nvSpPr>
        <p:spPr>
          <a:xfrm>
            <a:off x="4504199" y="2624339"/>
            <a:ext cx="476131" cy="223782"/>
          </a:xfrm>
          <a:prstGeom prst="roundRect">
            <a:avLst>
              <a:gd name="adj" fmla="val 8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0134550162-18"/>
          <p:cNvSpPr/>
          <p:nvPr/>
        </p:nvSpPr>
        <p:spPr>
          <a:xfrm>
            <a:off x="7999000" y="1507812"/>
            <a:ext cx="35043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0134550177-82"/>
          <p:cNvSpPr/>
          <p:nvPr/>
        </p:nvSpPr>
        <p:spPr>
          <a:xfrm>
            <a:off x="8160884" y="1722071"/>
            <a:ext cx="142839" cy="1428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9909" y="14636"/>
                </a:moveTo>
                <a:lnTo>
                  <a:pt x="99909" y="14636"/>
                </a:lnTo>
                <a:cubicBezTo>
                  <a:pt x="101485" y="12879"/>
                  <a:pt x="102273" y="10848"/>
                  <a:pt x="102273" y="8545"/>
                </a:cubicBezTo>
                <a:lnTo>
                  <a:pt x="102273" y="8545"/>
                </a:lnTo>
                <a:lnTo>
                  <a:pt x="102273" y="8545"/>
                </a:lnTo>
                <a:cubicBezTo>
                  <a:pt x="102273" y="6242"/>
                  <a:pt x="101485" y="4182"/>
                  <a:pt x="99909" y="2364"/>
                </a:cubicBezTo>
                <a:lnTo>
                  <a:pt x="99909" y="2364"/>
                </a:lnTo>
                <a:cubicBezTo>
                  <a:pt x="98091" y="788"/>
                  <a:pt x="96030" y="0"/>
                  <a:pt x="93727" y="0"/>
                </a:cubicBezTo>
                <a:lnTo>
                  <a:pt x="93727" y="0"/>
                </a:lnTo>
                <a:cubicBezTo>
                  <a:pt x="91424" y="0"/>
                  <a:pt x="89394" y="788"/>
                  <a:pt x="87636" y="2364"/>
                </a:cubicBezTo>
                <a:lnTo>
                  <a:pt x="87636" y="2364"/>
                </a:lnTo>
                <a:lnTo>
                  <a:pt x="2364" y="87636"/>
                </a:lnTo>
                <a:cubicBezTo>
                  <a:pt x="788" y="89394"/>
                  <a:pt x="0" y="91424"/>
                  <a:pt x="0" y="93727"/>
                </a:cubicBezTo>
                <a:lnTo>
                  <a:pt x="0" y="93727"/>
                </a:lnTo>
                <a:cubicBezTo>
                  <a:pt x="0" y="96030"/>
                  <a:pt x="788" y="98091"/>
                  <a:pt x="2364" y="99909"/>
                </a:cubicBezTo>
                <a:lnTo>
                  <a:pt x="2364" y="99909"/>
                </a:lnTo>
                <a:cubicBezTo>
                  <a:pt x="4182" y="101485"/>
                  <a:pt x="6242" y="102273"/>
                  <a:pt x="8545" y="102273"/>
                </a:cubicBezTo>
                <a:lnTo>
                  <a:pt x="8545" y="102273"/>
                </a:lnTo>
                <a:cubicBezTo>
                  <a:pt x="10848" y="102273"/>
                  <a:pt x="12879" y="101485"/>
                  <a:pt x="14636" y="99909"/>
                </a:cubicBezTo>
                <a:lnTo>
                  <a:pt x="14636" y="99909"/>
                </a:lnTo>
                <a:lnTo>
                  <a:pt x="99909" y="14636"/>
                </a:lnTo>
                <a:close/>
                <a:moveTo>
                  <a:pt x="34091" y="17091"/>
                </a:moveTo>
                <a:lnTo>
                  <a:pt x="34091" y="17091"/>
                </a:lnTo>
                <a:cubicBezTo>
                  <a:pt x="33909" y="10667"/>
                  <a:pt x="31061" y="5758"/>
                  <a:pt x="25545" y="2364"/>
                </a:cubicBezTo>
                <a:lnTo>
                  <a:pt x="25545" y="2364"/>
                </a:lnTo>
                <a:cubicBezTo>
                  <a:pt x="19909" y="-788"/>
                  <a:pt x="14242" y="-788"/>
                  <a:pt x="8545" y="2364"/>
                </a:cubicBezTo>
                <a:lnTo>
                  <a:pt x="8545" y="2364"/>
                </a:lnTo>
                <a:cubicBezTo>
                  <a:pt x="3030" y="5758"/>
                  <a:pt x="182" y="10667"/>
                  <a:pt x="0" y="17091"/>
                </a:cubicBezTo>
                <a:lnTo>
                  <a:pt x="0" y="17091"/>
                </a:lnTo>
                <a:cubicBezTo>
                  <a:pt x="182" y="23455"/>
                  <a:pt x="3030" y="28333"/>
                  <a:pt x="8545" y="31727"/>
                </a:cubicBezTo>
                <a:lnTo>
                  <a:pt x="8545" y="31727"/>
                </a:lnTo>
                <a:cubicBezTo>
                  <a:pt x="14242" y="34879"/>
                  <a:pt x="19909" y="34879"/>
                  <a:pt x="25545" y="31727"/>
                </a:cubicBezTo>
                <a:lnTo>
                  <a:pt x="25545" y="31727"/>
                </a:lnTo>
                <a:cubicBezTo>
                  <a:pt x="31061" y="28333"/>
                  <a:pt x="33909" y="23455"/>
                  <a:pt x="34091" y="17091"/>
                </a:cubicBezTo>
                <a:lnTo>
                  <a:pt x="34091" y="17091"/>
                </a:lnTo>
                <a:close/>
                <a:moveTo>
                  <a:pt x="102273" y="85273"/>
                </a:moveTo>
                <a:lnTo>
                  <a:pt x="102273" y="85273"/>
                </a:lnTo>
                <a:cubicBezTo>
                  <a:pt x="102091" y="78848"/>
                  <a:pt x="99242" y="73939"/>
                  <a:pt x="93727" y="70545"/>
                </a:cubicBezTo>
                <a:lnTo>
                  <a:pt x="93727" y="70545"/>
                </a:lnTo>
                <a:cubicBezTo>
                  <a:pt x="88091" y="67394"/>
                  <a:pt x="82424" y="67394"/>
                  <a:pt x="76727" y="70545"/>
                </a:cubicBezTo>
                <a:lnTo>
                  <a:pt x="76727" y="70545"/>
                </a:lnTo>
                <a:cubicBezTo>
                  <a:pt x="71212" y="73939"/>
                  <a:pt x="68364" y="78848"/>
                  <a:pt x="68182" y="85273"/>
                </a:cubicBezTo>
                <a:lnTo>
                  <a:pt x="68182" y="85273"/>
                </a:lnTo>
                <a:cubicBezTo>
                  <a:pt x="68364" y="91636"/>
                  <a:pt x="71212" y="96515"/>
                  <a:pt x="76727" y="99909"/>
                </a:cubicBezTo>
                <a:lnTo>
                  <a:pt x="76727" y="99909"/>
                </a:lnTo>
                <a:cubicBezTo>
                  <a:pt x="82424" y="103061"/>
                  <a:pt x="88091" y="103061"/>
                  <a:pt x="93727" y="99909"/>
                </a:cubicBezTo>
                <a:lnTo>
                  <a:pt x="93727" y="99909"/>
                </a:lnTo>
                <a:cubicBezTo>
                  <a:pt x="99242" y="96515"/>
                  <a:pt x="102091" y="91636"/>
                  <a:pt x="102273" y="85273"/>
                </a:cubicBezTo>
                <a:lnTo>
                  <a:pt x="102273" y="85273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0134550170-56"/>
          <p:cNvSpPr/>
          <p:nvPr/>
        </p:nvSpPr>
        <p:spPr>
          <a:xfrm>
            <a:off x="8160884" y="2014891"/>
            <a:ext cx="476131" cy="223782"/>
          </a:xfrm>
          <a:prstGeom prst="roundRect">
            <a:avLst>
              <a:gd name="adj" fmla="val 8513"/>
            </a:avLst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0134550171-58"/>
          <p:cNvSpPr/>
          <p:nvPr/>
        </p:nvSpPr>
        <p:spPr>
          <a:xfrm>
            <a:off x="8160884" y="2319615"/>
            <a:ext cx="476131" cy="223782"/>
          </a:xfrm>
          <a:prstGeom prst="roundRect">
            <a:avLst>
              <a:gd name="adj" fmla="val 8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0134550162-19"/>
          <p:cNvSpPr/>
          <p:nvPr/>
        </p:nvSpPr>
        <p:spPr>
          <a:xfrm>
            <a:off x="685629" y="3145702"/>
            <a:ext cx="3504324" cy="17902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el-1780134550177-83"/>
          <p:cNvSpPr/>
          <p:nvPr/>
        </p:nvSpPr>
        <p:spPr>
          <a:xfrm>
            <a:off x="847513" y="3336154"/>
            <a:ext cx="190452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100000"/>
                </a:moveTo>
                <a:lnTo>
                  <a:pt x="50000" y="100000"/>
                </a:lnTo>
                <a:cubicBezTo>
                  <a:pt x="59111" y="99867"/>
                  <a:pt x="67444" y="97644"/>
                  <a:pt x="75000" y="93333"/>
                </a:cubicBezTo>
                <a:lnTo>
                  <a:pt x="75000" y="93333"/>
                </a:lnTo>
                <a:lnTo>
                  <a:pt x="75000" y="93333"/>
                </a:lnTo>
                <a:cubicBezTo>
                  <a:pt x="82556" y="88933"/>
                  <a:pt x="88667" y="82822"/>
                  <a:pt x="93333" y="75000"/>
                </a:cubicBezTo>
                <a:lnTo>
                  <a:pt x="93333" y="75000"/>
                </a:lnTo>
                <a:cubicBezTo>
                  <a:pt x="97778" y="67044"/>
                  <a:pt x="100000" y="58711"/>
                  <a:pt x="100000" y="50000"/>
                </a:cubicBezTo>
                <a:lnTo>
                  <a:pt x="100000" y="50000"/>
                </a:lnTo>
                <a:cubicBezTo>
                  <a:pt x="100000" y="41289"/>
                  <a:pt x="97778" y="32956"/>
                  <a:pt x="93333" y="25000"/>
                </a:cubicBezTo>
                <a:lnTo>
                  <a:pt x="93333" y="25000"/>
                </a:lnTo>
                <a:cubicBezTo>
                  <a:pt x="88667" y="17178"/>
                  <a:pt x="82556" y="11067"/>
                  <a:pt x="75000" y="6667"/>
                </a:cubicBezTo>
                <a:lnTo>
                  <a:pt x="75000" y="6667"/>
                </a:lnTo>
                <a:cubicBezTo>
                  <a:pt x="67444" y="2356"/>
                  <a:pt x="59111" y="133"/>
                  <a:pt x="50000" y="0"/>
                </a:cubicBezTo>
                <a:lnTo>
                  <a:pt x="50000" y="0"/>
                </a:lnTo>
                <a:cubicBezTo>
                  <a:pt x="40889" y="133"/>
                  <a:pt x="32556" y="2356"/>
                  <a:pt x="25000" y="6667"/>
                </a:cubicBezTo>
                <a:lnTo>
                  <a:pt x="25000" y="6667"/>
                </a:lnTo>
                <a:cubicBezTo>
                  <a:pt x="17444" y="11067"/>
                  <a:pt x="11333" y="17178"/>
                  <a:pt x="6667" y="25000"/>
                </a:cubicBezTo>
                <a:lnTo>
                  <a:pt x="6667" y="25000"/>
                </a:lnTo>
                <a:cubicBezTo>
                  <a:pt x="2222" y="32956"/>
                  <a:pt x="0" y="41289"/>
                  <a:pt x="0" y="50000"/>
                </a:cubicBezTo>
                <a:lnTo>
                  <a:pt x="0" y="50000"/>
                </a:lnTo>
                <a:cubicBezTo>
                  <a:pt x="0" y="58711"/>
                  <a:pt x="2222" y="67044"/>
                  <a:pt x="6667" y="75000"/>
                </a:cubicBezTo>
                <a:lnTo>
                  <a:pt x="6667" y="75000"/>
                </a:lnTo>
                <a:cubicBezTo>
                  <a:pt x="11333" y="82822"/>
                  <a:pt x="17444" y="88933"/>
                  <a:pt x="25000" y="93333"/>
                </a:cubicBezTo>
                <a:lnTo>
                  <a:pt x="25000" y="93333"/>
                </a:lnTo>
                <a:cubicBezTo>
                  <a:pt x="32556" y="97644"/>
                  <a:pt x="40889" y="99867"/>
                  <a:pt x="50000" y="100000"/>
                </a:cubicBezTo>
                <a:lnTo>
                  <a:pt x="50000" y="100000"/>
                </a:lnTo>
                <a:close/>
                <a:moveTo>
                  <a:pt x="43733" y="37533"/>
                </a:moveTo>
                <a:lnTo>
                  <a:pt x="43733" y="37533"/>
                </a:lnTo>
                <a:lnTo>
                  <a:pt x="43733" y="62533"/>
                </a:lnTo>
                <a:cubicBezTo>
                  <a:pt x="43733" y="64356"/>
                  <a:pt x="43156" y="65844"/>
                  <a:pt x="42000" y="67000"/>
                </a:cubicBezTo>
                <a:lnTo>
                  <a:pt x="42000" y="67000"/>
                </a:lnTo>
                <a:cubicBezTo>
                  <a:pt x="40844" y="68156"/>
                  <a:pt x="39356" y="68733"/>
                  <a:pt x="37533" y="68733"/>
                </a:cubicBezTo>
                <a:lnTo>
                  <a:pt x="37533" y="68733"/>
                </a:lnTo>
                <a:cubicBezTo>
                  <a:pt x="35667" y="68733"/>
                  <a:pt x="34156" y="68156"/>
                  <a:pt x="33000" y="67000"/>
                </a:cubicBezTo>
                <a:lnTo>
                  <a:pt x="33000" y="67000"/>
                </a:lnTo>
                <a:cubicBezTo>
                  <a:pt x="31844" y="65844"/>
                  <a:pt x="31267" y="64356"/>
                  <a:pt x="31267" y="62533"/>
                </a:cubicBezTo>
                <a:lnTo>
                  <a:pt x="31267" y="62533"/>
                </a:lnTo>
                <a:lnTo>
                  <a:pt x="31267" y="37533"/>
                </a:lnTo>
                <a:cubicBezTo>
                  <a:pt x="31267" y="35667"/>
                  <a:pt x="31844" y="34156"/>
                  <a:pt x="33000" y="33000"/>
                </a:cubicBezTo>
                <a:lnTo>
                  <a:pt x="33000" y="33000"/>
                </a:lnTo>
                <a:cubicBezTo>
                  <a:pt x="34156" y="31844"/>
                  <a:pt x="35667" y="31267"/>
                  <a:pt x="37533" y="31267"/>
                </a:cubicBezTo>
                <a:lnTo>
                  <a:pt x="37533" y="31267"/>
                </a:lnTo>
                <a:cubicBezTo>
                  <a:pt x="39356" y="31267"/>
                  <a:pt x="40844" y="31844"/>
                  <a:pt x="42000" y="33000"/>
                </a:cubicBezTo>
                <a:lnTo>
                  <a:pt x="42000" y="33000"/>
                </a:lnTo>
                <a:cubicBezTo>
                  <a:pt x="43156" y="34156"/>
                  <a:pt x="43733" y="35667"/>
                  <a:pt x="43733" y="37533"/>
                </a:cubicBezTo>
                <a:lnTo>
                  <a:pt x="43733" y="37533"/>
                </a:lnTo>
                <a:close/>
                <a:moveTo>
                  <a:pt x="68733" y="37533"/>
                </a:moveTo>
                <a:lnTo>
                  <a:pt x="68733" y="37533"/>
                </a:lnTo>
                <a:lnTo>
                  <a:pt x="68733" y="62533"/>
                </a:lnTo>
                <a:cubicBezTo>
                  <a:pt x="68733" y="64356"/>
                  <a:pt x="68156" y="65844"/>
                  <a:pt x="67000" y="67000"/>
                </a:cubicBezTo>
                <a:lnTo>
                  <a:pt x="67000" y="67000"/>
                </a:lnTo>
                <a:cubicBezTo>
                  <a:pt x="65844" y="68156"/>
                  <a:pt x="64356" y="68733"/>
                  <a:pt x="62533" y="68733"/>
                </a:cubicBezTo>
                <a:lnTo>
                  <a:pt x="62533" y="68733"/>
                </a:lnTo>
                <a:cubicBezTo>
                  <a:pt x="60667" y="68733"/>
                  <a:pt x="59156" y="68156"/>
                  <a:pt x="58000" y="67000"/>
                </a:cubicBezTo>
                <a:lnTo>
                  <a:pt x="58000" y="67000"/>
                </a:lnTo>
                <a:cubicBezTo>
                  <a:pt x="56844" y="65844"/>
                  <a:pt x="56267" y="64356"/>
                  <a:pt x="56267" y="62533"/>
                </a:cubicBezTo>
                <a:lnTo>
                  <a:pt x="56267" y="62533"/>
                </a:lnTo>
                <a:lnTo>
                  <a:pt x="56267" y="37533"/>
                </a:lnTo>
                <a:cubicBezTo>
                  <a:pt x="56267" y="35667"/>
                  <a:pt x="56844" y="34156"/>
                  <a:pt x="58000" y="33000"/>
                </a:cubicBezTo>
                <a:lnTo>
                  <a:pt x="58000" y="33000"/>
                </a:lnTo>
                <a:cubicBezTo>
                  <a:pt x="59156" y="31844"/>
                  <a:pt x="60667" y="31267"/>
                  <a:pt x="62533" y="31267"/>
                </a:cubicBezTo>
                <a:lnTo>
                  <a:pt x="62533" y="31267"/>
                </a:lnTo>
                <a:cubicBezTo>
                  <a:pt x="64356" y="31267"/>
                  <a:pt x="65844" y="31844"/>
                  <a:pt x="67000" y="33000"/>
                </a:cubicBezTo>
                <a:lnTo>
                  <a:pt x="67000" y="33000"/>
                </a:lnTo>
                <a:cubicBezTo>
                  <a:pt x="68156" y="34156"/>
                  <a:pt x="68733" y="35667"/>
                  <a:pt x="68733" y="37533"/>
                </a:cubicBezTo>
                <a:lnTo>
                  <a:pt x="68733" y="37533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0134550171-60"/>
          <p:cNvSpPr/>
          <p:nvPr/>
        </p:nvSpPr>
        <p:spPr>
          <a:xfrm>
            <a:off x="847513" y="3652782"/>
            <a:ext cx="525083" cy="223782"/>
          </a:xfrm>
          <a:prstGeom prst="roundRect">
            <a:avLst>
              <a:gd name="adj" fmla="val 8513"/>
            </a:avLst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0134550171-62"/>
          <p:cNvSpPr/>
          <p:nvPr/>
        </p:nvSpPr>
        <p:spPr>
          <a:xfrm>
            <a:off x="847513" y="3957505"/>
            <a:ext cx="525083" cy="223782"/>
          </a:xfrm>
          <a:prstGeom prst="roundRect">
            <a:avLst>
              <a:gd name="adj" fmla="val 8513"/>
            </a:avLst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0134550171-64"/>
          <p:cNvSpPr/>
          <p:nvPr/>
        </p:nvSpPr>
        <p:spPr>
          <a:xfrm>
            <a:off x="847513" y="4262229"/>
            <a:ext cx="525083" cy="223782"/>
          </a:xfrm>
          <a:prstGeom prst="roundRect">
            <a:avLst>
              <a:gd name="adj" fmla="val 8513"/>
            </a:avLst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0134550171-66"/>
          <p:cNvSpPr/>
          <p:nvPr/>
        </p:nvSpPr>
        <p:spPr>
          <a:xfrm>
            <a:off x="847513" y="4566953"/>
            <a:ext cx="525083" cy="223782"/>
          </a:xfrm>
          <a:prstGeom prst="roundRect">
            <a:avLst>
              <a:gd name="adj" fmla="val 8513"/>
            </a:avLst>
          </a:prstGeom>
          <a:solidFill>
            <a:srgbClr val="16A3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0134550162-20"/>
          <p:cNvSpPr/>
          <p:nvPr/>
        </p:nvSpPr>
        <p:spPr>
          <a:xfrm>
            <a:off x="4342314" y="3145702"/>
            <a:ext cx="3504324" cy="17902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el-1780134550177-84"/>
          <p:cNvSpPr/>
          <p:nvPr/>
        </p:nvSpPr>
        <p:spPr>
          <a:xfrm>
            <a:off x="4510131" y="3336712"/>
            <a:ext cx="178588" cy="1893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214" y="0"/>
                </a:moveTo>
                <a:lnTo>
                  <a:pt x="50214" y="0"/>
                </a:lnTo>
                <a:cubicBezTo>
                  <a:pt x="51214" y="0"/>
                  <a:pt x="52119" y="200"/>
                  <a:pt x="52929" y="600"/>
                </a:cubicBezTo>
                <a:lnTo>
                  <a:pt x="52929" y="600"/>
                </a:lnTo>
                <a:lnTo>
                  <a:pt x="92500" y="16200"/>
                </a:lnTo>
                <a:cubicBezTo>
                  <a:pt x="94881" y="17133"/>
                  <a:pt x="96762" y="18578"/>
                  <a:pt x="98143" y="20533"/>
                </a:cubicBezTo>
                <a:lnTo>
                  <a:pt x="98143" y="20533"/>
                </a:lnTo>
                <a:cubicBezTo>
                  <a:pt x="99667" y="22489"/>
                  <a:pt x="100429" y="24756"/>
                  <a:pt x="100429" y="27333"/>
                </a:cubicBezTo>
                <a:lnTo>
                  <a:pt x="100429" y="27333"/>
                </a:lnTo>
                <a:cubicBezTo>
                  <a:pt x="100571" y="34000"/>
                  <a:pt x="99405" y="41822"/>
                  <a:pt x="96929" y="50800"/>
                </a:cubicBezTo>
                <a:lnTo>
                  <a:pt x="96929" y="50800"/>
                </a:lnTo>
                <a:cubicBezTo>
                  <a:pt x="94405" y="59778"/>
                  <a:pt x="89857" y="68489"/>
                  <a:pt x="83286" y="76933"/>
                </a:cubicBezTo>
                <a:lnTo>
                  <a:pt x="83286" y="76933"/>
                </a:lnTo>
                <a:cubicBezTo>
                  <a:pt x="76857" y="85556"/>
                  <a:pt x="67643" y="92667"/>
                  <a:pt x="55643" y="98267"/>
                </a:cubicBezTo>
                <a:lnTo>
                  <a:pt x="55643" y="98267"/>
                </a:lnTo>
                <a:cubicBezTo>
                  <a:pt x="52024" y="99822"/>
                  <a:pt x="48405" y="99822"/>
                  <a:pt x="44786" y="98267"/>
                </a:cubicBezTo>
                <a:lnTo>
                  <a:pt x="44786" y="98267"/>
                </a:lnTo>
                <a:cubicBezTo>
                  <a:pt x="32786" y="92667"/>
                  <a:pt x="23571" y="85556"/>
                  <a:pt x="17143" y="76933"/>
                </a:cubicBezTo>
                <a:lnTo>
                  <a:pt x="17143" y="76933"/>
                </a:lnTo>
                <a:cubicBezTo>
                  <a:pt x="10619" y="68489"/>
                  <a:pt x="6095" y="59778"/>
                  <a:pt x="3571" y="50800"/>
                </a:cubicBezTo>
                <a:lnTo>
                  <a:pt x="3571" y="50800"/>
                </a:lnTo>
                <a:cubicBezTo>
                  <a:pt x="1048" y="41822"/>
                  <a:pt x="-143" y="34000"/>
                  <a:pt x="0" y="27333"/>
                </a:cubicBezTo>
                <a:lnTo>
                  <a:pt x="0" y="27333"/>
                </a:lnTo>
                <a:cubicBezTo>
                  <a:pt x="0" y="24756"/>
                  <a:pt x="762" y="22489"/>
                  <a:pt x="2286" y="20533"/>
                </a:cubicBezTo>
                <a:lnTo>
                  <a:pt x="2286" y="20533"/>
                </a:lnTo>
                <a:cubicBezTo>
                  <a:pt x="3714" y="18578"/>
                  <a:pt x="5595" y="17133"/>
                  <a:pt x="7929" y="16200"/>
                </a:cubicBezTo>
                <a:lnTo>
                  <a:pt x="7929" y="16200"/>
                </a:lnTo>
                <a:lnTo>
                  <a:pt x="47500" y="600"/>
                </a:lnTo>
                <a:cubicBezTo>
                  <a:pt x="48357" y="200"/>
                  <a:pt x="49262" y="0"/>
                  <a:pt x="50214" y="0"/>
                </a:cubicBezTo>
                <a:lnTo>
                  <a:pt x="50214" y="0"/>
                </a:lnTo>
                <a:close/>
                <a:moveTo>
                  <a:pt x="50214" y="13067"/>
                </a:moveTo>
                <a:lnTo>
                  <a:pt x="50214" y="13067"/>
                </a:lnTo>
                <a:lnTo>
                  <a:pt x="50214" y="86933"/>
                </a:lnTo>
                <a:cubicBezTo>
                  <a:pt x="59690" y="82356"/>
                  <a:pt x="67167" y="76556"/>
                  <a:pt x="72643" y="69533"/>
                </a:cubicBezTo>
                <a:lnTo>
                  <a:pt x="72643" y="69533"/>
                </a:lnTo>
                <a:cubicBezTo>
                  <a:pt x="77929" y="62511"/>
                  <a:pt x="81690" y="55289"/>
                  <a:pt x="83929" y="47867"/>
                </a:cubicBezTo>
                <a:lnTo>
                  <a:pt x="83929" y="47867"/>
                </a:lnTo>
                <a:cubicBezTo>
                  <a:pt x="86024" y="40311"/>
                  <a:pt x="87071" y="33533"/>
                  <a:pt x="87071" y="27533"/>
                </a:cubicBezTo>
                <a:lnTo>
                  <a:pt x="87071" y="27533"/>
                </a:lnTo>
                <a:lnTo>
                  <a:pt x="50214" y="13067"/>
                </a:lnTo>
                <a:lnTo>
                  <a:pt x="50214" y="13067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-1780134550172-68"/>
          <p:cNvSpPr/>
          <p:nvPr/>
        </p:nvSpPr>
        <p:spPr>
          <a:xfrm>
            <a:off x="4504199" y="3652782"/>
            <a:ext cx="476131" cy="223782"/>
          </a:xfrm>
          <a:prstGeom prst="roundRect">
            <a:avLst>
              <a:gd name="adj" fmla="val 8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0134550172-70"/>
          <p:cNvSpPr/>
          <p:nvPr/>
        </p:nvSpPr>
        <p:spPr>
          <a:xfrm>
            <a:off x="4504199" y="3957505"/>
            <a:ext cx="476131" cy="223782"/>
          </a:xfrm>
          <a:prstGeom prst="roundRect">
            <a:avLst>
              <a:gd name="adj" fmla="val 8513"/>
            </a:avLst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-1780134550172-72"/>
          <p:cNvSpPr/>
          <p:nvPr/>
        </p:nvSpPr>
        <p:spPr>
          <a:xfrm>
            <a:off x="4504199" y="4262229"/>
            <a:ext cx="476131" cy="223782"/>
          </a:xfrm>
          <a:prstGeom prst="roundRect">
            <a:avLst>
              <a:gd name="adj" fmla="val 8513"/>
            </a:avLst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0134550163-21"/>
          <p:cNvSpPr/>
          <p:nvPr/>
        </p:nvSpPr>
        <p:spPr>
          <a:xfrm>
            <a:off x="7999000" y="3145702"/>
            <a:ext cx="3504324" cy="17902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el-1780134550177-85"/>
          <p:cNvSpPr/>
          <p:nvPr/>
        </p:nvSpPr>
        <p:spPr>
          <a:xfrm>
            <a:off x="8160884" y="3336154"/>
            <a:ext cx="190452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81267" y="40600"/>
                </a:moveTo>
                <a:lnTo>
                  <a:pt x="81267" y="40600"/>
                </a:lnTo>
                <a:cubicBezTo>
                  <a:pt x="81133" y="49711"/>
                  <a:pt x="78533" y="57733"/>
                  <a:pt x="73467" y="64667"/>
                </a:cubicBezTo>
                <a:lnTo>
                  <a:pt x="73467" y="64667"/>
                </a:lnTo>
                <a:lnTo>
                  <a:pt x="98267" y="89267"/>
                </a:lnTo>
                <a:cubicBezTo>
                  <a:pt x="99422" y="90556"/>
                  <a:pt x="100000" y="92044"/>
                  <a:pt x="100000" y="93733"/>
                </a:cubicBezTo>
                <a:lnTo>
                  <a:pt x="100000" y="93733"/>
                </a:lnTo>
                <a:cubicBezTo>
                  <a:pt x="100000" y="95422"/>
                  <a:pt x="99422" y="96933"/>
                  <a:pt x="98267" y="98267"/>
                </a:cubicBezTo>
                <a:lnTo>
                  <a:pt x="98267" y="98267"/>
                </a:lnTo>
                <a:cubicBezTo>
                  <a:pt x="96933" y="99422"/>
                  <a:pt x="95422" y="100000"/>
                  <a:pt x="93733" y="100000"/>
                </a:cubicBezTo>
                <a:lnTo>
                  <a:pt x="93733" y="100000"/>
                </a:lnTo>
                <a:cubicBezTo>
                  <a:pt x="92044" y="100000"/>
                  <a:pt x="90556" y="99422"/>
                  <a:pt x="89267" y="98267"/>
                </a:cubicBezTo>
                <a:lnTo>
                  <a:pt x="89267" y="98267"/>
                </a:lnTo>
                <a:lnTo>
                  <a:pt x="64667" y="73467"/>
                </a:lnTo>
                <a:cubicBezTo>
                  <a:pt x="57733" y="78533"/>
                  <a:pt x="49711" y="81133"/>
                  <a:pt x="40600" y="81267"/>
                </a:cubicBezTo>
                <a:lnTo>
                  <a:pt x="40600" y="81267"/>
                </a:lnTo>
                <a:cubicBezTo>
                  <a:pt x="29178" y="81000"/>
                  <a:pt x="19622" y="77022"/>
                  <a:pt x="11933" y="69333"/>
                </a:cubicBezTo>
                <a:lnTo>
                  <a:pt x="11933" y="69333"/>
                </a:lnTo>
                <a:cubicBezTo>
                  <a:pt x="4244" y="61644"/>
                  <a:pt x="267" y="52067"/>
                  <a:pt x="0" y="40600"/>
                </a:cubicBezTo>
                <a:lnTo>
                  <a:pt x="0" y="40600"/>
                </a:lnTo>
                <a:cubicBezTo>
                  <a:pt x="267" y="29178"/>
                  <a:pt x="4244" y="19622"/>
                  <a:pt x="11933" y="11933"/>
                </a:cubicBezTo>
                <a:lnTo>
                  <a:pt x="11933" y="11933"/>
                </a:lnTo>
                <a:cubicBezTo>
                  <a:pt x="19622" y="4244"/>
                  <a:pt x="29178" y="267"/>
                  <a:pt x="40600" y="0"/>
                </a:cubicBezTo>
                <a:lnTo>
                  <a:pt x="40600" y="0"/>
                </a:lnTo>
                <a:cubicBezTo>
                  <a:pt x="52067" y="267"/>
                  <a:pt x="61644" y="4244"/>
                  <a:pt x="69333" y="11933"/>
                </a:cubicBezTo>
                <a:lnTo>
                  <a:pt x="69333" y="11933"/>
                </a:lnTo>
                <a:cubicBezTo>
                  <a:pt x="77022" y="19622"/>
                  <a:pt x="81000" y="29178"/>
                  <a:pt x="81267" y="40600"/>
                </a:cubicBezTo>
                <a:lnTo>
                  <a:pt x="81267" y="40600"/>
                </a:lnTo>
                <a:close/>
                <a:moveTo>
                  <a:pt x="40600" y="68733"/>
                </a:moveTo>
                <a:lnTo>
                  <a:pt x="40600" y="68733"/>
                </a:lnTo>
                <a:cubicBezTo>
                  <a:pt x="45711" y="68733"/>
                  <a:pt x="50400" y="67511"/>
                  <a:pt x="54667" y="65067"/>
                </a:cubicBezTo>
                <a:lnTo>
                  <a:pt x="54667" y="65067"/>
                </a:lnTo>
                <a:lnTo>
                  <a:pt x="54667" y="65067"/>
                </a:lnTo>
                <a:cubicBezTo>
                  <a:pt x="58978" y="62578"/>
                  <a:pt x="62444" y="59111"/>
                  <a:pt x="65067" y="54667"/>
                </a:cubicBezTo>
                <a:lnTo>
                  <a:pt x="65067" y="54667"/>
                </a:lnTo>
                <a:cubicBezTo>
                  <a:pt x="67511" y="50267"/>
                  <a:pt x="68733" y="45578"/>
                  <a:pt x="68733" y="40600"/>
                </a:cubicBezTo>
                <a:lnTo>
                  <a:pt x="68733" y="40600"/>
                </a:lnTo>
                <a:cubicBezTo>
                  <a:pt x="68733" y="35667"/>
                  <a:pt x="67511" y="30978"/>
                  <a:pt x="65067" y="26533"/>
                </a:cubicBezTo>
                <a:lnTo>
                  <a:pt x="65067" y="26533"/>
                </a:lnTo>
                <a:cubicBezTo>
                  <a:pt x="62444" y="22133"/>
                  <a:pt x="58978" y="18689"/>
                  <a:pt x="54667" y="16200"/>
                </a:cubicBezTo>
                <a:lnTo>
                  <a:pt x="54667" y="16200"/>
                </a:lnTo>
                <a:cubicBezTo>
                  <a:pt x="50400" y="13756"/>
                  <a:pt x="45711" y="12533"/>
                  <a:pt x="40600" y="12533"/>
                </a:cubicBezTo>
                <a:lnTo>
                  <a:pt x="40600" y="12533"/>
                </a:lnTo>
                <a:cubicBezTo>
                  <a:pt x="35533" y="12533"/>
                  <a:pt x="30844" y="13756"/>
                  <a:pt x="26533" y="16200"/>
                </a:cubicBezTo>
                <a:lnTo>
                  <a:pt x="26533" y="16200"/>
                </a:lnTo>
                <a:cubicBezTo>
                  <a:pt x="22267" y="18689"/>
                  <a:pt x="18822" y="22133"/>
                  <a:pt x="16200" y="26533"/>
                </a:cubicBezTo>
                <a:lnTo>
                  <a:pt x="16200" y="26533"/>
                </a:lnTo>
                <a:cubicBezTo>
                  <a:pt x="13756" y="30978"/>
                  <a:pt x="12533" y="35667"/>
                  <a:pt x="12533" y="40600"/>
                </a:cubicBezTo>
                <a:lnTo>
                  <a:pt x="12533" y="40600"/>
                </a:lnTo>
                <a:cubicBezTo>
                  <a:pt x="12533" y="45578"/>
                  <a:pt x="13756" y="50267"/>
                  <a:pt x="16200" y="54667"/>
                </a:cubicBezTo>
                <a:lnTo>
                  <a:pt x="16200" y="54667"/>
                </a:lnTo>
                <a:cubicBezTo>
                  <a:pt x="18822" y="59111"/>
                  <a:pt x="22267" y="62578"/>
                  <a:pt x="26533" y="65067"/>
                </a:cubicBezTo>
                <a:lnTo>
                  <a:pt x="26533" y="65067"/>
                </a:lnTo>
                <a:cubicBezTo>
                  <a:pt x="30844" y="67511"/>
                  <a:pt x="35533" y="68733"/>
                  <a:pt x="40600" y="68733"/>
                </a:cubicBezTo>
                <a:lnTo>
                  <a:pt x="40600" y="68733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0134550172-74"/>
          <p:cNvSpPr/>
          <p:nvPr/>
        </p:nvSpPr>
        <p:spPr>
          <a:xfrm>
            <a:off x="8160884" y="3652782"/>
            <a:ext cx="476131" cy="223782"/>
          </a:xfrm>
          <a:prstGeom prst="roundRect">
            <a:avLst>
              <a:gd name="adj" fmla="val 8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el-1780134550172-76"/>
          <p:cNvSpPr/>
          <p:nvPr/>
        </p:nvSpPr>
        <p:spPr>
          <a:xfrm>
            <a:off x="8160884" y="3957505"/>
            <a:ext cx="476131" cy="223782"/>
          </a:xfrm>
          <a:prstGeom prst="roundRect">
            <a:avLst>
              <a:gd name="adj" fmla="val 8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0134550173-78"/>
          <p:cNvSpPr/>
          <p:nvPr/>
        </p:nvSpPr>
        <p:spPr>
          <a:xfrm>
            <a:off x="8160884" y="4262229"/>
            <a:ext cx="476131" cy="223782"/>
          </a:xfrm>
          <a:prstGeom prst="roundRect">
            <a:avLst>
              <a:gd name="adj" fmla="val 8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el-1780134550159-10"/>
          <p:cNvSpPr/>
          <p:nvPr/>
        </p:nvSpPr>
        <p:spPr>
          <a:xfrm>
            <a:off x="685629" y="5088316"/>
            <a:ext cx="10817695" cy="49041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4" name="el-1780134550159-11"/>
          <p:cNvCxnSpPr/>
          <p:nvPr/>
        </p:nvCxnSpPr>
        <p:spPr>
          <a:xfrm>
            <a:off x="704674" y="5088316"/>
            <a:ext cx="914" cy="490415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l-1780134550176-79"/>
          <p:cNvSpPr/>
          <p:nvPr/>
        </p:nvSpPr>
        <p:spPr>
          <a:xfrm>
            <a:off x="914171" y="5238298"/>
            <a:ext cx="190452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0000" y="100000"/>
                </a:moveTo>
                <a:lnTo>
                  <a:pt x="50000" y="100000"/>
                </a:lnTo>
                <a:cubicBezTo>
                  <a:pt x="59111" y="99867"/>
                  <a:pt x="67444" y="97644"/>
                  <a:pt x="75000" y="93333"/>
                </a:cubicBezTo>
                <a:lnTo>
                  <a:pt x="75000" y="93333"/>
                </a:lnTo>
                <a:lnTo>
                  <a:pt x="75000" y="93333"/>
                </a:lnTo>
                <a:cubicBezTo>
                  <a:pt x="82556" y="88933"/>
                  <a:pt x="88667" y="82822"/>
                  <a:pt x="93333" y="75000"/>
                </a:cubicBezTo>
                <a:lnTo>
                  <a:pt x="93333" y="75000"/>
                </a:lnTo>
                <a:cubicBezTo>
                  <a:pt x="97778" y="67044"/>
                  <a:pt x="100000" y="58711"/>
                  <a:pt x="100000" y="50000"/>
                </a:cubicBezTo>
                <a:lnTo>
                  <a:pt x="100000" y="50000"/>
                </a:lnTo>
                <a:cubicBezTo>
                  <a:pt x="100000" y="41289"/>
                  <a:pt x="97778" y="32956"/>
                  <a:pt x="93333" y="25000"/>
                </a:cubicBezTo>
                <a:lnTo>
                  <a:pt x="93333" y="25000"/>
                </a:lnTo>
                <a:cubicBezTo>
                  <a:pt x="88667" y="17178"/>
                  <a:pt x="82556" y="11067"/>
                  <a:pt x="75000" y="6667"/>
                </a:cubicBezTo>
                <a:lnTo>
                  <a:pt x="75000" y="6667"/>
                </a:lnTo>
                <a:cubicBezTo>
                  <a:pt x="67444" y="2356"/>
                  <a:pt x="59111" y="133"/>
                  <a:pt x="50000" y="0"/>
                </a:cubicBezTo>
                <a:lnTo>
                  <a:pt x="50000" y="0"/>
                </a:lnTo>
                <a:cubicBezTo>
                  <a:pt x="40889" y="133"/>
                  <a:pt x="32556" y="2356"/>
                  <a:pt x="25000" y="6667"/>
                </a:cubicBezTo>
                <a:lnTo>
                  <a:pt x="25000" y="6667"/>
                </a:lnTo>
                <a:cubicBezTo>
                  <a:pt x="17444" y="11067"/>
                  <a:pt x="11333" y="17178"/>
                  <a:pt x="6667" y="25000"/>
                </a:cubicBezTo>
                <a:lnTo>
                  <a:pt x="6667" y="25000"/>
                </a:lnTo>
                <a:cubicBezTo>
                  <a:pt x="2222" y="32956"/>
                  <a:pt x="0" y="41289"/>
                  <a:pt x="0" y="50000"/>
                </a:cubicBezTo>
                <a:lnTo>
                  <a:pt x="0" y="50000"/>
                </a:lnTo>
                <a:cubicBezTo>
                  <a:pt x="0" y="58711"/>
                  <a:pt x="2222" y="67044"/>
                  <a:pt x="6667" y="75000"/>
                </a:cubicBezTo>
                <a:lnTo>
                  <a:pt x="6667" y="75000"/>
                </a:lnTo>
                <a:cubicBezTo>
                  <a:pt x="11333" y="82822"/>
                  <a:pt x="17444" y="88933"/>
                  <a:pt x="25000" y="93333"/>
                </a:cubicBezTo>
                <a:lnTo>
                  <a:pt x="25000" y="93333"/>
                </a:lnTo>
                <a:cubicBezTo>
                  <a:pt x="32556" y="97644"/>
                  <a:pt x="40889" y="99867"/>
                  <a:pt x="50000" y="100000"/>
                </a:cubicBezTo>
                <a:lnTo>
                  <a:pt x="50000" y="100000"/>
                </a:lnTo>
                <a:close/>
                <a:moveTo>
                  <a:pt x="42200" y="65600"/>
                </a:moveTo>
                <a:lnTo>
                  <a:pt x="42200" y="65600"/>
                </a:lnTo>
                <a:lnTo>
                  <a:pt x="46867" y="65600"/>
                </a:lnTo>
                <a:lnTo>
                  <a:pt x="46867" y="53133"/>
                </a:lnTo>
                <a:lnTo>
                  <a:pt x="42200" y="53133"/>
                </a:lnTo>
                <a:cubicBezTo>
                  <a:pt x="39311" y="52867"/>
                  <a:pt x="37756" y="51311"/>
                  <a:pt x="37533" y="48467"/>
                </a:cubicBezTo>
                <a:lnTo>
                  <a:pt x="37533" y="48467"/>
                </a:lnTo>
                <a:cubicBezTo>
                  <a:pt x="37756" y="45578"/>
                  <a:pt x="39311" y="44000"/>
                  <a:pt x="42200" y="43733"/>
                </a:cubicBezTo>
                <a:lnTo>
                  <a:pt x="42200" y="43733"/>
                </a:lnTo>
                <a:lnTo>
                  <a:pt x="51533" y="43733"/>
                </a:lnTo>
                <a:cubicBezTo>
                  <a:pt x="54422" y="44000"/>
                  <a:pt x="56000" y="45578"/>
                  <a:pt x="56267" y="48467"/>
                </a:cubicBezTo>
                <a:lnTo>
                  <a:pt x="56267" y="48467"/>
                </a:lnTo>
                <a:lnTo>
                  <a:pt x="56267" y="65600"/>
                </a:lnTo>
                <a:lnTo>
                  <a:pt x="57800" y="65600"/>
                </a:lnTo>
                <a:cubicBezTo>
                  <a:pt x="60689" y="65867"/>
                  <a:pt x="62267" y="67444"/>
                  <a:pt x="62533" y="70333"/>
                </a:cubicBezTo>
                <a:lnTo>
                  <a:pt x="62533" y="70333"/>
                </a:lnTo>
                <a:cubicBezTo>
                  <a:pt x="62267" y="73178"/>
                  <a:pt x="60689" y="74733"/>
                  <a:pt x="57800" y="75000"/>
                </a:cubicBezTo>
                <a:lnTo>
                  <a:pt x="57800" y="75000"/>
                </a:lnTo>
                <a:lnTo>
                  <a:pt x="42200" y="75000"/>
                </a:lnTo>
                <a:cubicBezTo>
                  <a:pt x="39311" y="74733"/>
                  <a:pt x="37756" y="73178"/>
                  <a:pt x="37533" y="70333"/>
                </a:cubicBezTo>
                <a:lnTo>
                  <a:pt x="37533" y="70333"/>
                </a:lnTo>
                <a:cubicBezTo>
                  <a:pt x="37756" y="67444"/>
                  <a:pt x="39311" y="65867"/>
                  <a:pt x="42200" y="65600"/>
                </a:cubicBezTo>
                <a:lnTo>
                  <a:pt x="42200" y="65600"/>
                </a:lnTo>
                <a:close/>
                <a:moveTo>
                  <a:pt x="50000" y="25000"/>
                </a:moveTo>
                <a:lnTo>
                  <a:pt x="50000" y="25000"/>
                </a:lnTo>
                <a:cubicBezTo>
                  <a:pt x="51822" y="25000"/>
                  <a:pt x="53311" y="25578"/>
                  <a:pt x="54467" y="26733"/>
                </a:cubicBezTo>
                <a:lnTo>
                  <a:pt x="54467" y="26733"/>
                </a:lnTo>
                <a:lnTo>
                  <a:pt x="54467" y="26733"/>
                </a:lnTo>
                <a:cubicBezTo>
                  <a:pt x="55667" y="27933"/>
                  <a:pt x="56267" y="29444"/>
                  <a:pt x="56267" y="31267"/>
                </a:cubicBezTo>
                <a:lnTo>
                  <a:pt x="56267" y="31267"/>
                </a:lnTo>
                <a:cubicBezTo>
                  <a:pt x="56267" y="33089"/>
                  <a:pt x="55667" y="34578"/>
                  <a:pt x="54467" y="35733"/>
                </a:cubicBezTo>
                <a:lnTo>
                  <a:pt x="54467" y="35733"/>
                </a:lnTo>
                <a:cubicBezTo>
                  <a:pt x="53311" y="36933"/>
                  <a:pt x="51822" y="37533"/>
                  <a:pt x="50000" y="37533"/>
                </a:cubicBezTo>
                <a:lnTo>
                  <a:pt x="50000" y="37533"/>
                </a:lnTo>
                <a:cubicBezTo>
                  <a:pt x="48178" y="37533"/>
                  <a:pt x="46689" y="36933"/>
                  <a:pt x="45533" y="35733"/>
                </a:cubicBezTo>
                <a:lnTo>
                  <a:pt x="45533" y="35733"/>
                </a:lnTo>
                <a:cubicBezTo>
                  <a:pt x="44333" y="34578"/>
                  <a:pt x="43733" y="33089"/>
                  <a:pt x="43733" y="31267"/>
                </a:cubicBezTo>
                <a:lnTo>
                  <a:pt x="43733" y="31267"/>
                </a:lnTo>
                <a:cubicBezTo>
                  <a:pt x="43733" y="29444"/>
                  <a:pt x="44333" y="27933"/>
                  <a:pt x="45533" y="26733"/>
                </a:cubicBezTo>
                <a:lnTo>
                  <a:pt x="45533" y="26733"/>
                </a:lnTo>
                <a:cubicBezTo>
                  <a:pt x="46689" y="25578"/>
                  <a:pt x="48178" y="25000"/>
                  <a:pt x="50000" y="25000"/>
                </a:cubicBezTo>
                <a:lnTo>
                  <a:pt x="50000" y="25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0134550161-13"/>
          <p:cNvSpPr/>
          <p:nvPr/>
        </p:nvSpPr>
        <p:spPr>
          <a:xfrm>
            <a:off x="2114021" y="5240678"/>
            <a:ext cx="476131" cy="223782"/>
          </a:xfrm>
          <a:prstGeom prst="roundRect">
            <a:avLst>
              <a:gd name="adj" fmla="val 8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el-1780134550161-13__text"/>
          <p:cNvSpPr txBox="1"/>
          <p:nvPr/>
        </p:nvSpPr>
        <p:spPr>
          <a:xfrm>
            <a:off x="2114021" y="5240678"/>
            <a:ext cx="476131" cy="2237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</a:t>
            </a:r>
            <a:endParaRPr sz="970" b="1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0134550162-14"/>
          <p:cNvSpPr/>
          <p:nvPr/>
        </p:nvSpPr>
        <p:spPr>
          <a:xfrm>
            <a:off x="3394814" y="5240678"/>
            <a:ext cx="476131" cy="223782"/>
          </a:xfrm>
          <a:prstGeom prst="roundRect">
            <a:avLst>
              <a:gd name="adj" fmla="val 8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el-1780134550162-14__text"/>
          <p:cNvSpPr txBox="1"/>
          <p:nvPr/>
        </p:nvSpPr>
        <p:spPr>
          <a:xfrm>
            <a:off x="3394814" y="5240678"/>
            <a:ext cx="476131" cy="2237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</a:t>
            </a:r>
            <a:endParaRPr sz="970" b="1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0134550162-15"/>
          <p:cNvSpPr/>
          <p:nvPr/>
        </p:nvSpPr>
        <p:spPr>
          <a:xfrm>
            <a:off x="4547050" y="5240678"/>
            <a:ext cx="476131" cy="223782"/>
          </a:xfrm>
          <a:prstGeom prst="roundRect">
            <a:avLst>
              <a:gd name="adj" fmla="val 8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el-1780134550162-15__text"/>
          <p:cNvSpPr txBox="1"/>
          <p:nvPr/>
        </p:nvSpPr>
        <p:spPr>
          <a:xfrm>
            <a:off x="4547050" y="5240678"/>
            <a:ext cx="476131" cy="2237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</a:t>
            </a:r>
            <a:endParaRPr sz="970" b="1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el-1780134550158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el-1780134550159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0134550159-6"/>
          <p:cNvSpPr txBox="1"/>
          <p:nvPr/>
        </p:nvSpPr>
        <p:spPr>
          <a:xfrm>
            <a:off x="1212051" y="-3904"/>
            <a:ext cx="2056886" cy="6856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35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接口设计</a:t>
            </a:r>
            <a:endParaRPr sz="35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0134550159-7"/>
          <p:cNvSpPr txBox="1"/>
          <p:nvPr/>
        </p:nvSpPr>
        <p:spPr>
          <a:xfrm>
            <a:off x="3268936" y="210355"/>
            <a:ext cx="1765702" cy="257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 API OVERVIEW</a:t>
            </a:r>
            <a:endParaRPr sz="13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0134550164-22"/>
          <p:cNvSpPr txBox="1"/>
          <p:nvPr/>
        </p:nvSpPr>
        <p:spPr>
          <a:xfrm>
            <a:off x="847513" y="1650651"/>
            <a:ext cx="3275781" cy="285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indent="247650" algn="l">
              <a:lnSpc>
                <a:spcPct val="100000"/>
              </a:lnSpc>
            </a:pPr>
            <a:r>
              <a:rPr sz="14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 (Auth)</a:t>
            </a:r>
            <a:endParaRPr sz="14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0134550168-45"/>
          <p:cNvSpPr txBox="1"/>
          <p:nvPr/>
        </p:nvSpPr>
        <p:spPr>
          <a:xfrm>
            <a:off x="880842" y="2033936"/>
            <a:ext cx="458425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0134550167-28"/>
          <p:cNvSpPr txBox="1"/>
          <p:nvPr/>
        </p:nvSpPr>
        <p:spPr>
          <a:xfrm>
            <a:off x="1467822" y="2031556"/>
            <a:ext cx="90435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/auth/login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0134550169-47"/>
          <p:cNvSpPr txBox="1"/>
          <p:nvPr/>
        </p:nvSpPr>
        <p:spPr>
          <a:xfrm>
            <a:off x="880842" y="2338660"/>
            <a:ext cx="409473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0134550167-29"/>
          <p:cNvSpPr txBox="1"/>
          <p:nvPr/>
        </p:nvSpPr>
        <p:spPr>
          <a:xfrm>
            <a:off x="1418870" y="2336279"/>
            <a:ext cx="1225740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/auth/password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0134550164-23"/>
          <p:cNvSpPr txBox="1"/>
          <p:nvPr/>
        </p:nvSpPr>
        <p:spPr>
          <a:xfrm>
            <a:off x="4504199" y="1650651"/>
            <a:ext cx="3275781" cy="285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indent="247650" algn="l">
              <a:lnSpc>
                <a:spcPct val="100000"/>
              </a:lnSpc>
            </a:pPr>
            <a:r>
              <a:rPr sz="14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 (Stock)</a:t>
            </a:r>
            <a:endParaRPr sz="14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0134550169-49"/>
          <p:cNvSpPr txBox="1"/>
          <p:nvPr/>
        </p:nvSpPr>
        <p:spPr>
          <a:xfrm>
            <a:off x="4537528" y="2033936"/>
            <a:ext cx="409473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0134550167-30"/>
          <p:cNvSpPr txBox="1"/>
          <p:nvPr/>
        </p:nvSpPr>
        <p:spPr>
          <a:xfrm>
            <a:off x="5075556" y="2031556"/>
            <a:ext cx="594122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/stocks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0134550170-51"/>
          <p:cNvSpPr txBox="1"/>
          <p:nvPr/>
        </p:nvSpPr>
        <p:spPr>
          <a:xfrm>
            <a:off x="4537528" y="2338660"/>
            <a:ext cx="409473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0134550167-31"/>
          <p:cNvSpPr txBox="1"/>
          <p:nvPr/>
        </p:nvSpPr>
        <p:spPr>
          <a:xfrm>
            <a:off x="5075556" y="2336279"/>
            <a:ext cx="1613340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/stocks/{code}/quote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0134550170-53"/>
          <p:cNvSpPr txBox="1"/>
          <p:nvPr/>
        </p:nvSpPr>
        <p:spPr>
          <a:xfrm>
            <a:off x="4537528" y="2643384"/>
            <a:ext cx="409473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0134550167-32"/>
          <p:cNvSpPr txBox="1"/>
          <p:nvPr/>
        </p:nvSpPr>
        <p:spPr>
          <a:xfrm>
            <a:off x="5075556" y="2641003"/>
            <a:ext cx="112664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/stocks/search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0134550164-24"/>
          <p:cNvSpPr txBox="1"/>
          <p:nvPr/>
        </p:nvSpPr>
        <p:spPr>
          <a:xfrm>
            <a:off x="8160884" y="1650651"/>
            <a:ext cx="3275781" cy="285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indent="200025" algn="l">
              <a:lnSpc>
                <a:spcPct val="100000"/>
              </a:lnSpc>
            </a:pPr>
            <a:r>
              <a:rPr sz="14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涨跌停 (Limit)</a:t>
            </a:r>
            <a:endParaRPr sz="14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0134550170-55"/>
          <p:cNvSpPr txBox="1"/>
          <p:nvPr/>
        </p:nvSpPr>
        <p:spPr>
          <a:xfrm>
            <a:off x="8194213" y="2033936"/>
            <a:ext cx="409473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0134550167-33"/>
          <p:cNvSpPr txBox="1"/>
          <p:nvPr/>
        </p:nvSpPr>
        <p:spPr>
          <a:xfrm>
            <a:off x="8732241" y="2031556"/>
            <a:ext cx="1574952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/stocks/{code}/limits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0134550170-57"/>
          <p:cNvSpPr txBox="1"/>
          <p:nvPr/>
        </p:nvSpPr>
        <p:spPr>
          <a:xfrm>
            <a:off x="8194213" y="2338660"/>
            <a:ext cx="409473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0134550167-34"/>
          <p:cNvSpPr txBox="1"/>
          <p:nvPr/>
        </p:nvSpPr>
        <p:spPr>
          <a:xfrm>
            <a:off x="8732241" y="2336279"/>
            <a:ext cx="1574952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/stocks/{code}/limits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0134550164-25"/>
          <p:cNvSpPr txBox="1"/>
          <p:nvPr/>
        </p:nvSpPr>
        <p:spPr>
          <a:xfrm>
            <a:off x="847513" y="3288541"/>
            <a:ext cx="3275781" cy="285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indent="247650" algn="l">
              <a:lnSpc>
                <a:spcPct val="100000"/>
              </a:lnSpc>
            </a:pPr>
            <a:r>
              <a:rPr sz="14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交易控制 (Trade)</a:t>
            </a:r>
            <a:endParaRPr sz="14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0134550171-59"/>
          <p:cNvSpPr txBox="1"/>
          <p:nvPr/>
        </p:nvSpPr>
        <p:spPr>
          <a:xfrm>
            <a:off x="880842" y="3671827"/>
            <a:ext cx="458425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0134550167-35"/>
          <p:cNvSpPr txBox="1"/>
          <p:nvPr/>
        </p:nvSpPr>
        <p:spPr>
          <a:xfrm>
            <a:off x="1467822" y="3669446"/>
            <a:ext cx="16134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/stocks/{code}/pause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0134550171-61"/>
          <p:cNvSpPr txBox="1"/>
          <p:nvPr/>
        </p:nvSpPr>
        <p:spPr>
          <a:xfrm>
            <a:off x="880842" y="3976551"/>
            <a:ext cx="458425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0134550167-36"/>
          <p:cNvSpPr txBox="1"/>
          <p:nvPr/>
        </p:nvSpPr>
        <p:spPr>
          <a:xfrm>
            <a:off x="1467822" y="3974170"/>
            <a:ext cx="171927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/stocks/{code}/resume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0134550171-63"/>
          <p:cNvSpPr txBox="1"/>
          <p:nvPr/>
        </p:nvSpPr>
        <p:spPr>
          <a:xfrm>
            <a:off x="880842" y="4281274"/>
            <a:ext cx="458425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0134550167-37"/>
          <p:cNvSpPr txBox="1"/>
          <p:nvPr/>
        </p:nvSpPr>
        <p:spPr>
          <a:xfrm>
            <a:off x="1467822" y="4278894"/>
            <a:ext cx="150814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/trading-days/open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0134550171-65"/>
          <p:cNvSpPr txBox="1"/>
          <p:nvPr/>
        </p:nvSpPr>
        <p:spPr>
          <a:xfrm>
            <a:off x="880842" y="4585998"/>
            <a:ext cx="458425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0134550167-38"/>
          <p:cNvSpPr txBox="1"/>
          <p:nvPr/>
        </p:nvSpPr>
        <p:spPr>
          <a:xfrm>
            <a:off x="1467822" y="4583618"/>
            <a:ext cx="150442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/trading-days/close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0134550164-26"/>
          <p:cNvSpPr txBox="1"/>
          <p:nvPr/>
        </p:nvSpPr>
        <p:spPr>
          <a:xfrm>
            <a:off x="4504199" y="3288541"/>
            <a:ext cx="3275781" cy="285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indent="247650" algn="l">
              <a:lnSpc>
                <a:spcPct val="100000"/>
              </a:lnSpc>
            </a:pPr>
            <a:r>
              <a:rPr sz="14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 (Admin)</a:t>
            </a:r>
            <a:endParaRPr sz="14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0134550172-67"/>
          <p:cNvSpPr txBox="1"/>
          <p:nvPr/>
        </p:nvSpPr>
        <p:spPr>
          <a:xfrm>
            <a:off x="4537528" y="3671827"/>
            <a:ext cx="409473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0134550168-39"/>
          <p:cNvSpPr txBox="1"/>
          <p:nvPr/>
        </p:nvSpPr>
        <p:spPr>
          <a:xfrm>
            <a:off x="5075556" y="3669446"/>
            <a:ext cx="67074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/admins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0134550172-69"/>
          <p:cNvSpPr txBox="1"/>
          <p:nvPr/>
        </p:nvSpPr>
        <p:spPr>
          <a:xfrm>
            <a:off x="4537528" y="3976551"/>
            <a:ext cx="409473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0134550168-40"/>
          <p:cNvSpPr txBox="1"/>
          <p:nvPr/>
        </p:nvSpPr>
        <p:spPr>
          <a:xfrm>
            <a:off x="5075556" y="3974170"/>
            <a:ext cx="190854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/admins/{id}/permissions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0134550172-71"/>
          <p:cNvSpPr txBox="1"/>
          <p:nvPr/>
        </p:nvSpPr>
        <p:spPr>
          <a:xfrm>
            <a:off x="4537528" y="4281274"/>
            <a:ext cx="409473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PUT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0134550168-41"/>
          <p:cNvSpPr txBox="1"/>
          <p:nvPr/>
        </p:nvSpPr>
        <p:spPr>
          <a:xfrm>
            <a:off x="5075556" y="4278894"/>
            <a:ext cx="14733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/admins/{id}/status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0134550164-27"/>
          <p:cNvSpPr txBox="1"/>
          <p:nvPr/>
        </p:nvSpPr>
        <p:spPr>
          <a:xfrm>
            <a:off x="8160884" y="3288541"/>
            <a:ext cx="3275781" cy="285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indent="247650" algn="l">
              <a:lnSpc>
                <a:spcPct val="100000"/>
              </a:lnSpc>
            </a:pPr>
            <a:r>
              <a:rPr sz="14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 (Audit)</a:t>
            </a:r>
            <a:endParaRPr sz="14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0134550172-73"/>
          <p:cNvSpPr txBox="1"/>
          <p:nvPr/>
        </p:nvSpPr>
        <p:spPr>
          <a:xfrm>
            <a:off x="8194213" y="3671827"/>
            <a:ext cx="409473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0134550168-42"/>
          <p:cNvSpPr txBox="1"/>
          <p:nvPr/>
        </p:nvSpPr>
        <p:spPr>
          <a:xfrm>
            <a:off x="8732241" y="3669446"/>
            <a:ext cx="166169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/audit/operation-logs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0134550172-75"/>
          <p:cNvSpPr txBox="1"/>
          <p:nvPr/>
        </p:nvSpPr>
        <p:spPr>
          <a:xfrm>
            <a:off x="8194213" y="3976551"/>
            <a:ext cx="409473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0134550168-43"/>
          <p:cNvSpPr txBox="1"/>
          <p:nvPr/>
        </p:nvSpPr>
        <p:spPr>
          <a:xfrm>
            <a:off x="8732241" y="3974170"/>
            <a:ext cx="131992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/audit/login-logs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0134550173-77"/>
          <p:cNvSpPr txBox="1"/>
          <p:nvPr/>
        </p:nvSpPr>
        <p:spPr>
          <a:xfrm>
            <a:off x="8194213" y="4281274"/>
            <a:ext cx="409473" cy="1856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</a:t>
            </a:r>
            <a:endParaRPr sz="97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0134550168-44"/>
          <p:cNvSpPr txBox="1"/>
          <p:nvPr/>
        </p:nvSpPr>
        <p:spPr>
          <a:xfrm>
            <a:off x="8732241" y="4278894"/>
            <a:ext cx="1056862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/audit/export</a:t>
            </a:r>
            <a:endParaRPr sz="119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0134550161-12"/>
          <p:cNvSpPr txBox="1"/>
          <p:nvPr/>
        </p:nvSpPr>
        <p:spPr>
          <a:xfrm>
            <a:off x="1218895" y="5202588"/>
            <a:ext cx="8345831" cy="261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系统端点：           /health ·            /docs ·            /openapi.json ｜ 第一版使用 REST 轮询替代 WebSocket</a:t>
            </a:r>
            <a:endParaRPr sz="13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0134550159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0134550159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9" name="el-1780134550158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50218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50218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50235-93"/>
          <p:cNvSpPr/>
          <p:nvPr/>
        </p:nvSpPr>
        <p:spPr>
          <a:xfrm>
            <a:off x="3243791" y="1998227"/>
            <a:ext cx="380905" cy="38090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0134550261-104"/>
          <p:cNvSpPr/>
          <p:nvPr/>
        </p:nvSpPr>
        <p:spPr>
          <a:xfrm>
            <a:off x="4553151" y="2088691"/>
            <a:ext cx="114271" cy="1999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6444" y="44188"/>
                </a:moveTo>
                <a:lnTo>
                  <a:pt x="96444" y="44188"/>
                </a:lnTo>
                <a:cubicBezTo>
                  <a:pt x="98815" y="45646"/>
                  <a:pt x="100000" y="47333"/>
                  <a:pt x="100000" y="49250"/>
                </a:cubicBezTo>
                <a:lnTo>
                  <a:pt x="100000" y="49250"/>
                </a:lnTo>
                <a:lnTo>
                  <a:pt x="100000" y="49250"/>
                </a:lnTo>
                <a:cubicBezTo>
                  <a:pt x="100000" y="51125"/>
                  <a:pt x="98815" y="52792"/>
                  <a:pt x="96444" y="54250"/>
                </a:cubicBezTo>
                <a:lnTo>
                  <a:pt x="96444" y="54250"/>
                </a:lnTo>
                <a:lnTo>
                  <a:pt x="21444" y="96438"/>
                </a:lnTo>
                <a:cubicBezTo>
                  <a:pt x="18852" y="97771"/>
                  <a:pt x="15889" y="98438"/>
                  <a:pt x="12556" y="98438"/>
                </a:cubicBezTo>
                <a:lnTo>
                  <a:pt x="12556" y="98438"/>
                </a:lnTo>
                <a:cubicBezTo>
                  <a:pt x="9148" y="98438"/>
                  <a:pt x="6148" y="97771"/>
                  <a:pt x="3556" y="96438"/>
                </a:cubicBezTo>
                <a:lnTo>
                  <a:pt x="3556" y="96438"/>
                </a:lnTo>
                <a:cubicBezTo>
                  <a:pt x="1185" y="94979"/>
                  <a:pt x="0" y="93313"/>
                  <a:pt x="0" y="91438"/>
                </a:cubicBezTo>
                <a:lnTo>
                  <a:pt x="0" y="91438"/>
                </a:lnTo>
                <a:cubicBezTo>
                  <a:pt x="0" y="89521"/>
                  <a:pt x="1185" y="87833"/>
                  <a:pt x="3556" y="86375"/>
                </a:cubicBezTo>
                <a:lnTo>
                  <a:pt x="3556" y="86375"/>
                </a:lnTo>
                <a:lnTo>
                  <a:pt x="69889" y="49250"/>
                </a:lnTo>
                <a:lnTo>
                  <a:pt x="3556" y="12063"/>
                </a:lnTo>
                <a:cubicBezTo>
                  <a:pt x="1185" y="10604"/>
                  <a:pt x="0" y="8938"/>
                  <a:pt x="0" y="7062"/>
                </a:cubicBezTo>
                <a:lnTo>
                  <a:pt x="0" y="7062"/>
                </a:lnTo>
                <a:cubicBezTo>
                  <a:pt x="0" y="5146"/>
                  <a:pt x="1185" y="3458"/>
                  <a:pt x="3556" y="2000"/>
                </a:cubicBezTo>
                <a:lnTo>
                  <a:pt x="3556" y="2000"/>
                </a:lnTo>
                <a:cubicBezTo>
                  <a:pt x="6148" y="667"/>
                  <a:pt x="9148" y="0"/>
                  <a:pt x="12556" y="0"/>
                </a:cubicBezTo>
                <a:lnTo>
                  <a:pt x="12556" y="0"/>
                </a:lnTo>
                <a:cubicBezTo>
                  <a:pt x="15889" y="0"/>
                  <a:pt x="18852" y="667"/>
                  <a:pt x="21444" y="2000"/>
                </a:cubicBezTo>
                <a:lnTo>
                  <a:pt x="21444" y="2000"/>
                </a:lnTo>
                <a:lnTo>
                  <a:pt x="96444" y="44188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0134550235-96"/>
          <p:cNvSpPr/>
          <p:nvPr/>
        </p:nvSpPr>
        <p:spPr>
          <a:xfrm>
            <a:off x="4681706" y="1998227"/>
            <a:ext cx="380905" cy="38090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0134550262-105"/>
          <p:cNvSpPr/>
          <p:nvPr/>
        </p:nvSpPr>
        <p:spPr>
          <a:xfrm>
            <a:off x="6083614" y="2088691"/>
            <a:ext cx="114271" cy="1999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6444" y="44188"/>
                </a:moveTo>
                <a:lnTo>
                  <a:pt x="96444" y="44188"/>
                </a:lnTo>
                <a:cubicBezTo>
                  <a:pt x="98815" y="45646"/>
                  <a:pt x="100000" y="47333"/>
                  <a:pt x="100000" y="49250"/>
                </a:cubicBezTo>
                <a:lnTo>
                  <a:pt x="100000" y="49250"/>
                </a:lnTo>
                <a:lnTo>
                  <a:pt x="100000" y="49250"/>
                </a:lnTo>
                <a:cubicBezTo>
                  <a:pt x="100000" y="51125"/>
                  <a:pt x="98815" y="52792"/>
                  <a:pt x="96444" y="54250"/>
                </a:cubicBezTo>
                <a:lnTo>
                  <a:pt x="96444" y="54250"/>
                </a:lnTo>
                <a:lnTo>
                  <a:pt x="21444" y="96438"/>
                </a:lnTo>
                <a:cubicBezTo>
                  <a:pt x="18852" y="97771"/>
                  <a:pt x="15889" y="98438"/>
                  <a:pt x="12556" y="98438"/>
                </a:cubicBezTo>
                <a:lnTo>
                  <a:pt x="12556" y="98438"/>
                </a:lnTo>
                <a:cubicBezTo>
                  <a:pt x="9148" y="98438"/>
                  <a:pt x="6148" y="97771"/>
                  <a:pt x="3556" y="96438"/>
                </a:cubicBezTo>
                <a:lnTo>
                  <a:pt x="3556" y="96438"/>
                </a:lnTo>
                <a:cubicBezTo>
                  <a:pt x="1185" y="94979"/>
                  <a:pt x="0" y="93313"/>
                  <a:pt x="0" y="91438"/>
                </a:cubicBezTo>
                <a:lnTo>
                  <a:pt x="0" y="91438"/>
                </a:lnTo>
                <a:cubicBezTo>
                  <a:pt x="0" y="89521"/>
                  <a:pt x="1185" y="87833"/>
                  <a:pt x="3556" y="86375"/>
                </a:cubicBezTo>
                <a:lnTo>
                  <a:pt x="3556" y="86375"/>
                </a:lnTo>
                <a:lnTo>
                  <a:pt x="69889" y="49250"/>
                </a:lnTo>
                <a:lnTo>
                  <a:pt x="3556" y="12063"/>
                </a:lnTo>
                <a:cubicBezTo>
                  <a:pt x="1185" y="10604"/>
                  <a:pt x="0" y="8938"/>
                  <a:pt x="0" y="7062"/>
                </a:cubicBezTo>
                <a:lnTo>
                  <a:pt x="0" y="7062"/>
                </a:lnTo>
                <a:cubicBezTo>
                  <a:pt x="0" y="5146"/>
                  <a:pt x="1185" y="3458"/>
                  <a:pt x="3556" y="2000"/>
                </a:cubicBezTo>
                <a:lnTo>
                  <a:pt x="3556" y="2000"/>
                </a:lnTo>
                <a:cubicBezTo>
                  <a:pt x="6148" y="667"/>
                  <a:pt x="9148" y="0"/>
                  <a:pt x="12556" y="0"/>
                </a:cubicBezTo>
                <a:lnTo>
                  <a:pt x="12556" y="0"/>
                </a:lnTo>
                <a:cubicBezTo>
                  <a:pt x="15889" y="0"/>
                  <a:pt x="18852" y="667"/>
                  <a:pt x="21444" y="2000"/>
                </a:cubicBezTo>
                <a:lnTo>
                  <a:pt x="21444" y="2000"/>
                </a:lnTo>
                <a:lnTo>
                  <a:pt x="96444" y="44188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50236-99"/>
          <p:cNvSpPr/>
          <p:nvPr/>
        </p:nvSpPr>
        <p:spPr>
          <a:xfrm>
            <a:off x="6212170" y="1998227"/>
            <a:ext cx="380905" cy="38090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0134550262-106"/>
          <p:cNvSpPr/>
          <p:nvPr/>
        </p:nvSpPr>
        <p:spPr>
          <a:xfrm>
            <a:off x="7521530" y="2088691"/>
            <a:ext cx="114271" cy="1999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96444" y="44188"/>
                </a:moveTo>
                <a:lnTo>
                  <a:pt x="96444" y="44188"/>
                </a:lnTo>
                <a:cubicBezTo>
                  <a:pt x="98815" y="45646"/>
                  <a:pt x="100000" y="47333"/>
                  <a:pt x="100000" y="49250"/>
                </a:cubicBezTo>
                <a:lnTo>
                  <a:pt x="100000" y="49250"/>
                </a:lnTo>
                <a:lnTo>
                  <a:pt x="100000" y="49250"/>
                </a:lnTo>
                <a:cubicBezTo>
                  <a:pt x="100000" y="51125"/>
                  <a:pt x="98815" y="52792"/>
                  <a:pt x="96444" y="54250"/>
                </a:cubicBezTo>
                <a:lnTo>
                  <a:pt x="96444" y="54250"/>
                </a:lnTo>
                <a:lnTo>
                  <a:pt x="21444" y="96438"/>
                </a:lnTo>
                <a:cubicBezTo>
                  <a:pt x="18852" y="97771"/>
                  <a:pt x="15889" y="98438"/>
                  <a:pt x="12556" y="98438"/>
                </a:cubicBezTo>
                <a:lnTo>
                  <a:pt x="12556" y="98438"/>
                </a:lnTo>
                <a:cubicBezTo>
                  <a:pt x="9148" y="98438"/>
                  <a:pt x="6148" y="97771"/>
                  <a:pt x="3556" y="96438"/>
                </a:cubicBezTo>
                <a:lnTo>
                  <a:pt x="3556" y="96438"/>
                </a:lnTo>
                <a:cubicBezTo>
                  <a:pt x="1185" y="94979"/>
                  <a:pt x="0" y="93313"/>
                  <a:pt x="0" y="91438"/>
                </a:cubicBezTo>
                <a:lnTo>
                  <a:pt x="0" y="91438"/>
                </a:lnTo>
                <a:cubicBezTo>
                  <a:pt x="0" y="89521"/>
                  <a:pt x="1185" y="87833"/>
                  <a:pt x="3556" y="86375"/>
                </a:cubicBezTo>
                <a:lnTo>
                  <a:pt x="3556" y="86375"/>
                </a:lnTo>
                <a:lnTo>
                  <a:pt x="69889" y="49250"/>
                </a:lnTo>
                <a:lnTo>
                  <a:pt x="3556" y="12063"/>
                </a:lnTo>
                <a:cubicBezTo>
                  <a:pt x="1185" y="10604"/>
                  <a:pt x="0" y="8938"/>
                  <a:pt x="0" y="7062"/>
                </a:cubicBezTo>
                <a:lnTo>
                  <a:pt x="0" y="7062"/>
                </a:lnTo>
                <a:cubicBezTo>
                  <a:pt x="0" y="5146"/>
                  <a:pt x="1185" y="3458"/>
                  <a:pt x="3556" y="2000"/>
                </a:cubicBezTo>
                <a:lnTo>
                  <a:pt x="3556" y="2000"/>
                </a:lnTo>
                <a:cubicBezTo>
                  <a:pt x="6148" y="667"/>
                  <a:pt x="9148" y="0"/>
                  <a:pt x="12556" y="0"/>
                </a:cubicBezTo>
                <a:lnTo>
                  <a:pt x="12556" y="0"/>
                </a:lnTo>
                <a:cubicBezTo>
                  <a:pt x="15889" y="0"/>
                  <a:pt x="18852" y="667"/>
                  <a:pt x="21444" y="2000"/>
                </a:cubicBezTo>
                <a:lnTo>
                  <a:pt x="21444" y="2000"/>
                </a:lnTo>
                <a:lnTo>
                  <a:pt x="96444" y="44188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0134550236-102"/>
          <p:cNvSpPr/>
          <p:nvPr/>
        </p:nvSpPr>
        <p:spPr>
          <a:xfrm>
            <a:off x="7650085" y="1998227"/>
            <a:ext cx="380905" cy="38090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0134550223-13"/>
          <p:cNvSpPr/>
          <p:nvPr/>
        </p:nvSpPr>
        <p:spPr>
          <a:xfrm>
            <a:off x="685629" y="3188554"/>
            <a:ext cx="1352212" cy="3856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0134550224-15"/>
          <p:cNvSpPr/>
          <p:nvPr/>
        </p:nvSpPr>
        <p:spPr>
          <a:xfrm>
            <a:off x="2037840" y="3188554"/>
            <a:ext cx="1352212" cy="3856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0134550224-17"/>
          <p:cNvSpPr/>
          <p:nvPr/>
        </p:nvSpPr>
        <p:spPr>
          <a:xfrm>
            <a:off x="3390052" y="3188554"/>
            <a:ext cx="1352212" cy="3856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0134550225-19"/>
          <p:cNvSpPr/>
          <p:nvPr/>
        </p:nvSpPr>
        <p:spPr>
          <a:xfrm>
            <a:off x="4742264" y="3188554"/>
            <a:ext cx="1352212" cy="3856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0134550225-21"/>
          <p:cNvSpPr/>
          <p:nvPr/>
        </p:nvSpPr>
        <p:spPr>
          <a:xfrm>
            <a:off x="6094476" y="3188554"/>
            <a:ext cx="1352212" cy="3856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el-1780134550225-23"/>
          <p:cNvSpPr/>
          <p:nvPr/>
        </p:nvSpPr>
        <p:spPr>
          <a:xfrm>
            <a:off x="7446688" y="3188554"/>
            <a:ext cx="1352212" cy="3856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el-1780134550225-25"/>
          <p:cNvSpPr/>
          <p:nvPr/>
        </p:nvSpPr>
        <p:spPr>
          <a:xfrm>
            <a:off x="8798900" y="3188554"/>
            <a:ext cx="1352212" cy="3856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8" name="el-1780134550225-27"/>
          <p:cNvSpPr/>
          <p:nvPr/>
        </p:nvSpPr>
        <p:spPr>
          <a:xfrm>
            <a:off x="10151112" y="3188554"/>
            <a:ext cx="1352212" cy="38566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0134550226-29"/>
          <p:cNvSpPr/>
          <p:nvPr/>
        </p:nvSpPr>
        <p:spPr>
          <a:xfrm>
            <a:off x="685629" y="35742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el-1780134550226-31"/>
          <p:cNvSpPr/>
          <p:nvPr/>
        </p:nvSpPr>
        <p:spPr>
          <a:xfrm>
            <a:off x="2037840" y="35742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el-1780134550226-33"/>
          <p:cNvSpPr/>
          <p:nvPr/>
        </p:nvSpPr>
        <p:spPr>
          <a:xfrm>
            <a:off x="3390052" y="35742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el-1780134550226-35"/>
          <p:cNvSpPr/>
          <p:nvPr/>
        </p:nvSpPr>
        <p:spPr>
          <a:xfrm>
            <a:off x="4742264" y="35742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0134550227-37"/>
          <p:cNvSpPr/>
          <p:nvPr/>
        </p:nvSpPr>
        <p:spPr>
          <a:xfrm>
            <a:off x="6094476" y="35742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4" name="el-1780134550227-39"/>
          <p:cNvSpPr/>
          <p:nvPr/>
        </p:nvSpPr>
        <p:spPr>
          <a:xfrm>
            <a:off x="7446688" y="35742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el-1780134550227-41"/>
          <p:cNvSpPr/>
          <p:nvPr/>
        </p:nvSpPr>
        <p:spPr>
          <a:xfrm>
            <a:off x="8798900" y="35742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el-1780134550227-43"/>
          <p:cNvSpPr/>
          <p:nvPr/>
        </p:nvSpPr>
        <p:spPr>
          <a:xfrm>
            <a:off x="10151112" y="35742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el-1780134550227-45"/>
          <p:cNvSpPr/>
          <p:nvPr/>
        </p:nvSpPr>
        <p:spPr>
          <a:xfrm>
            <a:off x="685629" y="39741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8" name="el-1780134550228-47"/>
          <p:cNvSpPr/>
          <p:nvPr/>
        </p:nvSpPr>
        <p:spPr>
          <a:xfrm>
            <a:off x="2037840" y="39741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el-1780134550228-49"/>
          <p:cNvSpPr/>
          <p:nvPr/>
        </p:nvSpPr>
        <p:spPr>
          <a:xfrm>
            <a:off x="3390052" y="39741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0" name="el-1780134550228-51"/>
          <p:cNvSpPr/>
          <p:nvPr/>
        </p:nvSpPr>
        <p:spPr>
          <a:xfrm>
            <a:off x="4742264" y="39741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1" name="el-1780134550228-53"/>
          <p:cNvSpPr/>
          <p:nvPr/>
        </p:nvSpPr>
        <p:spPr>
          <a:xfrm>
            <a:off x="6094476" y="39741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2" name="el-1780134550228-55"/>
          <p:cNvSpPr/>
          <p:nvPr/>
        </p:nvSpPr>
        <p:spPr>
          <a:xfrm>
            <a:off x="7446688" y="39741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el-1780134550229-57"/>
          <p:cNvSpPr/>
          <p:nvPr/>
        </p:nvSpPr>
        <p:spPr>
          <a:xfrm>
            <a:off x="8798900" y="39741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el-1780134550229-59"/>
          <p:cNvSpPr/>
          <p:nvPr/>
        </p:nvSpPr>
        <p:spPr>
          <a:xfrm>
            <a:off x="10151112" y="39741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el-1780134550229-61"/>
          <p:cNvSpPr/>
          <p:nvPr/>
        </p:nvSpPr>
        <p:spPr>
          <a:xfrm>
            <a:off x="685629" y="43741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6" name="el-1780134550229-63"/>
          <p:cNvSpPr/>
          <p:nvPr/>
        </p:nvSpPr>
        <p:spPr>
          <a:xfrm>
            <a:off x="2037840" y="43741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el-1780134550229-65"/>
          <p:cNvSpPr/>
          <p:nvPr/>
        </p:nvSpPr>
        <p:spPr>
          <a:xfrm>
            <a:off x="3390052" y="43741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el-1780134550230-67"/>
          <p:cNvSpPr/>
          <p:nvPr/>
        </p:nvSpPr>
        <p:spPr>
          <a:xfrm>
            <a:off x="4742264" y="43741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el-1780134550230-69"/>
          <p:cNvSpPr/>
          <p:nvPr/>
        </p:nvSpPr>
        <p:spPr>
          <a:xfrm>
            <a:off x="6094476" y="43741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el-1780134550230-71"/>
          <p:cNvSpPr/>
          <p:nvPr/>
        </p:nvSpPr>
        <p:spPr>
          <a:xfrm>
            <a:off x="7446688" y="43741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el-1780134550230-73"/>
          <p:cNvSpPr/>
          <p:nvPr/>
        </p:nvSpPr>
        <p:spPr>
          <a:xfrm>
            <a:off x="8798900" y="43741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42" name="el-1780134550231-75"/>
          <p:cNvSpPr/>
          <p:nvPr/>
        </p:nvSpPr>
        <p:spPr>
          <a:xfrm>
            <a:off x="10151112" y="437412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43" name="el-1780134550231-77"/>
          <p:cNvSpPr/>
          <p:nvPr/>
        </p:nvSpPr>
        <p:spPr>
          <a:xfrm>
            <a:off x="685629" y="47740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44" name="el-1780134550231-79"/>
          <p:cNvSpPr/>
          <p:nvPr/>
        </p:nvSpPr>
        <p:spPr>
          <a:xfrm>
            <a:off x="2037840" y="47740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45" name="el-1780134550231-81"/>
          <p:cNvSpPr/>
          <p:nvPr/>
        </p:nvSpPr>
        <p:spPr>
          <a:xfrm>
            <a:off x="3390052" y="47740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46" name="el-1780134550232-83"/>
          <p:cNvSpPr/>
          <p:nvPr/>
        </p:nvSpPr>
        <p:spPr>
          <a:xfrm>
            <a:off x="4742264" y="47740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47" name="el-1780134550232-85"/>
          <p:cNvSpPr/>
          <p:nvPr/>
        </p:nvSpPr>
        <p:spPr>
          <a:xfrm>
            <a:off x="6094476" y="47740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48" name="el-1780134550232-87"/>
          <p:cNvSpPr/>
          <p:nvPr/>
        </p:nvSpPr>
        <p:spPr>
          <a:xfrm>
            <a:off x="7446688" y="47740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49" name="el-1780134550232-89"/>
          <p:cNvSpPr/>
          <p:nvPr/>
        </p:nvSpPr>
        <p:spPr>
          <a:xfrm>
            <a:off x="8798900" y="47740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50" name="el-1780134550232-91"/>
          <p:cNvSpPr/>
          <p:nvPr/>
        </p:nvSpPr>
        <p:spPr>
          <a:xfrm>
            <a:off x="10151112" y="4774070"/>
            <a:ext cx="1352212" cy="3999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1" name="el-1780134550218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l-1780134550218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0134550219-6"/>
          <p:cNvSpPr txBox="1"/>
          <p:nvPr/>
        </p:nvSpPr>
        <p:spPr>
          <a:xfrm>
            <a:off x="1212051" y="-3904"/>
            <a:ext cx="2056886" cy="6856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35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运行设计</a:t>
            </a:r>
            <a:endParaRPr sz="35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0134550220-10"/>
          <p:cNvSpPr txBox="1"/>
          <p:nvPr/>
        </p:nvSpPr>
        <p:spPr>
          <a:xfrm>
            <a:off x="685629" y="1398302"/>
            <a:ext cx="10922444" cy="3142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运行控制流程</a:t>
            </a:r>
            <a:endParaRPr sz="164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0134550234-92"/>
          <p:cNvSpPr txBox="1"/>
          <p:nvPr/>
        </p:nvSpPr>
        <p:spPr>
          <a:xfrm>
            <a:off x="3158087" y="2079169"/>
            <a:ext cx="552312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3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0134550235-94"/>
          <p:cNvSpPr txBox="1"/>
          <p:nvPr/>
        </p:nvSpPr>
        <p:spPr>
          <a:xfrm>
            <a:off x="3777057" y="2045840"/>
            <a:ext cx="857036" cy="285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登录认证</a:t>
            </a:r>
            <a:endParaRPr sz="14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0134550235-95"/>
          <p:cNvSpPr txBox="1"/>
          <p:nvPr/>
        </p:nvSpPr>
        <p:spPr>
          <a:xfrm>
            <a:off x="4596003" y="2079169"/>
            <a:ext cx="552312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3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0134550235-97"/>
          <p:cNvSpPr txBox="1"/>
          <p:nvPr/>
        </p:nvSpPr>
        <p:spPr>
          <a:xfrm>
            <a:off x="5214973" y="2045840"/>
            <a:ext cx="949584" cy="285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 鉴权</a:t>
            </a:r>
            <a:endParaRPr sz="14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0134550236-98"/>
          <p:cNvSpPr txBox="1"/>
          <p:nvPr/>
        </p:nvSpPr>
        <p:spPr>
          <a:xfrm>
            <a:off x="6126466" y="2079169"/>
            <a:ext cx="552312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3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0134550236-100"/>
          <p:cNvSpPr txBox="1"/>
          <p:nvPr/>
        </p:nvSpPr>
        <p:spPr>
          <a:xfrm>
            <a:off x="6745436" y="2045840"/>
            <a:ext cx="857036" cy="285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业务操作</a:t>
            </a:r>
            <a:endParaRPr sz="14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0134550236-101"/>
          <p:cNvSpPr txBox="1"/>
          <p:nvPr/>
        </p:nvSpPr>
        <p:spPr>
          <a:xfrm>
            <a:off x="7564381" y="2079169"/>
            <a:ext cx="552312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3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0134550236-103"/>
          <p:cNvSpPr txBox="1"/>
          <p:nvPr/>
        </p:nvSpPr>
        <p:spPr>
          <a:xfrm>
            <a:off x="8183352" y="2045840"/>
            <a:ext cx="857036" cy="285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审计记录</a:t>
            </a:r>
            <a:endParaRPr sz="14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0134550220-11"/>
          <p:cNvSpPr txBox="1"/>
          <p:nvPr/>
        </p:nvSpPr>
        <p:spPr>
          <a:xfrm>
            <a:off x="685629" y="2760036"/>
            <a:ext cx="10922444" cy="3142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运行模块组合（按角色）</a:t>
            </a:r>
            <a:endParaRPr sz="164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0134550223-12"/>
          <p:cNvSpPr txBox="1"/>
          <p:nvPr/>
        </p:nvSpPr>
        <p:spPr>
          <a:xfrm>
            <a:off x="738003" y="3274257"/>
            <a:ext cx="1247463" cy="2142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</a:t>
            </a:r>
            <a:endParaRPr sz="112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0134550224-14"/>
          <p:cNvSpPr txBox="1"/>
          <p:nvPr/>
        </p:nvSpPr>
        <p:spPr>
          <a:xfrm>
            <a:off x="2090215" y="3274257"/>
            <a:ext cx="1247463" cy="2142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 登录</a:t>
            </a:r>
            <a:endParaRPr sz="112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0134550224-16"/>
          <p:cNvSpPr txBox="1"/>
          <p:nvPr/>
        </p:nvSpPr>
        <p:spPr>
          <a:xfrm>
            <a:off x="3442427" y="3274257"/>
            <a:ext cx="1247463" cy="2142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M2 查看</a:t>
            </a:r>
            <a:endParaRPr sz="112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0134550224-18"/>
          <p:cNvSpPr txBox="1"/>
          <p:nvPr/>
        </p:nvSpPr>
        <p:spPr>
          <a:xfrm>
            <a:off x="4794639" y="3274257"/>
            <a:ext cx="1247463" cy="2142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M3 涨跌停</a:t>
            </a:r>
            <a:endParaRPr sz="112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0134550225-20"/>
          <p:cNvSpPr txBox="1"/>
          <p:nvPr/>
        </p:nvSpPr>
        <p:spPr>
          <a:xfrm>
            <a:off x="6146850" y="3274257"/>
            <a:ext cx="1247463" cy="2142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M4 交易控制</a:t>
            </a:r>
            <a:endParaRPr sz="112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0134550225-22"/>
          <p:cNvSpPr txBox="1"/>
          <p:nvPr/>
        </p:nvSpPr>
        <p:spPr>
          <a:xfrm>
            <a:off x="7499062" y="3274257"/>
            <a:ext cx="1247463" cy="2142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M5 密码</a:t>
            </a:r>
            <a:endParaRPr sz="112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0134550225-24"/>
          <p:cNvSpPr txBox="1"/>
          <p:nvPr/>
        </p:nvSpPr>
        <p:spPr>
          <a:xfrm>
            <a:off x="8851274" y="3274257"/>
            <a:ext cx="1247463" cy="2142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M6 权限</a:t>
            </a:r>
            <a:endParaRPr sz="112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0134550225-26"/>
          <p:cNvSpPr txBox="1"/>
          <p:nvPr/>
        </p:nvSpPr>
        <p:spPr>
          <a:xfrm>
            <a:off x="10203486" y="3274257"/>
            <a:ext cx="1247463" cy="2142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M7 审计</a:t>
            </a:r>
            <a:endParaRPr sz="112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0134550225-28"/>
          <p:cNvSpPr txBox="1"/>
          <p:nvPr/>
        </p:nvSpPr>
        <p:spPr>
          <a:xfrm>
            <a:off x="733242" y="3659924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普通管理员</a:t>
            </a:r>
            <a:endParaRPr sz="11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0134550226-30"/>
          <p:cNvSpPr txBox="1"/>
          <p:nvPr/>
        </p:nvSpPr>
        <p:spPr>
          <a:xfrm>
            <a:off x="2085454" y="3659924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19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0134550226-32"/>
          <p:cNvSpPr txBox="1"/>
          <p:nvPr/>
        </p:nvSpPr>
        <p:spPr>
          <a:xfrm>
            <a:off x="3437665" y="3659924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19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0134550226-34"/>
          <p:cNvSpPr txBox="1"/>
          <p:nvPr/>
        </p:nvSpPr>
        <p:spPr>
          <a:xfrm>
            <a:off x="4789877" y="3659924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sz="119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0134550226-36"/>
          <p:cNvSpPr txBox="1"/>
          <p:nvPr/>
        </p:nvSpPr>
        <p:spPr>
          <a:xfrm>
            <a:off x="6142089" y="3659924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sz="119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0134550227-38"/>
          <p:cNvSpPr txBox="1"/>
          <p:nvPr/>
        </p:nvSpPr>
        <p:spPr>
          <a:xfrm>
            <a:off x="7494301" y="3659924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19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0134550227-40"/>
          <p:cNvSpPr txBox="1"/>
          <p:nvPr/>
        </p:nvSpPr>
        <p:spPr>
          <a:xfrm>
            <a:off x="8846513" y="3659924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sz="119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0134550227-42"/>
          <p:cNvSpPr txBox="1"/>
          <p:nvPr/>
        </p:nvSpPr>
        <p:spPr>
          <a:xfrm>
            <a:off x="10198725" y="3659924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sz="119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0134550227-44"/>
          <p:cNvSpPr txBox="1"/>
          <p:nvPr/>
        </p:nvSpPr>
        <p:spPr>
          <a:xfrm>
            <a:off x="733242" y="40598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高级管理员</a:t>
            </a:r>
            <a:endParaRPr sz="11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0134550227-46"/>
          <p:cNvSpPr txBox="1"/>
          <p:nvPr/>
        </p:nvSpPr>
        <p:spPr>
          <a:xfrm>
            <a:off x="2085454" y="40598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19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0134550228-48"/>
          <p:cNvSpPr txBox="1"/>
          <p:nvPr/>
        </p:nvSpPr>
        <p:spPr>
          <a:xfrm>
            <a:off x="3437665" y="40598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19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0134550228-50"/>
          <p:cNvSpPr txBox="1"/>
          <p:nvPr/>
        </p:nvSpPr>
        <p:spPr>
          <a:xfrm>
            <a:off x="4789877" y="40598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19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0134550228-52"/>
          <p:cNvSpPr txBox="1"/>
          <p:nvPr/>
        </p:nvSpPr>
        <p:spPr>
          <a:xfrm>
            <a:off x="6142089" y="40598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19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0134550228-54"/>
          <p:cNvSpPr txBox="1"/>
          <p:nvPr/>
        </p:nvSpPr>
        <p:spPr>
          <a:xfrm>
            <a:off x="7494301" y="40598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19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0134550229-56"/>
          <p:cNvSpPr txBox="1"/>
          <p:nvPr/>
        </p:nvSpPr>
        <p:spPr>
          <a:xfrm>
            <a:off x="8846513" y="40598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sz="119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0134550229-58"/>
          <p:cNvSpPr txBox="1"/>
          <p:nvPr/>
        </p:nvSpPr>
        <p:spPr>
          <a:xfrm>
            <a:off x="10198725" y="40598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sz="119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0134550229-60"/>
          <p:cNvSpPr txBox="1"/>
          <p:nvPr/>
        </p:nvSpPr>
        <p:spPr>
          <a:xfrm>
            <a:off x="733242" y="445982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系统管理员</a:t>
            </a:r>
            <a:endParaRPr sz="11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0134550229-62"/>
          <p:cNvSpPr txBox="1"/>
          <p:nvPr/>
        </p:nvSpPr>
        <p:spPr>
          <a:xfrm>
            <a:off x="2085454" y="445982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19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el-1780134550229-64"/>
          <p:cNvSpPr txBox="1"/>
          <p:nvPr/>
        </p:nvSpPr>
        <p:spPr>
          <a:xfrm>
            <a:off x="3437665" y="445982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sz="119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80134550230-66"/>
          <p:cNvSpPr txBox="1"/>
          <p:nvPr/>
        </p:nvSpPr>
        <p:spPr>
          <a:xfrm>
            <a:off x="4789877" y="445982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sz="119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0134550230-68"/>
          <p:cNvSpPr txBox="1"/>
          <p:nvPr/>
        </p:nvSpPr>
        <p:spPr>
          <a:xfrm>
            <a:off x="6142089" y="445982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sz="119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0134550230-70"/>
          <p:cNvSpPr txBox="1"/>
          <p:nvPr/>
        </p:nvSpPr>
        <p:spPr>
          <a:xfrm>
            <a:off x="7494301" y="445982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19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0134550230-72"/>
          <p:cNvSpPr txBox="1"/>
          <p:nvPr/>
        </p:nvSpPr>
        <p:spPr>
          <a:xfrm>
            <a:off x="8846513" y="445982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19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80134550230-74"/>
          <p:cNvSpPr txBox="1"/>
          <p:nvPr/>
        </p:nvSpPr>
        <p:spPr>
          <a:xfrm>
            <a:off x="10198725" y="445982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sz="119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el-1780134550231-76"/>
          <p:cNvSpPr txBox="1"/>
          <p:nvPr/>
        </p:nvSpPr>
        <p:spPr>
          <a:xfrm>
            <a:off x="733242" y="48597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审计管理员</a:t>
            </a:r>
            <a:endParaRPr sz="11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el-1780134550231-78"/>
          <p:cNvSpPr txBox="1"/>
          <p:nvPr/>
        </p:nvSpPr>
        <p:spPr>
          <a:xfrm>
            <a:off x="2085454" y="48597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19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el-1780134550231-80"/>
          <p:cNvSpPr txBox="1"/>
          <p:nvPr/>
        </p:nvSpPr>
        <p:spPr>
          <a:xfrm>
            <a:off x="3437665" y="48597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sz="119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el-1780134550232-82"/>
          <p:cNvSpPr txBox="1"/>
          <p:nvPr/>
        </p:nvSpPr>
        <p:spPr>
          <a:xfrm>
            <a:off x="4789877" y="48597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sz="119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el-1780134550232-84"/>
          <p:cNvSpPr txBox="1"/>
          <p:nvPr/>
        </p:nvSpPr>
        <p:spPr>
          <a:xfrm>
            <a:off x="6142089" y="48597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sz="119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el-1780134550232-86"/>
          <p:cNvSpPr txBox="1"/>
          <p:nvPr/>
        </p:nvSpPr>
        <p:spPr>
          <a:xfrm>
            <a:off x="7494301" y="48597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19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el-1780134550232-88"/>
          <p:cNvSpPr txBox="1"/>
          <p:nvPr/>
        </p:nvSpPr>
        <p:spPr>
          <a:xfrm>
            <a:off x="8846513" y="48597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sz="119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el-1780134550232-90"/>
          <p:cNvSpPr txBox="1"/>
          <p:nvPr/>
        </p:nvSpPr>
        <p:spPr>
          <a:xfrm>
            <a:off x="10198725" y="4859773"/>
            <a:ext cx="125698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1190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el-1780134550219-7"/>
          <p:cNvSpPr txBox="1"/>
          <p:nvPr/>
        </p:nvSpPr>
        <p:spPr>
          <a:xfrm>
            <a:off x="590402" y="5402563"/>
            <a:ext cx="11008147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49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运行时间：7x24 可用，交易相关功能与 TRADE 交易日同步</a:t>
            </a:r>
            <a:endParaRPr sz="149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el-1780134550219-8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el-1780134550219-9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7" name="el-1780134550217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50267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50268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50269-9"/>
          <p:cNvSpPr/>
          <p:nvPr/>
        </p:nvSpPr>
        <p:spPr>
          <a:xfrm>
            <a:off x="685629" y="1787390"/>
            <a:ext cx="5313621" cy="16606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0134550315-21"/>
          <p:cNvSpPr/>
          <p:nvPr/>
        </p:nvSpPr>
        <p:spPr>
          <a:xfrm>
            <a:off x="885604" y="2025455"/>
            <a:ext cx="199975" cy="26663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24625" y="0"/>
                </a:moveTo>
                <a:lnTo>
                  <a:pt x="24625" y="0"/>
                </a:lnTo>
                <a:cubicBezTo>
                  <a:pt x="22208" y="0"/>
                  <a:pt x="20229" y="587"/>
                  <a:pt x="18688" y="1762"/>
                </a:cubicBezTo>
                <a:lnTo>
                  <a:pt x="18688" y="1762"/>
                </a:lnTo>
                <a:lnTo>
                  <a:pt x="18688" y="1762"/>
                </a:lnTo>
                <a:cubicBezTo>
                  <a:pt x="17188" y="2937"/>
                  <a:pt x="16438" y="4429"/>
                  <a:pt x="16438" y="6238"/>
                </a:cubicBezTo>
                <a:lnTo>
                  <a:pt x="16438" y="6238"/>
                </a:lnTo>
                <a:lnTo>
                  <a:pt x="16438" y="25000"/>
                </a:lnTo>
                <a:lnTo>
                  <a:pt x="32813" y="25000"/>
                </a:lnTo>
                <a:lnTo>
                  <a:pt x="32813" y="6238"/>
                </a:lnTo>
                <a:cubicBezTo>
                  <a:pt x="32813" y="4429"/>
                  <a:pt x="32042" y="2937"/>
                  <a:pt x="30500" y="1762"/>
                </a:cubicBezTo>
                <a:lnTo>
                  <a:pt x="30500" y="1762"/>
                </a:lnTo>
                <a:cubicBezTo>
                  <a:pt x="28958" y="587"/>
                  <a:pt x="27000" y="0"/>
                  <a:pt x="24625" y="0"/>
                </a:cubicBezTo>
                <a:lnTo>
                  <a:pt x="24625" y="0"/>
                </a:lnTo>
                <a:close/>
                <a:moveTo>
                  <a:pt x="73813" y="0"/>
                </a:moveTo>
                <a:lnTo>
                  <a:pt x="73813" y="0"/>
                </a:lnTo>
                <a:cubicBezTo>
                  <a:pt x="71438" y="0"/>
                  <a:pt x="69479" y="587"/>
                  <a:pt x="67938" y="1762"/>
                </a:cubicBezTo>
                <a:lnTo>
                  <a:pt x="67938" y="1762"/>
                </a:lnTo>
                <a:lnTo>
                  <a:pt x="67938" y="1762"/>
                </a:lnTo>
                <a:cubicBezTo>
                  <a:pt x="66396" y="2937"/>
                  <a:pt x="65625" y="4429"/>
                  <a:pt x="65625" y="6238"/>
                </a:cubicBezTo>
                <a:lnTo>
                  <a:pt x="65625" y="6238"/>
                </a:lnTo>
                <a:lnTo>
                  <a:pt x="65625" y="25000"/>
                </a:lnTo>
                <a:lnTo>
                  <a:pt x="82063" y="25000"/>
                </a:lnTo>
                <a:lnTo>
                  <a:pt x="82063" y="6238"/>
                </a:lnTo>
                <a:cubicBezTo>
                  <a:pt x="82063" y="4429"/>
                  <a:pt x="81292" y="2937"/>
                  <a:pt x="79750" y="1762"/>
                </a:cubicBezTo>
                <a:lnTo>
                  <a:pt x="79750" y="1762"/>
                </a:lnTo>
                <a:cubicBezTo>
                  <a:pt x="78208" y="587"/>
                  <a:pt x="76229" y="0"/>
                  <a:pt x="73813" y="0"/>
                </a:cubicBezTo>
                <a:lnTo>
                  <a:pt x="73813" y="0"/>
                </a:lnTo>
                <a:close/>
                <a:moveTo>
                  <a:pt x="8188" y="31238"/>
                </a:moveTo>
                <a:lnTo>
                  <a:pt x="8188" y="31238"/>
                </a:lnTo>
                <a:cubicBezTo>
                  <a:pt x="5813" y="31238"/>
                  <a:pt x="3854" y="31825"/>
                  <a:pt x="2313" y="33000"/>
                </a:cubicBezTo>
                <a:lnTo>
                  <a:pt x="2313" y="33000"/>
                </a:lnTo>
                <a:lnTo>
                  <a:pt x="2313" y="33000"/>
                </a:lnTo>
                <a:cubicBezTo>
                  <a:pt x="771" y="34175"/>
                  <a:pt x="0" y="35683"/>
                  <a:pt x="0" y="37524"/>
                </a:cubicBezTo>
                <a:lnTo>
                  <a:pt x="0" y="37524"/>
                </a:lnTo>
                <a:cubicBezTo>
                  <a:pt x="0" y="39333"/>
                  <a:pt x="771" y="40825"/>
                  <a:pt x="2313" y="42000"/>
                </a:cubicBezTo>
                <a:lnTo>
                  <a:pt x="2313" y="42000"/>
                </a:lnTo>
                <a:cubicBezTo>
                  <a:pt x="3854" y="43175"/>
                  <a:pt x="5813" y="43762"/>
                  <a:pt x="8188" y="43762"/>
                </a:cubicBezTo>
                <a:lnTo>
                  <a:pt x="8188" y="43762"/>
                </a:lnTo>
                <a:lnTo>
                  <a:pt x="8188" y="50000"/>
                </a:lnTo>
                <a:cubicBezTo>
                  <a:pt x="8354" y="57683"/>
                  <a:pt x="11521" y="64317"/>
                  <a:pt x="17688" y="69905"/>
                </a:cubicBezTo>
                <a:lnTo>
                  <a:pt x="17688" y="69905"/>
                </a:lnTo>
                <a:cubicBezTo>
                  <a:pt x="23687" y="75524"/>
                  <a:pt x="31458" y="79111"/>
                  <a:pt x="41000" y="80667"/>
                </a:cubicBezTo>
                <a:lnTo>
                  <a:pt x="41000" y="80667"/>
                </a:lnTo>
                <a:lnTo>
                  <a:pt x="41000" y="93762"/>
                </a:lnTo>
                <a:cubicBezTo>
                  <a:pt x="41000" y="95571"/>
                  <a:pt x="41771" y="97063"/>
                  <a:pt x="43313" y="98238"/>
                </a:cubicBezTo>
                <a:lnTo>
                  <a:pt x="43313" y="98238"/>
                </a:lnTo>
                <a:cubicBezTo>
                  <a:pt x="44854" y="99413"/>
                  <a:pt x="46833" y="100000"/>
                  <a:pt x="49250" y="100000"/>
                </a:cubicBezTo>
                <a:lnTo>
                  <a:pt x="49250" y="100000"/>
                </a:lnTo>
                <a:cubicBezTo>
                  <a:pt x="51625" y="100000"/>
                  <a:pt x="53583" y="99413"/>
                  <a:pt x="55125" y="98238"/>
                </a:cubicBezTo>
                <a:lnTo>
                  <a:pt x="55125" y="98238"/>
                </a:lnTo>
                <a:cubicBezTo>
                  <a:pt x="56667" y="97063"/>
                  <a:pt x="57438" y="95571"/>
                  <a:pt x="57438" y="93762"/>
                </a:cubicBezTo>
                <a:lnTo>
                  <a:pt x="57438" y="93762"/>
                </a:lnTo>
                <a:lnTo>
                  <a:pt x="57438" y="80667"/>
                </a:lnTo>
                <a:cubicBezTo>
                  <a:pt x="66979" y="79111"/>
                  <a:pt x="74750" y="75524"/>
                  <a:pt x="80750" y="69905"/>
                </a:cubicBezTo>
                <a:lnTo>
                  <a:pt x="80750" y="69905"/>
                </a:lnTo>
                <a:cubicBezTo>
                  <a:pt x="86917" y="64317"/>
                  <a:pt x="90083" y="57683"/>
                  <a:pt x="90250" y="50000"/>
                </a:cubicBezTo>
                <a:lnTo>
                  <a:pt x="90250" y="50000"/>
                </a:lnTo>
                <a:lnTo>
                  <a:pt x="90250" y="43762"/>
                </a:lnTo>
                <a:cubicBezTo>
                  <a:pt x="92625" y="43762"/>
                  <a:pt x="94583" y="43175"/>
                  <a:pt x="96125" y="42000"/>
                </a:cubicBezTo>
                <a:lnTo>
                  <a:pt x="96125" y="42000"/>
                </a:lnTo>
                <a:cubicBezTo>
                  <a:pt x="97667" y="40825"/>
                  <a:pt x="98438" y="39333"/>
                  <a:pt x="98438" y="37524"/>
                </a:cubicBezTo>
                <a:lnTo>
                  <a:pt x="98438" y="37524"/>
                </a:lnTo>
                <a:cubicBezTo>
                  <a:pt x="98438" y="35683"/>
                  <a:pt x="97667" y="34175"/>
                  <a:pt x="96125" y="33000"/>
                </a:cubicBezTo>
                <a:lnTo>
                  <a:pt x="96125" y="33000"/>
                </a:lnTo>
                <a:cubicBezTo>
                  <a:pt x="94583" y="31825"/>
                  <a:pt x="92625" y="31238"/>
                  <a:pt x="90250" y="31238"/>
                </a:cubicBezTo>
                <a:lnTo>
                  <a:pt x="90250" y="31238"/>
                </a:lnTo>
                <a:lnTo>
                  <a:pt x="8188" y="31238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0134550269-10"/>
          <p:cNvSpPr/>
          <p:nvPr/>
        </p:nvSpPr>
        <p:spPr>
          <a:xfrm>
            <a:off x="6189702" y="1787390"/>
            <a:ext cx="5313621" cy="16606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0134550316-22"/>
          <p:cNvSpPr/>
          <p:nvPr/>
        </p:nvSpPr>
        <p:spPr>
          <a:xfrm>
            <a:off x="6389677" y="2025455"/>
            <a:ext cx="233304" cy="26663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2111" y="15619"/>
                </a:moveTo>
                <a:lnTo>
                  <a:pt x="102111" y="15619"/>
                </a:lnTo>
                <a:lnTo>
                  <a:pt x="102111" y="25000"/>
                </a:lnTo>
                <a:cubicBezTo>
                  <a:pt x="101778" y="29413"/>
                  <a:pt x="96759" y="33127"/>
                  <a:pt x="87056" y="36143"/>
                </a:cubicBezTo>
                <a:lnTo>
                  <a:pt x="87056" y="36143"/>
                </a:lnTo>
                <a:cubicBezTo>
                  <a:pt x="77463" y="39000"/>
                  <a:pt x="65463" y="40492"/>
                  <a:pt x="51056" y="40619"/>
                </a:cubicBezTo>
                <a:lnTo>
                  <a:pt x="51056" y="40619"/>
                </a:lnTo>
                <a:cubicBezTo>
                  <a:pt x="36611" y="40492"/>
                  <a:pt x="24611" y="39000"/>
                  <a:pt x="15056" y="36143"/>
                </a:cubicBezTo>
                <a:lnTo>
                  <a:pt x="15056" y="36143"/>
                </a:lnTo>
                <a:cubicBezTo>
                  <a:pt x="5315" y="33127"/>
                  <a:pt x="296" y="29413"/>
                  <a:pt x="0" y="25000"/>
                </a:cubicBezTo>
                <a:lnTo>
                  <a:pt x="0" y="25000"/>
                </a:lnTo>
                <a:lnTo>
                  <a:pt x="0" y="15619"/>
                </a:lnTo>
                <a:cubicBezTo>
                  <a:pt x="296" y="11206"/>
                  <a:pt x="5315" y="7492"/>
                  <a:pt x="15056" y="4476"/>
                </a:cubicBezTo>
                <a:lnTo>
                  <a:pt x="15056" y="4476"/>
                </a:lnTo>
                <a:cubicBezTo>
                  <a:pt x="24611" y="1619"/>
                  <a:pt x="36611" y="127"/>
                  <a:pt x="51056" y="0"/>
                </a:cubicBezTo>
                <a:lnTo>
                  <a:pt x="51056" y="0"/>
                </a:lnTo>
                <a:cubicBezTo>
                  <a:pt x="65463" y="127"/>
                  <a:pt x="77463" y="1619"/>
                  <a:pt x="87056" y="4476"/>
                </a:cubicBezTo>
                <a:lnTo>
                  <a:pt x="87056" y="4476"/>
                </a:lnTo>
                <a:cubicBezTo>
                  <a:pt x="96759" y="7492"/>
                  <a:pt x="101778" y="11206"/>
                  <a:pt x="102111" y="15619"/>
                </a:cubicBezTo>
                <a:lnTo>
                  <a:pt x="102111" y="15619"/>
                </a:lnTo>
                <a:close/>
                <a:moveTo>
                  <a:pt x="89556" y="42000"/>
                </a:moveTo>
                <a:lnTo>
                  <a:pt x="89556" y="42000"/>
                </a:lnTo>
                <a:cubicBezTo>
                  <a:pt x="94407" y="40571"/>
                  <a:pt x="98593" y="38683"/>
                  <a:pt x="102111" y="36333"/>
                </a:cubicBezTo>
                <a:lnTo>
                  <a:pt x="102111" y="36333"/>
                </a:lnTo>
                <a:lnTo>
                  <a:pt x="102111" y="56238"/>
                </a:lnTo>
                <a:cubicBezTo>
                  <a:pt x="101778" y="60683"/>
                  <a:pt x="96759" y="64397"/>
                  <a:pt x="87056" y="67381"/>
                </a:cubicBezTo>
                <a:lnTo>
                  <a:pt x="87056" y="67381"/>
                </a:lnTo>
                <a:cubicBezTo>
                  <a:pt x="77463" y="70238"/>
                  <a:pt x="65463" y="71730"/>
                  <a:pt x="51056" y="71857"/>
                </a:cubicBezTo>
                <a:lnTo>
                  <a:pt x="51056" y="71857"/>
                </a:lnTo>
                <a:cubicBezTo>
                  <a:pt x="36611" y="71730"/>
                  <a:pt x="24611" y="70238"/>
                  <a:pt x="15056" y="67381"/>
                </a:cubicBezTo>
                <a:lnTo>
                  <a:pt x="15056" y="67381"/>
                </a:lnTo>
                <a:cubicBezTo>
                  <a:pt x="5315" y="64397"/>
                  <a:pt x="296" y="60683"/>
                  <a:pt x="0" y="56238"/>
                </a:cubicBezTo>
                <a:lnTo>
                  <a:pt x="0" y="56238"/>
                </a:lnTo>
                <a:lnTo>
                  <a:pt x="0" y="36333"/>
                </a:lnTo>
                <a:cubicBezTo>
                  <a:pt x="3481" y="38683"/>
                  <a:pt x="7667" y="40571"/>
                  <a:pt x="12556" y="42000"/>
                </a:cubicBezTo>
                <a:lnTo>
                  <a:pt x="12556" y="42000"/>
                </a:lnTo>
                <a:cubicBezTo>
                  <a:pt x="23185" y="45111"/>
                  <a:pt x="36019" y="46730"/>
                  <a:pt x="51056" y="46857"/>
                </a:cubicBezTo>
                <a:lnTo>
                  <a:pt x="51056" y="46857"/>
                </a:lnTo>
                <a:cubicBezTo>
                  <a:pt x="66093" y="46730"/>
                  <a:pt x="78926" y="45111"/>
                  <a:pt x="89556" y="42000"/>
                </a:cubicBezTo>
                <a:lnTo>
                  <a:pt x="89556" y="42000"/>
                </a:lnTo>
                <a:close/>
                <a:moveTo>
                  <a:pt x="0" y="67571"/>
                </a:moveTo>
                <a:lnTo>
                  <a:pt x="0" y="67571"/>
                </a:lnTo>
                <a:cubicBezTo>
                  <a:pt x="3481" y="69921"/>
                  <a:pt x="7667" y="71810"/>
                  <a:pt x="12556" y="73238"/>
                </a:cubicBezTo>
                <a:lnTo>
                  <a:pt x="12556" y="73238"/>
                </a:lnTo>
                <a:cubicBezTo>
                  <a:pt x="23185" y="76381"/>
                  <a:pt x="36019" y="78016"/>
                  <a:pt x="51056" y="78143"/>
                </a:cubicBezTo>
                <a:lnTo>
                  <a:pt x="51056" y="78143"/>
                </a:lnTo>
                <a:cubicBezTo>
                  <a:pt x="66093" y="78016"/>
                  <a:pt x="78926" y="76381"/>
                  <a:pt x="89556" y="73238"/>
                </a:cubicBezTo>
                <a:lnTo>
                  <a:pt x="89556" y="73238"/>
                </a:lnTo>
                <a:cubicBezTo>
                  <a:pt x="94407" y="71810"/>
                  <a:pt x="98593" y="69921"/>
                  <a:pt x="102111" y="67571"/>
                </a:cubicBezTo>
                <a:lnTo>
                  <a:pt x="102111" y="67571"/>
                </a:lnTo>
                <a:lnTo>
                  <a:pt x="102111" y="84381"/>
                </a:lnTo>
                <a:cubicBezTo>
                  <a:pt x="101778" y="88794"/>
                  <a:pt x="96759" y="92508"/>
                  <a:pt x="87056" y="95524"/>
                </a:cubicBezTo>
                <a:lnTo>
                  <a:pt x="87056" y="95524"/>
                </a:lnTo>
                <a:cubicBezTo>
                  <a:pt x="77463" y="98381"/>
                  <a:pt x="65463" y="99873"/>
                  <a:pt x="51056" y="100000"/>
                </a:cubicBezTo>
                <a:lnTo>
                  <a:pt x="51056" y="100000"/>
                </a:lnTo>
                <a:cubicBezTo>
                  <a:pt x="36611" y="99873"/>
                  <a:pt x="24611" y="98381"/>
                  <a:pt x="15056" y="95524"/>
                </a:cubicBezTo>
                <a:lnTo>
                  <a:pt x="15056" y="95524"/>
                </a:lnTo>
                <a:cubicBezTo>
                  <a:pt x="5315" y="92508"/>
                  <a:pt x="296" y="88794"/>
                  <a:pt x="0" y="84381"/>
                </a:cubicBezTo>
                <a:lnTo>
                  <a:pt x="0" y="84381"/>
                </a:lnTo>
                <a:lnTo>
                  <a:pt x="0" y="67571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50270-11"/>
          <p:cNvSpPr/>
          <p:nvPr/>
        </p:nvSpPr>
        <p:spPr>
          <a:xfrm>
            <a:off x="685629" y="3638498"/>
            <a:ext cx="5313621" cy="16606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0134550316-23"/>
          <p:cNvSpPr/>
          <p:nvPr/>
        </p:nvSpPr>
        <p:spPr>
          <a:xfrm>
            <a:off x="885604" y="3876563"/>
            <a:ext cx="266633" cy="26663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5619" y="68762"/>
                </a:moveTo>
                <a:lnTo>
                  <a:pt x="65619" y="68762"/>
                </a:lnTo>
                <a:cubicBezTo>
                  <a:pt x="75397" y="68508"/>
                  <a:pt x="83476" y="65111"/>
                  <a:pt x="89857" y="58571"/>
                </a:cubicBezTo>
                <a:lnTo>
                  <a:pt x="89857" y="58571"/>
                </a:lnTo>
                <a:lnTo>
                  <a:pt x="89857" y="58571"/>
                </a:lnTo>
                <a:cubicBezTo>
                  <a:pt x="96365" y="52190"/>
                  <a:pt x="99746" y="44127"/>
                  <a:pt x="100000" y="34381"/>
                </a:cubicBezTo>
                <a:lnTo>
                  <a:pt x="100000" y="34381"/>
                </a:lnTo>
                <a:cubicBezTo>
                  <a:pt x="99746" y="24603"/>
                  <a:pt x="96365" y="16524"/>
                  <a:pt x="89857" y="10143"/>
                </a:cubicBezTo>
                <a:lnTo>
                  <a:pt x="89857" y="10143"/>
                </a:lnTo>
                <a:cubicBezTo>
                  <a:pt x="83476" y="3635"/>
                  <a:pt x="75397" y="254"/>
                  <a:pt x="65619" y="0"/>
                </a:cubicBezTo>
                <a:lnTo>
                  <a:pt x="65619" y="0"/>
                </a:lnTo>
                <a:cubicBezTo>
                  <a:pt x="55873" y="254"/>
                  <a:pt x="47810" y="3635"/>
                  <a:pt x="41429" y="10143"/>
                </a:cubicBezTo>
                <a:lnTo>
                  <a:pt x="41429" y="10143"/>
                </a:lnTo>
                <a:cubicBezTo>
                  <a:pt x="34889" y="16524"/>
                  <a:pt x="31492" y="24603"/>
                  <a:pt x="31238" y="34381"/>
                </a:cubicBezTo>
                <a:lnTo>
                  <a:pt x="31238" y="34381"/>
                </a:lnTo>
                <a:cubicBezTo>
                  <a:pt x="31238" y="38032"/>
                  <a:pt x="31762" y="41540"/>
                  <a:pt x="32810" y="44905"/>
                </a:cubicBezTo>
                <a:lnTo>
                  <a:pt x="32810" y="44905"/>
                </a:lnTo>
                <a:lnTo>
                  <a:pt x="1381" y="76381"/>
                </a:lnTo>
                <a:cubicBezTo>
                  <a:pt x="460" y="77270"/>
                  <a:pt x="0" y="78365"/>
                  <a:pt x="0" y="79667"/>
                </a:cubicBezTo>
                <a:lnTo>
                  <a:pt x="0" y="79667"/>
                </a:lnTo>
                <a:lnTo>
                  <a:pt x="0" y="95333"/>
                </a:lnTo>
                <a:cubicBezTo>
                  <a:pt x="254" y="98190"/>
                  <a:pt x="1810" y="99746"/>
                  <a:pt x="4667" y="100000"/>
                </a:cubicBezTo>
                <a:lnTo>
                  <a:pt x="4667" y="100000"/>
                </a:lnTo>
                <a:lnTo>
                  <a:pt x="20333" y="100000"/>
                </a:lnTo>
                <a:cubicBezTo>
                  <a:pt x="23190" y="99746"/>
                  <a:pt x="24746" y="98190"/>
                  <a:pt x="25000" y="95333"/>
                </a:cubicBezTo>
                <a:lnTo>
                  <a:pt x="25000" y="95333"/>
                </a:lnTo>
                <a:lnTo>
                  <a:pt x="25000" y="87524"/>
                </a:lnTo>
                <a:lnTo>
                  <a:pt x="32810" y="87524"/>
                </a:lnTo>
                <a:cubicBezTo>
                  <a:pt x="35667" y="87238"/>
                  <a:pt x="37238" y="85667"/>
                  <a:pt x="37524" y="82810"/>
                </a:cubicBezTo>
                <a:lnTo>
                  <a:pt x="37524" y="82810"/>
                </a:lnTo>
                <a:lnTo>
                  <a:pt x="37524" y="75000"/>
                </a:lnTo>
                <a:lnTo>
                  <a:pt x="45333" y="75000"/>
                </a:lnTo>
                <a:cubicBezTo>
                  <a:pt x="46635" y="75000"/>
                  <a:pt x="47730" y="74540"/>
                  <a:pt x="48619" y="73619"/>
                </a:cubicBezTo>
                <a:lnTo>
                  <a:pt x="48619" y="73619"/>
                </a:lnTo>
                <a:lnTo>
                  <a:pt x="55095" y="67190"/>
                </a:lnTo>
                <a:cubicBezTo>
                  <a:pt x="58460" y="68238"/>
                  <a:pt x="61968" y="68762"/>
                  <a:pt x="65619" y="68762"/>
                </a:cubicBezTo>
                <a:lnTo>
                  <a:pt x="65619" y="68762"/>
                </a:lnTo>
                <a:close/>
                <a:moveTo>
                  <a:pt x="73429" y="18762"/>
                </a:moveTo>
                <a:lnTo>
                  <a:pt x="73429" y="18762"/>
                </a:lnTo>
                <a:cubicBezTo>
                  <a:pt x="76444" y="18889"/>
                  <a:pt x="78730" y="20190"/>
                  <a:pt x="80286" y="22667"/>
                </a:cubicBezTo>
                <a:lnTo>
                  <a:pt x="80286" y="22667"/>
                </a:lnTo>
                <a:cubicBezTo>
                  <a:pt x="81587" y="25270"/>
                  <a:pt x="81587" y="27873"/>
                  <a:pt x="80286" y="30476"/>
                </a:cubicBezTo>
                <a:lnTo>
                  <a:pt x="80286" y="30476"/>
                </a:lnTo>
                <a:cubicBezTo>
                  <a:pt x="78730" y="32952"/>
                  <a:pt x="76444" y="34254"/>
                  <a:pt x="73429" y="34381"/>
                </a:cubicBezTo>
                <a:lnTo>
                  <a:pt x="73429" y="34381"/>
                </a:lnTo>
                <a:cubicBezTo>
                  <a:pt x="70444" y="34254"/>
                  <a:pt x="68175" y="32952"/>
                  <a:pt x="66619" y="30476"/>
                </a:cubicBezTo>
                <a:lnTo>
                  <a:pt x="66619" y="30476"/>
                </a:lnTo>
                <a:cubicBezTo>
                  <a:pt x="65317" y="27873"/>
                  <a:pt x="65317" y="25270"/>
                  <a:pt x="66619" y="22667"/>
                </a:cubicBezTo>
                <a:lnTo>
                  <a:pt x="66619" y="22667"/>
                </a:lnTo>
                <a:cubicBezTo>
                  <a:pt x="68175" y="20190"/>
                  <a:pt x="70444" y="18889"/>
                  <a:pt x="73429" y="18762"/>
                </a:cubicBezTo>
                <a:lnTo>
                  <a:pt x="73429" y="18762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0134550270-12"/>
          <p:cNvSpPr/>
          <p:nvPr/>
        </p:nvSpPr>
        <p:spPr>
          <a:xfrm>
            <a:off x="6189702" y="3638498"/>
            <a:ext cx="5313621" cy="16606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0134550317-24"/>
          <p:cNvSpPr/>
          <p:nvPr/>
        </p:nvSpPr>
        <p:spPr>
          <a:xfrm>
            <a:off x="6397996" y="3877344"/>
            <a:ext cx="249996" cy="26507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49200" y="0"/>
                </a:moveTo>
                <a:lnTo>
                  <a:pt x="49200" y="0"/>
                </a:lnTo>
                <a:cubicBezTo>
                  <a:pt x="50167" y="0"/>
                  <a:pt x="51067" y="190"/>
                  <a:pt x="51900" y="571"/>
                </a:cubicBezTo>
                <a:lnTo>
                  <a:pt x="51900" y="571"/>
                </a:lnTo>
                <a:lnTo>
                  <a:pt x="90650" y="16190"/>
                </a:lnTo>
                <a:cubicBezTo>
                  <a:pt x="92983" y="17111"/>
                  <a:pt x="94833" y="18556"/>
                  <a:pt x="96200" y="20524"/>
                </a:cubicBezTo>
                <a:lnTo>
                  <a:pt x="96200" y="20524"/>
                </a:lnTo>
                <a:cubicBezTo>
                  <a:pt x="97700" y="22460"/>
                  <a:pt x="98450" y="24730"/>
                  <a:pt x="98450" y="27333"/>
                </a:cubicBezTo>
                <a:lnTo>
                  <a:pt x="98450" y="27333"/>
                </a:lnTo>
                <a:cubicBezTo>
                  <a:pt x="98583" y="33968"/>
                  <a:pt x="97417" y="41778"/>
                  <a:pt x="94950" y="50762"/>
                </a:cubicBezTo>
                <a:lnTo>
                  <a:pt x="94950" y="50762"/>
                </a:lnTo>
                <a:cubicBezTo>
                  <a:pt x="92483" y="59746"/>
                  <a:pt x="88033" y="68476"/>
                  <a:pt x="81600" y="76952"/>
                </a:cubicBezTo>
                <a:lnTo>
                  <a:pt x="81600" y="76952"/>
                </a:lnTo>
                <a:cubicBezTo>
                  <a:pt x="75333" y="85556"/>
                  <a:pt x="66317" y="92651"/>
                  <a:pt x="54550" y="98238"/>
                </a:cubicBezTo>
                <a:lnTo>
                  <a:pt x="54550" y="98238"/>
                </a:lnTo>
                <a:cubicBezTo>
                  <a:pt x="50983" y="99794"/>
                  <a:pt x="47433" y="99794"/>
                  <a:pt x="43900" y="98238"/>
                </a:cubicBezTo>
                <a:lnTo>
                  <a:pt x="43900" y="98238"/>
                </a:lnTo>
                <a:cubicBezTo>
                  <a:pt x="32133" y="92651"/>
                  <a:pt x="23100" y="85556"/>
                  <a:pt x="16800" y="76952"/>
                </a:cubicBezTo>
                <a:lnTo>
                  <a:pt x="16800" y="76952"/>
                </a:lnTo>
                <a:cubicBezTo>
                  <a:pt x="10400" y="68476"/>
                  <a:pt x="5967" y="59746"/>
                  <a:pt x="3500" y="50762"/>
                </a:cubicBezTo>
                <a:lnTo>
                  <a:pt x="3500" y="50762"/>
                </a:lnTo>
                <a:cubicBezTo>
                  <a:pt x="1033" y="41778"/>
                  <a:pt x="-133" y="33968"/>
                  <a:pt x="0" y="27333"/>
                </a:cubicBezTo>
                <a:lnTo>
                  <a:pt x="0" y="27333"/>
                </a:lnTo>
                <a:cubicBezTo>
                  <a:pt x="0" y="24730"/>
                  <a:pt x="750" y="22460"/>
                  <a:pt x="2250" y="20524"/>
                </a:cubicBezTo>
                <a:lnTo>
                  <a:pt x="2250" y="20524"/>
                </a:lnTo>
                <a:cubicBezTo>
                  <a:pt x="3617" y="18556"/>
                  <a:pt x="5467" y="17111"/>
                  <a:pt x="7800" y="16190"/>
                </a:cubicBezTo>
                <a:lnTo>
                  <a:pt x="7800" y="16190"/>
                </a:lnTo>
                <a:lnTo>
                  <a:pt x="46550" y="571"/>
                </a:lnTo>
                <a:cubicBezTo>
                  <a:pt x="47383" y="190"/>
                  <a:pt x="48267" y="0"/>
                  <a:pt x="49200" y="0"/>
                </a:cubicBezTo>
                <a:lnTo>
                  <a:pt x="49200" y="0"/>
                </a:lnTo>
                <a:close/>
                <a:moveTo>
                  <a:pt x="49200" y="13095"/>
                </a:moveTo>
                <a:lnTo>
                  <a:pt x="49200" y="13095"/>
                </a:lnTo>
                <a:lnTo>
                  <a:pt x="49200" y="86905"/>
                </a:lnTo>
                <a:cubicBezTo>
                  <a:pt x="58500" y="82365"/>
                  <a:pt x="65817" y="76571"/>
                  <a:pt x="71150" y="69524"/>
                </a:cubicBezTo>
                <a:lnTo>
                  <a:pt x="71150" y="69524"/>
                </a:lnTo>
                <a:cubicBezTo>
                  <a:pt x="76350" y="62508"/>
                  <a:pt x="80050" y="55286"/>
                  <a:pt x="82250" y="47857"/>
                </a:cubicBezTo>
                <a:lnTo>
                  <a:pt x="82250" y="47857"/>
                </a:lnTo>
                <a:cubicBezTo>
                  <a:pt x="84283" y="40302"/>
                  <a:pt x="85300" y="33524"/>
                  <a:pt x="85300" y="27524"/>
                </a:cubicBezTo>
                <a:lnTo>
                  <a:pt x="85300" y="27524"/>
                </a:lnTo>
                <a:lnTo>
                  <a:pt x="49200" y="13095"/>
                </a:lnTo>
                <a:lnTo>
                  <a:pt x="49200" y="13095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0134550267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0134550268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0134550268-6"/>
          <p:cNvSpPr txBox="1"/>
          <p:nvPr/>
        </p:nvSpPr>
        <p:spPr>
          <a:xfrm>
            <a:off x="1212051" y="-3904"/>
            <a:ext cx="2971057" cy="6856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35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系统出错设计</a:t>
            </a:r>
            <a:endParaRPr sz="35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0134550273-17"/>
          <p:cNvSpPr txBox="1"/>
          <p:nvPr/>
        </p:nvSpPr>
        <p:spPr>
          <a:xfrm>
            <a:off x="1199850" y="1987365"/>
            <a:ext cx="1653960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TRADE 不可达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0134550271-13"/>
          <p:cNvSpPr txBox="1"/>
          <p:nvPr/>
        </p:nvSpPr>
        <p:spPr>
          <a:xfrm>
            <a:off x="885604" y="2425405"/>
            <a:ext cx="4913671" cy="8226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/health 端点检测 TRADE 连通性，不可达时返回 DEGRADED 状态；股票查看/交易控制等依赖 TRADE 的功能降级提示"服务暂不可用"，非依赖功能正常运行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0134550273-18"/>
          <p:cNvSpPr txBox="1"/>
          <p:nvPr/>
        </p:nvSpPr>
        <p:spPr>
          <a:xfrm>
            <a:off x="6737253" y="1987365"/>
            <a:ext cx="1942614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数据库连接池耗尽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0134550271-14"/>
          <p:cNvSpPr txBox="1"/>
          <p:nvPr/>
        </p:nvSpPr>
        <p:spPr>
          <a:xfrm>
            <a:off x="6389677" y="2425405"/>
            <a:ext cx="4913671" cy="8226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SQLAlchemy 连接池配置 pool_size=10 + max_overflow=20，耗尽时自动重试 3 次（间隔 1s/2s/4s），仍失败返回 503 Service Unavailable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0134550273-19"/>
          <p:cNvSpPr txBox="1"/>
          <p:nvPr/>
        </p:nvSpPr>
        <p:spPr>
          <a:xfrm>
            <a:off x="1266508" y="3838473"/>
            <a:ext cx="1704549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 过期/失效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0134550271-15"/>
          <p:cNvSpPr txBox="1"/>
          <p:nvPr/>
        </p:nvSpPr>
        <p:spPr>
          <a:xfrm>
            <a:off x="885604" y="4276513"/>
            <a:ext cx="4913671" cy="8226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 过期或 token_version 不匹配 → 401 未认证，前端自动清除令牌并跳转登录页。密码修改后 token_version 自增使所有旧令牌立即失效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0134550273-20"/>
          <p:cNvSpPr txBox="1"/>
          <p:nvPr/>
        </p:nvSpPr>
        <p:spPr>
          <a:xfrm>
            <a:off x="6770582" y="3838473"/>
            <a:ext cx="1028443" cy="3428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补救措施</a:t>
            </a:r>
            <a:endParaRPr sz="17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0134550271-16"/>
          <p:cNvSpPr txBox="1"/>
          <p:nvPr/>
        </p:nvSpPr>
        <p:spPr>
          <a:xfrm>
            <a:off x="6389677" y="4276513"/>
            <a:ext cx="4913671" cy="8226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日志手动导出（CSV）+ 删除清理，无需归档表；管理员锁定可由系统管理员手动解锁；token_version 机制保障密码修改后全局强制下线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0134550268-7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0134550269-8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el-1780134550267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50360-2"/>
          <p:cNvCxnSpPr/>
          <p:nvPr/>
        </p:nvCxnSpPr>
        <p:spPr>
          <a:xfrm>
            <a:off x="0" y="681724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50360-5"/>
          <p:cNvSpPr/>
          <p:nvPr/>
        </p:nvSpPr>
        <p:spPr>
          <a:xfrm>
            <a:off x="685629" y="191310"/>
            <a:ext cx="41215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3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0134550361-9"/>
          <p:cNvSpPr/>
          <p:nvPr/>
        </p:nvSpPr>
        <p:spPr>
          <a:xfrm>
            <a:off x="685629" y="1038823"/>
            <a:ext cx="5342189" cy="11522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0134550363-18"/>
          <p:cNvSpPr/>
          <p:nvPr/>
        </p:nvSpPr>
        <p:spPr>
          <a:xfrm>
            <a:off x="847513" y="1200707"/>
            <a:ext cx="304724" cy="304724"/>
          </a:xfrm>
          <a:prstGeom prst="roundRect">
            <a:avLst>
              <a:gd name="adj" fmla="val 6252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0134550361-10"/>
          <p:cNvSpPr/>
          <p:nvPr/>
        </p:nvSpPr>
        <p:spPr>
          <a:xfrm>
            <a:off x="6161134" y="1038823"/>
            <a:ext cx="5342189" cy="11522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0134550363-20"/>
          <p:cNvSpPr/>
          <p:nvPr/>
        </p:nvSpPr>
        <p:spPr>
          <a:xfrm>
            <a:off x="6323019" y="1200707"/>
            <a:ext cx="304724" cy="304724"/>
          </a:xfrm>
          <a:prstGeom prst="roundRect">
            <a:avLst>
              <a:gd name="adj" fmla="val 6252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0134550361-11"/>
          <p:cNvSpPr/>
          <p:nvPr/>
        </p:nvSpPr>
        <p:spPr>
          <a:xfrm>
            <a:off x="685629" y="2324376"/>
            <a:ext cx="5342189" cy="11522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0134550364-22"/>
          <p:cNvSpPr/>
          <p:nvPr/>
        </p:nvSpPr>
        <p:spPr>
          <a:xfrm>
            <a:off x="847513" y="2486261"/>
            <a:ext cx="304724" cy="304724"/>
          </a:xfrm>
          <a:prstGeom prst="roundRect">
            <a:avLst>
              <a:gd name="adj" fmla="val 6252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0134550361-12"/>
          <p:cNvSpPr/>
          <p:nvPr/>
        </p:nvSpPr>
        <p:spPr>
          <a:xfrm>
            <a:off x="6161134" y="2324376"/>
            <a:ext cx="5342189" cy="11522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0134550364-24"/>
          <p:cNvSpPr/>
          <p:nvPr/>
        </p:nvSpPr>
        <p:spPr>
          <a:xfrm>
            <a:off x="6323019" y="2486261"/>
            <a:ext cx="304724" cy="304724"/>
          </a:xfrm>
          <a:prstGeom prst="roundRect">
            <a:avLst>
              <a:gd name="adj" fmla="val 6252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0134550361-13"/>
          <p:cNvSpPr/>
          <p:nvPr/>
        </p:nvSpPr>
        <p:spPr>
          <a:xfrm>
            <a:off x="685629" y="3609930"/>
            <a:ext cx="5342189" cy="11522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0134550364-26"/>
          <p:cNvSpPr/>
          <p:nvPr/>
        </p:nvSpPr>
        <p:spPr>
          <a:xfrm>
            <a:off x="847513" y="3771814"/>
            <a:ext cx="304724" cy="304724"/>
          </a:xfrm>
          <a:prstGeom prst="roundRect">
            <a:avLst>
              <a:gd name="adj" fmla="val 6252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0134550362-14"/>
          <p:cNvSpPr/>
          <p:nvPr/>
        </p:nvSpPr>
        <p:spPr>
          <a:xfrm>
            <a:off x="6161134" y="3609930"/>
            <a:ext cx="5342189" cy="11522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0134550365-28"/>
          <p:cNvSpPr/>
          <p:nvPr/>
        </p:nvSpPr>
        <p:spPr>
          <a:xfrm>
            <a:off x="6323019" y="3771814"/>
            <a:ext cx="304724" cy="304724"/>
          </a:xfrm>
          <a:prstGeom prst="roundRect">
            <a:avLst>
              <a:gd name="adj" fmla="val 6252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0134550362-15"/>
          <p:cNvSpPr/>
          <p:nvPr/>
        </p:nvSpPr>
        <p:spPr>
          <a:xfrm>
            <a:off x="685629" y="4895483"/>
            <a:ext cx="5342189" cy="11522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el-1780134550365-30"/>
          <p:cNvSpPr/>
          <p:nvPr/>
        </p:nvSpPr>
        <p:spPr>
          <a:xfrm>
            <a:off x="847513" y="5057368"/>
            <a:ext cx="304724" cy="304724"/>
          </a:xfrm>
          <a:prstGeom prst="roundRect">
            <a:avLst>
              <a:gd name="adj" fmla="val 6252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0134550362-16"/>
          <p:cNvSpPr/>
          <p:nvPr/>
        </p:nvSpPr>
        <p:spPr>
          <a:xfrm>
            <a:off x="6161134" y="4895483"/>
            <a:ext cx="5342189" cy="11522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0134550365-32"/>
          <p:cNvSpPr/>
          <p:nvPr/>
        </p:nvSpPr>
        <p:spPr>
          <a:xfrm>
            <a:off x="6323019" y="5057368"/>
            <a:ext cx="304724" cy="304724"/>
          </a:xfrm>
          <a:prstGeom prst="roundRect">
            <a:avLst>
              <a:gd name="adj" fmla="val 6252"/>
            </a:avLst>
          </a:prstGeom>
          <a:solidFill>
            <a:srgbClr val="DBEAFE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l-1780134550360-3"/>
          <p:cNvCxnSpPr/>
          <p:nvPr/>
        </p:nvCxnSpPr>
        <p:spPr>
          <a:xfrm>
            <a:off x="0" y="6404818"/>
            <a:ext cx="12188952" cy="914"/>
          </a:xfrm>
          <a:prstGeom prst="line">
            <a:avLst/>
          </a:prstGeom>
          <a:ln w="9523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0134550360-4"/>
          <p:cNvSpPr txBox="1"/>
          <p:nvPr/>
        </p:nvSpPr>
        <p:spPr>
          <a:xfrm>
            <a:off x="809423" y="238923"/>
            <a:ext cx="355015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0134550360-6"/>
          <p:cNvSpPr txBox="1"/>
          <p:nvPr/>
        </p:nvSpPr>
        <p:spPr>
          <a:xfrm>
            <a:off x="1212051" y="-3904"/>
            <a:ext cx="2971057" cy="6856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35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设计决策总结</a:t>
            </a:r>
            <a:endParaRPr sz="35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0134550363-17"/>
          <p:cNvSpPr txBox="1"/>
          <p:nvPr/>
        </p:nvSpPr>
        <p:spPr>
          <a:xfrm>
            <a:off x="771332" y="1257843"/>
            <a:ext cx="45708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1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0134550366-33"/>
          <p:cNvSpPr txBox="1"/>
          <p:nvPr/>
        </p:nvSpPr>
        <p:spPr>
          <a:xfrm>
            <a:off x="1285554" y="1200707"/>
            <a:ext cx="4685128" cy="3142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token_version 令牌撤销</a:t>
            </a:r>
            <a:endParaRPr sz="164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0134550366-34"/>
          <p:cNvSpPr txBox="1"/>
          <p:nvPr/>
        </p:nvSpPr>
        <p:spPr>
          <a:xfrm>
            <a:off x="1285554" y="1514954"/>
            <a:ext cx="458038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密码修改/禁用时自增，中间件比对版本号，无 Redis 依赖实现 JWT 即时失效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0134550363-19"/>
          <p:cNvSpPr txBox="1"/>
          <p:nvPr/>
        </p:nvSpPr>
        <p:spPr>
          <a:xfrm>
            <a:off x="6246838" y="1257843"/>
            <a:ext cx="45708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0134550366-35"/>
          <p:cNvSpPr txBox="1"/>
          <p:nvPr/>
        </p:nvSpPr>
        <p:spPr>
          <a:xfrm>
            <a:off x="6761059" y="1200707"/>
            <a:ext cx="4685128" cy="3142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 轮询替代 WebSocket</a:t>
            </a:r>
            <a:endParaRPr sz="164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0134550367-36"/>
          <p:cNvSpPr txBox="1"/>
          <p:nvPr/>
        </p:nvSpPr>
        <p:spPr>
          <a:xfrm>
            <a:off x="6761059" y="1514954"/>
            <a:ext cx="458038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第一版每 5 秒轮询 TRADE /market 获取行情，WebSocket 作为后续优化方案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0134550363-21"/>
          <p:cNvSpPr txBox="1"/>
          <p:nvPr/>
        </p:nvSpPr>
        <p:spPr>
          <a:xfrm>
            <a:off x="771332" y="2543396"/>
            <a:ext cx="45708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0134550367-37"/>
          <p:cNvSpPr txBox="1"/>
          <p:nvPr/>
        </p:nvSpPr>
        <p:spPr>
          <a:xfrm>
            <a:off x="1285554" y="2486261"/>
            <a:ext cx="4685128" cy="3142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交易日并入 M4</a:t>
            </a:r>
            <a:endParaRPr sz="164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0134550367-38"/>
          <p:cNvSpPr txBox="1"/>
          <p:nvPr/>
        </p:nvSpPr>
        <p:spPr>
          <a:xfrm>
            <a:off x="1285554" y="2800507"/>
            <a:ext cx="458038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交易日管理不设独立模块，作为交易控制的子功能（Tab 切换），保持 7 模块与需求 1:1 对齐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0134550364-23"/>
          <p:cNvSpPr txBox="1"/>
          <p:nvPr/>
        </p:nvSpPr>
        <p:spPr>
          <a:xfrm>
            <a:off x="6246838" y="2543396"/>
            <a:ext cx="45708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0134550367-39"/>
          <p:cNvSpPr txBox="1"/>
          <p:nvPr/>
        </p:nvSpPr>
        <p:spPr>
          <a:xfrm>
            <a:off x="6761059" y="2486261"/>
            <a:ext cx="4685128" cy="3142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不依赖 ACCOUNT</a:t>
            </a:r>
            <a:endParaRPr sz="164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0134550367-40"/>
          <p:cNvSpPr txBox="1"/>
          <p:nvPr/>
        </p:nvSpPr>
        <p:spPr>
          <a:xfrm>
            <a:off x="6761059" y="2800507"/>
            <a:ext cx="458038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管理员非投资者，无需调用账户系统，所有 ACCOUNT 依赖已从设计报告中删除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0134550364-25"/>
          <p:cNvSpPr txBox="1"/>
          <p:nvPr/>
        </p:nvSpPr>
        <p:spPr>
          <a:xfrm>
            <a:off x="771332" y="3828950"/>
            <a:ext cx="45708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1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0134550367-41"/>
          <p:cNvSpPr txBox="1"/>
          <p:nvPr/>
        </p:nvSpPr>
        <p:spPr>
          <a:xfrm>
            <a:off x="1285554" y="3771814"/>
            <a:ext cx="4685128" cy="3142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表数据库</a:t>
            </a:r>
            <a:endParaRPr sz="164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0134550367-42"/>
          <p:cNvSpPr txBox="1"/>
          <p:nvPr/>
        </p:nvSpPr>
        <p:spPr>
          <a:xfrm>
            <a:off x="1285554" y="4086061"/>
            <a:ext cx="458038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仅维护 admin_info / operation_log / permission_config / login_log，行情数据不本地持久化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0134550365-27"/>
          <p:cNvSpPr txBox="1"/>
          <p:nvPr/>
        </p:nvSpPr>
        <p:spPr>
          <a:xfrm>
            <a:off x="6246838" y="3828950"/>
            <a:ext cx="45708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1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0134550367-43"/>
          <p:cNvSpPr txBox="1"/>
          <p:nvPr/>
        </p:nvSpPr>
        <p:spPr>
          <a:xfrm>
            <a:off x="6761059" y="3771814"/>
            <a:ext cx="4685128" cy="3142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全部外键 RESTRICT</a:t>
            </a:r>
            <a:endParaRPr sz="164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0134550367-44"/>
          <p:cNvSpPr txBox="1"/>
          <p:nvPr/>
        </p:nvSpPr>
        <p:spPr>
          <a:xfrm>
            <a:off x="6761059" y="4086061"/>
            <a:ext cx="458038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禁止物理删除管理员，仅软禁用，保证审计日志完整性和数据可追溯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0134550365-29"/>
          <p:cNvSpPr txBox="1"/>
          <p:nvPr/>
        </p:nvSpPr>
        <p:spPr>
          <a:xfrm>
            <a:off x="771332" y="5114504"/>
            <a:ext cx="45708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1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0134550367-45"/>
          <p:cNvSpPr txBox="1"/>
          <p:nvPr/>
        </p:nvSpPr>
        <p:spPr>
          <a:xfrm>
            <a:off x="1285554" y="5057368"/>
            <a:ext cx="4685128" cy="3142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次锁定 / 5 分钟</a:t>
            </a:r>
            <a:endParaRPr sz="164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0134550367-46"/>
          <p:cNvSpPr txBox="1"/>
          <p:nvPr/>
        </p:nvSpPr>
        <p:spPr>
          <a:xfrm>
            <a:off x="1285554" y="5371614"/>
            <a:ext cx="458038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5 次失败直接锁定，边界条件明确，解锁后计数器清零，不提示剩余次数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0134550365-31"/>
          <p:cNvSpPr txBox="1"/>
          <p:nvPr/>
        </p:nvSpPr>
        <p:spPr>
          <a:xfrm>
            <a:off x="6246838" y="5114504"/>
            <a:ext cx="45708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19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0134550367-47"/>
          <p:cNvSpPr txBox="1"/>
          <p:nvPr/>
        </p:nvSpPr>
        <p:spPr>
          <a:xfrm>
            <a:off x="6761059" y="5057368"/>
            <a:ext cx="4685128" cy="3142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涨跌停次日生效</a:t>
            </a:r>
            <a:endParaRPr sz="164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0134550368-48"/>
          <p:cNvSpPr txBox="1"/>
          <p:nvPr/>
        </p:nvSpPr>
        <p:spPr>
          <a:xfrm>
            <a:off x="6761059" y="5371614"/>
            <a:ext cx="458038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前端默认填充次日，后端校验 effective_date &gt;= today + 1，与需求分析规则一致</a:t>
            </a:r>
            <a:endParaRPr sz="134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0134550361-7"/>
          <p:cNvSpPr txBox="1"/>
          <p:nvPr/>
        </p:nvSpPr>
        <p:spPr>
          <a:xfrm>
            <a:off x="685629" y="6533374"/>
            <a:ext cx="231072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股票交易后台管理系统 · 总体设计报告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0134550361-8"/>
          <p:cNvSpPr txBox="1"/>
          <p:nvPr/>
        </p:nvSpPr>
        <p:spPr>
          <a:xfrm>
            <a:off x="11054719" y="6533374"/>
            <a:ext cx="515263" cy="199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/ 25</a:t>
            </a:r>
            <a:endParaRPr sz="104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el-1780134550359-1"/>
          <p:cNvCxnSpPr/>
          <p:nvPr/>
        </p:nvCxnSpPr>
        <p:spPr>
          <a:xfrm>
            <a:off x="19045" y="857"/>
            <a:ext cx="914" cy="1714071"/>
          </a:xfrm>
          <a:prstGeom prst="line">
            <a:avLst/>
          </a:prstGeom>
          <a:ln w="38090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0134550437-1"/>
          <p:cNvCxnSpPr/>
          <p:nvPr/>
        </p:nvCxnSpPr>
        <p:spPr>
          <a:xfrm>
            <a:off x="28568" y="857"/>
            <a:ext cx="914" cy="2285429"/>
          </a:xfrm>
          <a:prstGeom prst="line">
            <a:avLst/>
          </a:prstGeom>
          <a:ln w="57136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0134550437-2"/>
          <p:cNvSpPr/>
          <p:nvPr/>
        </p:nvSpPr>
        <p:spPr>
          <a:xfrm>
            <a:off x="8379905" y="4952619"/>
            <a:ext cx="3809048" cy="19045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gradFill rotWithShape="1">
            <a:gsLst>
              <a:gs pos="0">
                <a:srgbClr val="2563EB">
                  <a:alpha val="3000"/>
                </a:srgbClr>
              </a:gs>
              <a:gs pos="60000">
                <a:srgbClr val="2563EB">
                  <a:alpha val="0"/>
                </a:srgbClr>
              </a:gs>
            </a:gsLst>
            <a:lin ang="13500000" scaled="0"/>
          </a:gradFill>
          <a:ln>
            <a:noFill/>
          </a:ln>
        </p:spPr>
        <p:txBody>
          <a:bodyPr/>
          <a:lstStyle/>
          <a:p/>
        </p:txBody>
      </p:sp>
      <p:cxnSp>
        <p:nvCxnSpPr>
          <p:cNvPr id="4" name="el-1780134550438-3"/>
          <p:cNvCxnSpPr/>
          <p:nvPr/>
        </p:nvCxnSpPr>
        <p:spPr>
          <a:xfrm>
            <a:off x="5713422" y="2956589"/>
            <a:ext cx="761809" cy="914"/>
          </a:xfrm>
          <a:prstGeom prst="line">
            <a:avLst/>
          </a:prstGeom>
          <a:ln w="28568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0134550438-4"/>
          <p:cNvSpPr txBox="1"/>
          <p:nvPr/>
        </p:nvSpPr>
        <p:spPr>
          <a:xfrm>
            <a:off x="4132817" y="2058636"/>
            <a:ext cx="3923170" cy="6932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00000"/>
              </a:lnSpc>
            </a:pPr>
            <a:r>
              <a:rPr sz="419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</a:t>
            </a:r>
            <a:endParaRPr sz="419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0134550438-5"/>
          <p:cNvSpPr txBox="1"/>
          <p:nvPr/>
        </p:nvSpPr>
        <p:spPr>
          <a:xfrm>
            <a:off x="4376596" y="3313687"/>
            <a:ext cx="3435612" cy="91417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3580"/>
              </a:lnSpc>
            </a:pPr>
            <a:r>
              <a:rPr sz="179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软件工程基础课程设计 · 第六小组</a:t>
            </a:r>
            <a:endParaRPr sz="179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3580"/>
              </a:lnSpc>
            </a:pPr>
            <a:r>
              <a:rPr sz="179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5 月</a:t>
            </a:r>
            <a:endParaRPr sz="179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1.2733858267717,&quot;left&quot;:540.5211023622047,&quot;top&quot;:138.36102362204724,&quot;width&quot;:374.25007874015756}"/>
</p:tagLst>
</file>

<file path=ppt/tags/tag2.xml><?xml version="1.0" encoding="utf-8"?>
<p:tagLst xmlns:p="http://schemas.openxmlformats.org/presentationml/2006/main">
  <p:tag name="KSO_WM_DIAGRAM_VIRTUALLY_FRAME" val="{&quot;height&quot;:281.2733858267717,&quot;left&quot;:540.5211023622047,&quot;top&quot;:138.36102362204724,&quot;width&quot;:374.25007874015756}"/>
</p:tagLst>
</file>

<file path=ppt/tags/tag3.xml><?xml version="1.0" encoding="utf-8"?>
<p:tagLst xmlns:p="http://schemas.openxmlformats.org/presentationml/2006/main">
  <p:tag name="KSO_WM_DIAGRAM_VIRTUALLY_FRAME" val="{&quot;height&quot;:281.2733858267717,&quot;left&quot;:540.5211023622047,&quot;top&quot;:138.36102362204724,&quot;width&quot;:374.25007874015756}"/>
</p:tagLst>
</file>

<file path=ppt/tags/tag4.xml><?xml version="1.0" encoding="utf-8"?>
<p:tagLst xmlns:p="http://schemas.openxmlformats.org/presentationml/2006/main">
  <p:tag name="KSO_WM_DIAGRAM_VIRTUALLY_FRAME" val="{&quot;height&quot;:281.2733858267717,&quot;left&quot;:540.5211023622047,&quot;top&quot;:138.36102362204724,&quot;width&quot;:374.25007874015756}"/>
</p:tagLst>
</file>

<file path=ppt/tags/tag5.xml><?xml version="1.0" encoding="utf-8"?>
<p:tagLst xmlns:p="http://schemas.openxmlformats.org/presentationml/2006/main">
  <p:tag name="KSO_WM_DIAGRAM_VIRTUALLY_FRAME" val="{&quot;height&quot;:281.2733858267717,&quot;left&quot;:540.5211023622047,&quot;top&quot;:138.36102362204724,&quot;width&quot;:374.25007874015756}"/>
</p:tagLst>
</file>

<file path=ppt/tags/tag6.xml><?xml version="1.0" encoding="utf-8"?>
<p:tagLst xmlns:p="http://schemas.openxmlformats.org/presentationml/2006/main">
  <p:tag name="KSO_WM_DIAGRAM_VIRTUALLY_FRAME" val="{&quot;height&quot;:281.2733858267717,&quot;left&quot;:540.5211023622047,&quot;top&quot;:138.36102362204724,&quot;width&quot;:374.25007874015756}"/>
</p:tagLst>
</file>

<file path=ppt/tags/tag7.xml><?xml version="1.0" encoding="utf-8"?>
<p:tagLst xmlns:p="http://schemas.openxmlformats.org/presentationml/2006/main">
  <p:tag name="KSO_WM_DIAGRAM_VIRTUALLY_FRAME" val="{&quot;height&quot;:281.2733858267717,&quot;left&quot;:540.5211023622047,&quot;top&quot;:138.36102362204724,&quot;width&quot;:374.25007874015756}"/>
</p:tagLst>
</file>

<file path=ppt/tags/tag8.xml><?xml version="1.0" encoding="utf-8"?>
<p:tagLst xmlns:p="http://schemas.openxmlformats.org/presentationml/2006/main">
  <p:tag name="KSO_WM_DIAGRAM_VIRTUALLY_FRAME" val="{&quot;height&quot;:281.2733858267717,&quot;left&quot;:540.5211023622047,&quot;top&quot;:138.36102362204724,&quot;width&quot;:374.25007874015756}"/>
</p:tagLst>
</file>

<file path=ppt/tags/tag9.xml><?xml version="1.0" encoding="utf-8"?>
<p:tagLst xmlns:p="http://schemas.openxmlformats.org/presentationml/2006/main">
  <p:tag name="KSO_WM_DIAGRAM_VIRTUALLY_FRAME" val="{&quot;height&quot;:281.2733858267717,&quot;left&quot;:540.5211023622047,&quot;top&quot;:138.36102362204724,&quot;width&quot;:374.2500787401575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6084</Words>
  <Application>WPS 演示</Application>
  <PresentationFormat>自定义</PresentationFormat>
  <Paragraphs>853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孙米阳</cp:lastModifiedBy>
  <cp:revision>2</cp:revision>
  <dcterms:created xsi:type="dcterms:W3CDTF">2026-05-30T09:49:00Z</dcterms:created>
  <dcterms:modified xsi:type="dcterms:W3CDTF">2026-05-30T14:24:04Z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235C4D3915F04A8E9B6F2FCC21C77166_13</vt:lpwstr>
  </property>
  <property fmtid="{D5CDD505-2E9C-101B-9397-08002B2CF9AE}" pid="3" name="KSOProductBuildVer">
    <vt:lpwstr>2052-12.1.0.26373</vt:lpwstr>
  </property>
</Properties>
</file>